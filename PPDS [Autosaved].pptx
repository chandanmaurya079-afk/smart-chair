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84" r:id="rId2"/>
    <p:sldId id="263" r:id="rId3"/>
    <p:sldId id="264" r:id="rId4"/>
    <p:sldId id="277" r:id="rId5"/>
    <p:sldId id="259" r:id="rId6"/>
    <p:sldId id="260" r:id="rId7"/>
    <p:sldId id="257" r:id="rId8"/>
    <p:sldId id="258" r:id="rId9"/>
    <p:sldId id="278" r:id="rId10"/>
    <p:sldId id="279" r:id="rId11"/>
    <p:sldId id="280" r:id="rId12"/>
    <p:sldId id="281" r:id="rId13"/>
    <p:sldId id="282" r:id="rId14"/>
    <p:sldId id="283" r:id="rId15"/>
    <p:sldId id="276" r:id="rId16"/>
    <p:sldId id="265" r:id="rId17"/>
    <p:sldId id="266" r:id="rId18"/>
    <p:sldId id="267" r:id="rId19"/>
    <p:sldId id="268" r:id="rId20"/>
    <p:sldId id="269" r:id="rId21"/>
    <p:sldId id="270" r:id="rId22"/>
    <p:sldId id="271" r:id="rId23"/>
    <p:sldId id="272" r:id="rId24"/>
    <p:sldId id="273" r:id="rId25"/>
    <p:sldId id="274" r:id="rId26"/>
    <p:sldId id="275" r:id="rId27"/>
    <p:sldId id="285" r:id="rId28"/>
    <p:sldId id="287" r:id="rId29"/>
    <p:sldId id="289" r:id="rId30"/>
    <p:sldId id="290" r:id="rId31"/>
    <p:sldId id="294" r:id="rId32"/>
    <p:sldId id="262" r:id="rId33"/>
    <p:sldId id="293" r:id="rId34"/>
    <p:sldId id="292" r:id="rId35"/>
    <p:sldId id="291" r:id="rId36"/>
    <p:sldId id="297" r:id="rId37"/>
    <p:sldId id="299" r:id="rId38"/>
    <p:sldId id="301" r:id="rId39"/>
    <p:sldId id="303" r:id="rId40"/>
    <p:sldId id="261" r:id="rId41"/>
    <p:sldId id="302" r:id="rId42"/>
    <p:sldId id="304" r:id="rId43"/>
    <p:sldId id="305"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sorterViewPr>
    <p:cViewPr>
      <p:scale>
        <a:sx n="100" d="100"/>
        <a:sy n="100" d="100"/>
      </p:scale>
      <p:origin x="0" y="-273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1DC0B9-EF53-44B7-B0B6-1B1509553D91}" type="datetimeFigureOut">
              <a:rPr lang="en-IN" smtClean="0"/>
              <a:t>24-04-2026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BF2363-7C35-4E86-930B-7E8182F92B5C}" type="slidenum">
              <a:rPr lang="en-IN" smtClean="0"/>
              <a:t>‹#›</a:t>
            </a:fld>
            <a:endParaRPr lang="en-IN"/>
          </a:p>
        </p:txBody>
      </p:sp>
    </p:spTree>
    <p:extLst>
      <p:ext uri="{BB962C8B-B14F-4D97-AF65-F5344CB8AC3E}">
        <p14:creationId xmlns:p14="http://schemas.microsoft.com/office/powerpoint/2010/main" val="35245807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8BF2363-7C35-4E86-930B-7E8182F92B5C}" type="slidenum">
              <a:rPr lang="en-IN" smtClean="0"/>
              <a:t>13</a:t>
            </a:fld>
            <a:endParaRPr lang="en-IN"/>
          </a:p>
        </p:txBody>
      </p:sp>
    </p:spTree>
    <p:extLst>
      <p:ext uri="{BB962C8B-B14F-4D97-AF65-F5344CB8AC3E}">
        <p14:creationId xmlns:p14="http://schemas.microsoft.com/office/powerpoint/2010/main" val="30972350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e60ce716d2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e60ce716d2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e60ce716d2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e60ce716d2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e60ce716d2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e60ce716d2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e60ce716d2_0_1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e60ce716d2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e60ce716d2_0_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e60ce716d2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e60ce716d2_0_1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e60ce716d2_0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e60ce716d2_0_1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e60ce716d2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e60ce716d2_0_1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e60ce716d2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e60ce716d2_0_1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e60ce716d2_0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e60ce716d2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e60ce716d2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e60ce716d2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3e60ce716d2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e60ce716d2_0_1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e60ce716d2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31180-464C-64A2-07C4-ECFF74B0911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B3DFF35-6257-8854-7F16-AF5667D8CE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C832FED-DB6C-09E5-7A40-F86A4E799486}"/>
              </a:ext>
            </a:extLst>
          </p:cNvPr>
          <p:cNvSpPr>
            <a:spLocks noGrp="1"/>
          </p:cNvSpPr>
          <p:nvPr>
            <p:ph type="dt" sz="half" idx="10"/>
          </p:nvPr>
        </p:nvSpPr>
        <p:spPr/>
        <p:txBody>
          <a:bodyPr/>
          <a:lstStyle/>
          <a:p>
            <a:fld id="{04E9C62E-E3C3-4CC7-AF00-9F0B4AED7273}" type="datetimeFigureOut">
              <a:rPr lang="en-IN" smtClean="0"/>
              <a:t>24-04-2026</a:t>
            </a:fld>
            <a:endParaRPr lang="en-IN"/>
          </a:p>
        </p:txBody>
      </p:sp>
      <p:sp>
        <p:nvSpPr>
          <p:cNvPr id="5" name="Footer Placeholder 4">
            <a:extLst>
              <a:ext uri="{FF2B5EF4-FFF2-40B4-BE49-F238E27FC236}">
                <a16:creationId xmlns:a16="http://schemas.microsoft.com/office/drawing/2014/main" id="{6170835C-764A-B98A-E699-E25706B352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ABFD21-7A19-CF1C-6839-8493B1D9841A}"/>
              </a:ext>
            </a:extLst>
          </p:cNvPr>
          <p:cNvSpPr>
            <a:spLocks noGrp="1"/>
          </p:cNvSpPr>
          <p:nvPr>
            <p:ph type="sldNum" sz="quarter" idx="12"/>
          </p:nvPr>
        </p:nvSpPr>
        <p:spPr/>
        <p:txBody>
          <a:bodyPr/>
          <a:lstStyle/>
          <a:p>
            <a:fld id="{C6FD47F6-FE21-4A7F-ACD0-368AAC2C137A}" type="slidenum">
              <a:rPr lang="en-IN" smtClean="0"/>
              <a:t>‹#›</a:t>
            </a:fld>
            <a:endParaRPr lang="en-IN"/>
          </a:p>
        </p:txBody>
      </p:sp>
    </p:spTree>
    <p:extLst>
      <p:ext uri="{BB962C8B-B14F-4D97-AF65-F5344CB8AC3E}">
        <p14:creationId xmlns:p14="http://schemas.microsoft.com/office/powerpoint/2010/main" val="25508027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83532-9996-ADCD-A055-E8A8C775E30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4D41565-C8CC-2BAC-E85B-B43021A783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7828C74-AF99-A5E9-278F-4DAE834BE0AC}"/>
              </a:ext>
            </a:extLst>
          </p:cNvPr>
          <p:cNvSpPr>
            <a:spLocks noGrp="1"/>
          </p:cNvSpPr>
          <p:nvPr>
            <p:ph type="dt" sz="half" idx="10"/>
          </p:nvPr>
        </p:nvSpPr>
        <p:spPr/>
        <p:txBody>
          <a:bodyPr/>
          <a:lstStyle/>
          <a:p>
            <a:fld id="{04E9C62E-E3C3-4CC7-AF00-9F0B4AED7273}" type="datetimeFigureOut">
              <a:rPr lang="en-IN" smtClean="0"/>
              <a:t>24-04-2026</a:t>
            </a:fld>
            <a:endParaRPr lang="en-IN"/>
          </a:p>
        </p:txBody>
      </p:sp>
      <p:sp>
        <p:nvSpPr>
          <p:cNvPr id="5" name="Footer Placeholder 4">
            <a:extLst>
              <a:ext uri="{FF2B5EF4-FFF2-40B4-BE49-F238E27FC236}">
                <a16:creationId xmlns:a16="http://schemas.microsoft.com/office/drawing/2014/main" id="{E0531825-109A-499F-EB91-CAB6CB05EE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D51471-81FC-B530-6FB5-3FBF2BCF76AB}"/>
              </a:ext>
            </a:extLst>
          </p:cNvPr>
          <p:cNvSpPr>
            <a:spLocks noGrp="1"/>
          </p:cNvSpPr>
          <p:nvPr>
            <p:ph type="sldNum" sz="quarter" idx="12"/>
          </p:nvPr>
        </p:nvSpPr>
        <p:spPr/>
        <p:txBody>
          <a:bodyPr/>
          <a:lstStyle/>
          <a:p>
            <a:fld id="{C6FD47F6-FE21-4A7F-ACD0-368AAC2C137A}" type="slidenum">
              <a:rPr lang="en-IN" smtClean="0"/>
              <a:t>‹#›</a:t>
            </a:fld>
            <a:endParaRPr lang="en-IN"/>
          </a:p>
        </p:txBody>
      </p:sp>
    </p:spTree>
    <p:extLst>
      <p:ext uri="{BB962C8B-B14F-4D97-AF65-F5344CB8AC3E}">
        <p14:creationId xmlns:p14="http://schemas.microsoft.com/office/powerpoint/2010/main" val="7608523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645E7-A226-3328-9C22-BDA8A45FB6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4A28664-A780-C874-27A9-C7D0707FCD8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C50B602-0D7D-893E-6A72-F5E2650E6218}"/>
              </a:ext>
            </a:extLst>
          </p:cNvPr>
          <p:cNvSpPr>
            <a:spLocks noGrp="1"/>
          </p:cNvSpPr>
          <p:nvPr>
            <p:ph type="dt" sz="half" idx="10"/>
          </p:nvPr>
        </p:nvSpPr>
        <p:spPr/>
        <p:txBody>
          <a:bodyPr/>
          <a:lstStyle/>
          <a:p>
            <a:fld id="{04E9C62E-E3C3-4CC7-AF00-9F0B4AED7273}" type="datetimeFigureOut">
              <a:rPr lang="en-IN" smtClean="0"/>
              <a:t>24-04-2026</a:t>
            </a:fld>
            <a:endParaRPr lang="en-IN"/>
          </a:p>
        </p:txBody>
      </p:sp>
      <p:sp>
        <p:nvSpPr>
          <p:cNvPr id="5" name="Footer Placeholder 4">
            <a:extLst>
              <a:ext uri="{FF2B5EF4-FFF2-40B4-BE49-F238E27FC236}">
                <a16:creationId xmlns:a16="http://schemas.microsoft.com/office/drawing/2014/main" id="{7357C7D0-395A-1C84-917C-6FFA4F9953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FE4D2F-8DA0-037A-8B57-6A409A737ED8}"/>
              </a:ext>
            </a:extLst>
          </p:cNvPr>
          <p:cNvSpPr>
            <a:spLocks noGrp="1"/>
          </p:cNvSpPr>
          <p:nvPr>
            <p:ph type="sldNum" sz="quarter" idx="12"/>
          </p:nvPr>
        </p:nvSpPr>
        <p:spPr/>
        <p:txBody>
          <a:bodyPr/>
          <a:lstStyle/>
          <a:p>
            <a:fld id="{C6FD47F6-FE21-4A7F-ACD0-368AAC2C137A}" type="slidenum">
              <a:rPr lang="en-IN" smtClean="0"/>
              <a:t>‹#›</a:t>
            </a:fld>
            <a:endParaRPr lang="en-IN"/>
          </a:p>
        </p:txBody>
      </p:sp>
    </p:spTree>
    <p:extLst>
      <p:ext uri="{BB962C8B-B14F-4D97-AF65-F5344CB8AC3E}">
        <p14:creationId xmlns:p14="http://schemas.microsoft.com/office/powerpoint/2010/main" val="1167491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D1E09-6E52-6BB0-7F98-CCF3F15AC8B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AD395EA-4178-F3C9-6821-3085AB51C5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9DC9F0F-C1FE-3A60-7F03-F44FCCC44CB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694CD8D-D9DD-F168-A8BF-FA82C02ED2EB}"/>
              </a:ext>
            </a:extLst>
          </p:cNvPr>
          <p:cNvSpPr>
            <a:spLocks noGrp="1"/>
          </p:cNvSpPr>
          <p:nvPr>
            <p:ph type="dt" sz="half" idx="10"/>
          </p:nvPr>
        </p:nvSpPr>
        <p:spPr/>
        <p:txBody>
          <a:bodyPr/>
          <a:lstStyle/>
          <a:p>
            <a:fld id="{04E9C62E-E3C3-4CC7-AF00-9F0B4AED7273}" type="datetimeFigureOut">
              <a:rPr lang="en-IN" smtClean="0"/>
              <a:t>24-04-2026</a:t>
            </a:fld>
            <a:endParaRPr lang="en-IN"/>
          </a:p>
        </p:txBody>
      </p:sp>
      <p:sp>
        <p:nvSpPr>
          <p:cNvPr id="6" name="Footer Placeholder 5">
            <a:extLst>
              <a:ext uri="{FF2B5EF4-FFF2-40B4-BE49-F238E27FC236}">
                <a16:creationId xmlns:a16="http://schemas.microsoft.com/office/drawing/2014/main" id="{47E4FC6F-7ABE-55CB-544C-1B4C0F5BF1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7EA1CF-5EBF-56C4-438C-A8F26F36DF69}"/>
              </a:ext>
            </a:extLst>
          </p:cNvPr>
          <p:cNvSpPr>
            <a:spLocks noGrp="1"/>
          </p:cNvSpPr>
          <p:nvPr>
            <p:ph type="sldNum" sz="quarter" idx="12"/>
          </p:nvPr>
        </p:nvSpPr>
        <p:spPr/>
        <p:txBody>
          <a:bodyPr/>
          <a:lstStyle/>
          <a:p>
            <a:fld id="{C6FD47F6-FE21-4A7F-ACD0-368AAC2C137A}" type="slidenum">
              <a:rPr lang="en-IN" smtClean="0"/>
              <a:t>‹#›</a:t>
            </a:fld>
            <a:endParaRPr lang="en-IN"/>
          </a:p>
        </p:txBody>
      </p:sp>
    </p:spTree>
    <p:extLst>
      <p:ext uri="{BB962C8B-B14F-4D97-AF65-F5344CB8AC3E}">
        <p14:creationId xmlns:p14="http://schemas.microsoft.com/office/powerpoint/2010/main" val="1010924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47181-DD0A-3B20-A02F-C54DBA66F6E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F72A4BD-6868-AFE5-E49B-DC0350B5BF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D36FEA-9C3B-AF9D-D7D9-52E1CA2F288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BD0C9CB-6178-BC67-935A-68C115C66A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8A6E90-930C-3384-DDD4-07929812A7A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7E498DD-6E91-E42E-B9FC-625D4842F174}"/>
              </a:ext>
            </a:extLst>
          </p:cNvPr>
          <p:cNvSpPr>
            <a:spLocks noGrp="1"/>
          </p:cNvSpPr>
          <p:nvPr>
            <p:ph type="dt" sz="half" idx="10"/>
          </p:nvPr>
        </p:nvSpPr>
        <p:spPr/>
        <p:txBody>
          <a:bodyPr/>
          <a:lstStyle/>
          <a:p>
            <a:fld id="{04E9C62E-E3C3-4CC7-AF00-9F0B4AED7273}" type="datetimeFigureOut">
              <a:rPr lang="en-IN" smtClean="0"/>
              <a:t>24-04-2026</a:t>
            </a:fld>
            <a:endParaRPr lang="en-IN"/>
          </a:p>
        </p:txBody>
      </p:sp>
      <p:sp>
        <p:nvSpPr>
          <p:cNvPr id="8" name="Footer Placeholder 7">
            <a:extLst>
              <a:ext uri="{FF2B5EF4-FFF2-40B4-BE49-F238E27FC236}">
                <a16:creationId xmlns:a16="http://schemas.microsoft.com/office/drawing/2014/main" id="{548148C1-9EFD-2AB7-28E0-25FBB47B0E4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C06AE57-3ED3-0180-3011-40038D984B48}"/>
              </a:ext>
            </a:extLst>
          </p:cNvPr>
          <p:cNvSpPr>
            <a:spLocks noGrp="1"/>
          </p:cNvSpPr>
          <p:nvPr>
            <p:ph type="sldNum" sz="quarter" idx="12"/>
          </p:nvPr>
        </p:nvSpPr>
        <p:spPr/>
        <p:txBody>
          <a:bodyPr/>
          <a:lstStyle/>
          <a:p>
            <a:fld id="{C6FD47F6-FE21-4A7F-ACD0-368AAC2C137A}" type="slidenum">
              <a:rPr lang="en-IN" smtClean="0"/>
              <a:t>‹#›</a:t>
            </a:fld>
            <a:endParaRPr lang="en-IN"/>
          </a:p>
        </p:txBody>
      </p:sp>
    </p:spTree>
    <p:extLst>
      <p:ext uri="{BB962C8B-B14F-4D97-AF65-F5344CB8AC3E}">
        <p14:creationId xmlns:p14="http://schemas.microsoft.com/office/powerpoint/2010/main" val="29579766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4FB4F-5B0E-E709-A6B5-C7AD605B0AA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1A9ABAF-C8F0-8DBF-D3D2-AC8CAF62F5EE}"/>
              </a:ext>
            </a:extLst>
          </p:cNvPr>
          <p:cNvSpPr>
            <a:spLocks noGrp="1"/>
          </p:cNvSpPr>
          <p:nvPr>
            <p:ph type="dt" sz="half" idx="10"/>
          </p:nvPr>
        </p:nvSpPr>
        <p:spPr/>
        <p:txBody>
          <a:bodyPr/>
          <a:lstStyle/>
          <a:p>
            <a:fld id="{04E9C62E-E3C3-4CC7-AF00-9F0B4AED7273}" type="datetimeFigureOut">
              <a:rPr lang="en-IN" smtClean="0"/>
              <a:t>24-04-2026</a:t>
            </a:fld>
            <a:endParaRPr lang="en-IN"/>
          </a:p>
        </p:txBody>
      </p:sp>
      <p:sp>
        <p:nvSpPr>
          <p:cNvPr id="4" name="Footer Placeholder 3">
            <a:extLst>
              <a:ext uri="{FF2B5EF4-FFF2-40B4-BE49-F238E27FC236}">
                <a16:creationId xmlns:a16="http://schemas.microsoft.com/office/drawing/2014/main" id="{8DE8220B-073A-BD79-386E-2BDFF449C8A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EB29BED-DC0C-84A2-1702-DC2299269678}"/>
              </a:ext>
            </a:extLst>
          </p:cNvPr>
          <p:cNvSpPr>
            <a:spLocks noGrp="1"/>
          </p:cNvSpPr>
          <p:nvPr>
            <p:ph type="sldNum" sz="quarter" idx="12"/>
          </p:nvPr>
        </p:nvSpPr>
        <p:spPr/>
        <p:txBody>
          <a:bodyPr/>
          <a:lstStyle/>
          <a:p>
            <a:fld id="{C6FD47F6-FE21-4A7F-ACD0-368AAC2C137A}" type="slidenum">
              <a:rPr lang="en-IN" smtClean="0"/>
              <a:t>‹#›</a:t>
            </a:fld>
            <a:endParaRPr lang="en-IN"/>
          </a:p>
        </p:txBody>
      </p:sp>
    </p:spTree>
    <p:extLst>
      <p:ext uri="{BB962C8B-B14F-4D97-AF65-F5344CB8AC3E}">
        <p14:creationId xmlns:p14="http://schemas.microsoft.com/office/powerpoint/2010/main" val="36528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17EF51-C6B4-3E88-D4E0-DACCF2E6D6AC}"/>
              </a:ext>
            </a:extLst>
          </p:cNvPr>
          <p:cNvSpPr>
            <a:spLocks noGrp="1"/>
          </p:cNvSpPr>
          <p:nvPr>
            <p:ph type="dt" sz="half" idx="10"/>
          </p:nvPr>
        </p:nvSpPr>
        <p:spPr/>
        <p:txBody>
          <a:bodyPr/>
          <a:lstStyle/>
          <a:p>
            <a:fld id="{04E9C62E-E3C3-4CC7-AF00-9F0B4AED7273}" type="datetimeFigureOut">
              <a:rPr lang="en-IN" smtClean="0"/>
              <a:t>24-04-2026</a:t>
            </a:fld>
            <a:endParaRPr lang="en-IN"/>
          </a:p>
        </p:txBody>
      </p:sp>
      <p:sp>
        <p:nvSpPr>
          <p:cNvPr id="3" name="Footer Placeholder 2">
            <a:extLst>
              <a:ext uri="{FF2B5EF4-FFF2-40B4-BE49-F238E27FC236}">
                <a16:creationId xmlns:a16="http://schemas.microsoft.com/office/drawing/2014/main" id="{1A8348D0-1BBB-77E1-AC25-2224D68ED72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9179064-B876-EEA6-EBCA-009196FEDA3D}"/>
              </a:ext>
            </a:extLst>
          </p:cNvPr>
          <p:cNvSpPr>
            <a:spLocks noGrp="1"/>
          </p:cNvSpPr>
          <p:nvPr>
            <p:ph type="sldNum" sz="quarter" idx="12"/>
          </p:nvPr>
        </p:nvSpPr>
        <p:spPr/>
        <p:txBody>
          <a:bodyPr/>
          <a:lstStyle/>
          <a:p>
            <a:fld id="{C6FD47F6-FE21-4A7F-ACD0-368AAC2C137A}" type="slidenum">
              <a:rPr lang="en-IN" smtClean="0"/>
              <a:t>‹#›</a:t>
            </a:fld>
            <a:endParaRPr lang="en-IN"/>
          </a:p>
        </p:txBody>
      </p:sp>
    </p:spTree>
    <p:extLst>
      <p:ext uri="{BB962C8B-B14F-4D97-AF65-F5344CB8AC3E}">
        <p14:creationId xmlns:p14="http://schemas.microsoft.com/office/powerpoint/2010/main" val="3732533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0A812-68C0-FABE-E79D-E24E6EF7FF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BAE2041-E623-7A8C-86B2-BF7220372A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392FA66-5351-EA49-6CFD-B924D4FA4E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DD8E38-5FD6-3506-6902-53622C9335E1}"/>
              </a:ext>
            </a:extLst>
          </p:cNvPr>
          <p:cNvSpPr>
            <a:spLocks noGrp="1"/>
          </p:cNvSpPr>
          <p:nvPr>
            <p:ph type="dt" sz="half" idx="10"/>
          </p:nvPr>
        </p:nvSpPr>
        <p:spPr/>
        <p:txBody>
          <a:bodyPr/>
          <a:lstStyle/>
          <a:p>
            <a:fld id="{04E9C62E-E3C3-4CC7-AF00-9F0B4AED7273}" type="datetimeFigureOut">
              <a:rPr lang="en-IN" smtClean="0"/>
              <a:t>24-04-2026</a:t>
            </a:fld>
            <a:endParaRPr lang="en-IN"/>
          </a:p>
        </p:txBody>
      </p:sp>
      <p:sp>
        <p:nvSpPr>
          <p:cNvPr id="6" name="Footer Placeholder 5">
            <a:extLst>
              <a:ext uri="{FF2B5EF4-FFF2-40B4-BE49-F238E27FC236}">
                <a16:creationId xmlns:a16="http://schemas.microsoft.com/office/drawing/2014/main" id="{5C07B57C-F238-013A-396D-1FA8C9B24EE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D5FAB09-3604-674B-3905-86C315AAA55C}"/>
              </a:ext>
            </a:extLst>
          </p:cNvPr>
          <p:cNvSpPr>
            <a:spLocks noGrp="1"/>
          </p:cNvSpPr>
          <p:nvPr>
            <p:ph type="sldNum" sz="quarter" idx="12"/>
          </p:nvPr>
        </p:nvSpPr>
        <p:spPr/>
        <p:txBody>
          <a:bodyPr/>
          <a:lstStyle/>
          <a:p>
            <a:fld id="{C6FD47F6-FE21-4A7F-ACD0-368AAC2C137A}" type="slidenum">
              <a:rPr lang="en-IN" smtClean="0"/>
              <a:t>‹#›</a:t>
            </a:fld>
            <a:endParaRPr lang="en-IN"/>
          </a:p>
        </p:txBody>
      </p:sp>
    </p:spTree>
    <p:extLst>
      <p:ext uri="{BB962C8B-B14F-4D97-AF65-F5344CB8AC3E}">
        <p14:creationId xmlns:p14="http://schemas.microsoft.com/office/powerpoint/2010/main" val="9269721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7CAE2-8899-D78C-8DA1-29ACF9134C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9441412-1E19-C71C-876A-30386E3EA1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537D97E-ADB8-CEF4-6302-0277FCBD22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66A01B-C273-1243-5BEB-F3F0639A4842}"/>
              </a:ext>
            </a:extLst>
          </p:cNvPr>
          <p:cNvSpPr>
            <a:spLocks noGrp="1"/>
          </p:cNvSpPr>
          <p:nvPr>
            <p:ph type="dt" sz="half" idx="10"/>
          </p:nvPr>
        </p:nvSpPr>
        <p:spPr/>
        <p:txBody>
          <a:bodyPr/>
          <a:lstStyle/>
          <a:p>
            <a:fld id="{04E9C62E-E3C3-4CC7-AF00-9F0B4AED7273}" type="datetimeFigureOut">
              <a:rPr lang="en-IN" smtClean="0"/>
              <a:t>24-04-2026</a:t>
            </a:fld>
            <a:endParaRPr lang="en-IN"/>
          </a:p>
        </p:txBody>
      </p:sp>
      <p:sp>
        <p:nvSpPr>
          <p:cNvPr id="6" name="Footer Placeholder 5">
            <a:extLst>
              <a:ext uri="{FF2B5EF4-FFF2-40B4-BE49-F238E27FC236}">
                <a16:creationId xmlns:a16="http://schemas.microsoft.com/office/drawing/2014/main" id="{EB86417B-0531-272D-3B8D-CE20BA9265F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FE6E2DC-B0B2-0549-C43B-269B15288488}"/>
              </a:ext>
            </a:extLst>
          </p:cNvPr>
          <p:cNvSpPr>
            <a:spLocks noGrp="1"/>
          </p:cNvSpPr>
          <p:nvPr>
            <p:ph type="sldNum" sz="quarter" idx="12"/>
          </p:nvPr>
        </p:nvSpPr>
        <p:spPr/>
        <p:txBody>
          <a:bodyPr/>
          <a:lstStyle/>
          <a:p>
            <a:fld id="{C6FD47F6-FE21-4A7F-ACD0-368AAC2C137A}" type="slidenum">
              <a:rPr lang="en-IN" smtClean="0"/>
              <a:t>‹#›</a:t>
            </a:fld>
            <a:endParaRPr lang="en-IN"/>
          </a:p>
        </p:txBody>
      </p:sp>
    </p:spTree>
    <p:extLst>
      <p:ext uri="{BB962C8B-B14F-4D97-AF65-F5344CB8AC3E}">
        <p14:creationId xmlns:p14="http://schemas.microsoft.com/office/powerpoint/2010/main" val="41630893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7359F-ED3A-E106-7CB7-B7399A231BA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4B3B5A-619C-4EBD-72A4-FD4397388C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2A7C77-8E14-18AF-BB6C-66B9CDE3AA43}"/>
              </a:ext>
            </a:extLst>
          </p:cNvPr>
          <p:cNvSpPr>
            <a:spLocks noGrp="1"/>
          </p:cNvSpPr>
          <p:nvPr>
            <p:ph type="dt" sz="half" idx="10"/>
          </p:nvPr>
        </p:nvSpPr>
        <p:spPr/>
        <p:txBody>
          <a:bodyPr/>
          <a:lstStyle/>
          <a:p>
            <a:fld id="{04E9C62E-E3C3-4CC7-AF00-9F0B4AED7273}" type="datetimeFigureOut">
              <a:rPr lang="en-IN" smtClean="0"/>
              <a:t>24-04-2026</a:t>
            </a:fld>
            <a:endParaRPr lang="en-IN"/>
          </a:p>
        </p:txBody>
      </p:sp>
      <p:sp>
        <p:nvSpPr>
          <p:cNvPr id="5" name="Footer Placeholder 4">
            <a:extLst>
              <a:ext uri="{FF2B5EF4-FFF2-40B4-BE49-F238E27FC236}">
                <a16:creationId xmlns:a16="http://schemas.microsoft.com/office/drawing/2014/main" id="{9DB01018-2BD4-9DFC-2FD3-DC8CD7AE18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B54788-B931-67F3-A64C-D93ABA918B1F}"/>
              </a:ext>
            </a:extLst>
          </p:cNvPr>
          <p:cNvSpPr>
            <a:spLocks noGrp="1"/>
          </p:cNvSpPr>
          <p:nvPr>
            <p:ph type="sldNum" sz="quarter" idx="12"/>
          </p:nvPr>
        </p:nvSpPr>
        <p:spPr/>
        <p:txBody>
          <a:bodyPr/>
          <a:lstStyle/>
          <a:p>
            <a:fld id="{C6FD47F6-FE21-4A7F-ACD0-368AAC2C137A}" type="slidenum">
              <a:rPr lang="en-IN" smtClean="0"/>
              <a:t>‹#›</a:t>
            </a:fld>
            <a:endParaRPr lang="en-IN"/>
          </a:p>
        </p:txBody>
      </p:sp>
    </p:spTree>
    <p:extLst>
      <p:ext uri="{BB962C8B-B14F-4D97-AF65-F5344CB8AC3E}">
        <p14:creationId xmlns:p14="http://schemas.microsoft.com/office/powerpoint/2010/main" val="3853884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B05100-F407-3A34-66E3-76DFB6EA37F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385571C-BE67-443F-3B24-02EE403C8B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F729A7-DF00-2C79-16F1-771807BF70A0}"/>
              </a:ext>
            </a:extLst>
          </p:cNvPr>
          <p:cNvSpPr>
            <a:spLocks noGrp="1"/>
          </p:cNvSpPr>
          <p:nvPr>
            <p:ph type="dt" sz="half" idx="10"/>
          </p:nvPr>
        </p:nvSpPr>
        <p:spPr/>
        <p:txBody>
          <a:bodyPr/>
          <a:lstStyle/>
          <a:p>
            <a:fld id="{04E9C62E-E3C3-4CC7-AF00-9F0B4AED7273}" type="datetimeFigureOut">
              <a:rPr lang="en-IN" smtClean="0"/>
              <a:t>24-04-2026</a:t>
            </a:fld>
            <a:endParaRPr lang="en-IN"/>
          </a:p>
        </p:txBody>
      </p:sp>
      <p:sp>
        <p:nvSpPr>
          <p:cNvPr id="5" name="Footer Placeholder 4">
            <a:extLst>
              <a:ext uri="{FF2B5EF4-FFF2-40B4-BE49-F238E27FC236}">
                <a16:creationId xmlns:a16="http://schemas.microsoft.com/office/drawing/2014/main" id="{1F8C4AF2-8B8A-55A9-EC1D-7822AC9812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3D9250-305C-C6A2-8239-B06F3DAD4673}"/>
              </a:ext>
            </a:extLst>
          </p:cNvPr>
          <p:cNvSpPr>
            <a:spLocks noGrp="1"/>
          </p:cNvSpPr>
          <p:nvPr>
            <p:ph type="sldNum" sz="quarter" idx="12"/>
          </p:nvPr>
        </p:nvSpPr>
        <p:spPr/>
        <p:txBody>
          <a:bodyPr/>
          <a:lstStyle/>
          <a:p>
            <a:fld id="{C6FD47F6-FE21-4A7F-ACD0-368AAC2C137A}" type="slidenum">
              <a:rPr lang="en-IN" smtClean="0"/>
              <a:t>‹#›</a:t>
            </a:fld>
            <a:endParaRPr lang="en-IN"/>
          </a:p>
        </p:txBody>
      </p:sp>
    </p:spTree>
    <p:extLst>
      <p:ext uri="{BB962C8B-B14F-4D97-AF65-F5344CB8AC3E}">
        <p14:creationId xmlns:p14="http://schemas.microsoft.com/office/powerpoint/2010/main" val="40071959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
        <p:cNvGrpSpPr/>
        <p:nvPr/>
      </p:nvGrpSpPr>
      <p:grpSpPr>
        <a:xfrm>
          <a:off x="0" y="0"/>
          <a:ext cx="0" cy="0"/>
          <a:chOff x="0" y="0"/>
          <a:chExt cx="0" cy="0"/>
        </a:xfrm>
      </p:grpSpPr>
      <p:sp>
        <p:nvSpPr>
          <p:cNvPr id="36" name="Google Shape;36;p9"/>
          <p:cNvSpPr/>
          <p:nvPr/>
        </p:nvSpPr>
        <p:spPr>
          <a:xfrm>
            <a:off x="6096000" y="33"/>
            <a:ext cx="60960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7" name="Google Shape;37;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38" name="Google Shape;38;p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39" name="Google Shape;39;p9"/>
          <p:cNvSpPr txBox="1">
            <a:spLocks noGrp="1"/>
          </p:cNvSpPr>
          <p:nvPr>
            <p:ph type="body" idx="2"/>
          </p:nvPr>
        </p:nvSpPr>
        <p:spPr>
          <a:xfrm>
            <a:off x="6586000" y="965600"/>
            <a:ext cx="5116000" cy="4926800"/>
          </a:xfrm>
          <a:prstGeom prst="rect">
            <a:avLst/>
          </a:prstGeom>
        </p:spPr>
        <p:txBody>
          <a:bodyPr spcFirstLastPara="1" wrap="square" lIns="91425" tIns="91425" rIns="91425" bIns="91425" anchor="ctr" anchorCtr="0">
            <a:normAutofit/>
          </a:bodyPr>
          <a:lstStyle>
            <a:lvl1pPr marL="609585" lvl="0" indent="-457189">
              <a:spcBef>
                <a:spcPts val="0"/>
              </a:spcBef>
              <a:spcAft>
                <a:spcPts val="0"/>
              </a:spcAft>
              <a:buClr>
                <a:schemeClr val="dk1"/>
              </a:buClr>
              <a:buSzPts val="1800"/>
              <a:buChar char="●"/>
              <a:defRPr>
                <a:solidFill>
                  <a:schemeClr val="dk1"/>
                </a:solidFill>
              </a:defRPr>
            </a:lvl1pPr>
            <a:lvl2pPr marL="1219170" lvl="1" indent="-423323">
              <a:spcBef>
                <a:spcPts val="0"/>
              </a:spcBef>
              <a:spcAft>
                <a:spcPts val="0"/>
              </a:spcAft>
              <a:buClr>
                <a:schemeClr val="dk1"/>
              </a:buClr>
              <a:buSzPts val="1400"/>
              <a:buChar char="○"/>
              <a:defRPr>
                <a:solidFill>
                  <a:schemeClr val="dk1"/>
                </a:solidFill>
              </a:defRPr>
            </a:lvl2pPr>
            <a:lvl3pPr marL="1828754" lvl="2" indent="-423323">
              <a:spcBef>
                <a:spcPts val="0"/>
              </a:spcBef>
              <a:spcAft>
                <a:spcPts val="0"/>
              </a:spcAft>
              <a:buClr>
                <a:schemeClr val="dk1"/>
              </a:buClr>
              <a:buSzPts val="1400"/>
              <a:buChar char="■"/>
              <a:defRPr>
                <a:solidFill>
                  <a:schemeClr val="dk1"/>
                </a:solidFill>
              </a:defRPr>
            </a:lvl3pPr>
            <a:lvl4pPr marL="2438339" lvl="3" indent="-423323">
              <a:spcBef>
                <a:spcPts val="0"/>
              </a:spcBef>
              <a:spcAft>
                <a:spcPts val="0"/>
              </a:spcAft>
              <a:buClr>
                <a:schemeClr val="dk1"/>
              </a:buClr>
              <a:buSzPts val="1400"/>
              <a:buChar char="●"/>
              <a:defRPr>
                <a:solidFill>
                  <a:schemeClr val="dk1"/>
                </a:solidFill>
              </a:defRPr>
            </a:lvl4pPr>
            <a:lvl5pPr marL="3047924" lvl="4" indent="-423323">
              <a:spcBef>
                <a:spcPts val="0"/>
              </a:spcBef>
              <a:spcAft>
                <a:spcPts val="0"/>
              </a:spcAft>
              <a:buClr>
                <a:schemeClr val="dk1"/>
              </a:buClr>
              <a:buSzPts val="1400"/>
              <a:buChar char="○"/>
              <a:defRPr>
                <a:solidFill>
                  <a:schemeClr val="dk1"/>
                </a:solidFill>
              </a:defRPr>
            </a:lvl5pPr>
            <a:lvl6pPr marL="3657509" lvl="5" indent="-423323">
              <a:spcBef>
                <a:spcPts val="0"/>
              </a:spcBef>
              <a:spcAft>
                <a:spcPts val="0"/>
              </a:spcAft>
              <a:buClr>
                <a:schemeClr val="dk1"/>
              </a:buClr>
              <a:buSzPts val="1400"/>
              <a:buChar char="■"/>
              <a:defRPr>
                <a:solidFill>
                  <a:schemeClr val="dk1"/>
                </a:solidFill>
              </a:defRPr>
            </a:lvl6pPr>
            <a:lvl7pPr marL="4267093" lvl="6" indent="-423323">
              <a:spcBef>
                <a:spcPts val="0"/>
              </a:spcBef>
              <a:spcAft>
                <a:spcPts val="0"/>
              </a:spcAft>
              <a:buClr>
                <a:schemeClr val="dk1"/>
              </a:buClr>
              <a:buSzPts val="1400"/>
              <a:buChar char="●"/>
              <a:defRPr>
                <a:solidFill>
                  <a:schemeClr val="dk1"/>
                </a:solidFill>
              </a:defRPr>
            </a:lvl7pPr>
            <a:lvl8pPr marL="4876678" lvl="7" indent="-423323">
              <a:spcBef>
                <a:spcPts val="0"/>
              </a:spcBef>
              <a:spcAft>
                <a:spcPts val="0"/>
              </a:spcAft>
              <a:buClr>
                <a:schemeClr val="dk1"/>
              </a:buClr>
              <a:buSzPts val="1400"/>
              <a:buChar char="○"/>
              <a:defRPr>
                <a:solidFill>
                  <a:schemeClr val="dk1"/>
                </a:solidFill>
              </a:defRPr>
            </a:lvl8pPr>
            <a:lvl9pPr marL="5486263" lvl="8" indent="-423323">
              <a:spcBef>
                <a:spcPts val="0"/>
              </a:spcBef>
              <a:spcAft>
                <a:spcPts val="0"/>
              </a:spcAft>
              <a:buClr>
                <a:schemeClr val="dk1"/>
              </a:buClr>
              <a:buSzPts val="1400"/>
              <a:buChar char="■"/>
              <a:defRPr>
                <a:solidFill>
                  <a:schemeClr val="dk1"/>
                </a:solidFill>
              </a:defRPr>
            </a:lvl9pPr>
          </a:lstStyle>
          <a:p>
            <a:endParaRPr/>
          </a:p>
        </p:txBody>
      </p:sp>
      <p:sp>
        <p:nvSpPr>
          <p:cNvPr id="40" name="Google Shape;40;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4190799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55257F-BA7D-78B5-B669-E5B6C10F68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B2C9EB1-5096-BFCE-AB1E-3A5DFF7702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6D61EA-A5AA-599D-AD96-68C0681074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E9C62E-E3C3-4CC7-AF00-9F0B4AED7273}" type="datetimeFigureOut">
              <a:rPr lang="en-IN" smtClean="0"/>
              <a:t>24-04-2026</a:t>
            </a:fld>
            <a:endParaRPr lang="en-IN"/>
          </a:p>
        </p:txBody>
      </p:sp>
      <p:sp>
        <p:nvSpPr>
          <p:cNvPr id="5" name="Footer Placeholder 4">
            <a:extLst>
              <a:ext uri="{FF2B5EF4-FFF2-40B4-BE49-F238E27FC236}">
                <a16:creationId xmlns:a16="http://schemas.microsoft.com/office/drawing/2014/main" id="{69BB9435-D68F-7E63-73EB-E49F31CDA4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4200ED2-D6C8-0DC5-63AB-556DD9BB4A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FD47F6-FE21-4A7F-ACD0-368AAC2C137A}" type="slidenum">
              <a:rPr lang="en-IN" smtClean="0"/>
              <a:t>‹#›</a:t>
            </a:fld>
            <a:endParaRPr lang="en-IN"/>
          </a:p>
        </p:txBody>
      </p:sp>
    </p:spTree>
    <p:extLst>
      <p:ext uri="{BB962C8B-B14F-4D97-AF65-F5344CB8AC3E}">
        <p14:creationId xmlns:p14="http://schemas.microsoft.com/office/powerpoint/2010/main" val="12576697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3" Type="http://schemas.openxmlformats.org/officeDocument/2006/relationships/hyperlink" Target="https://lastminuteengineers.com/max30100-pulse-oximeter-heart-rate-sensor-arduino-tutorial/" TargetMode="External"/><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28.png"/><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A28C866-BA91-145E-0406-09A8D2F2A699}"/>
              </a:ext>
            </a:extLst>
          </p:cNvPr>
          <p:cNvSpPr>
            <a:spLocks noGrp="1"/>
          </p:cNvSpPr>
          <p:nvPr>
            <p:ph type="subTitle" idx="1"/>
          </p:nvPr>
        </p:nvSpPr>
        <p:spPr>
          <a:xfrm>
            <a:off x="612742" y="3176833"/>
            <a:ext cx="10407192" cy="3223967"/>
          </a:xfrm>
        </p:spPr>
        <p:txBody>
          <a:bodyPr>
            <a:normAutofit/>
          </a:bodyPr>
          <a:lstStyle/>
          <a:p>
            <a:r>
              <a:rPr lang="en-US" altLang="en-US" b="1" dirty="0">
                <a:latin typeface="Arial" panose="020B0604020202020204" pitchFamily="34" charset="0"/>
              </a:rPr>
              <a:t>Product Design And Development</a:t>
            </a:r>
          </a:p>
          <a:p>
            <a:endParaRPr lang="en-IN" dirty="0"/>
          </a:p>
          <a:p>
            <a:endParaRPr lang="en-IN" dirty="0"/>
          </a:p>
        </p:txBody>
      </p:sp>
      <p:pic>
        <p:nvPicPr>
          <p:cNvPr id="1026" name="Picture 2" descr="Prof. Sandeep Chaudhary - Sustainable Construction Lab | IIT Indore">
            <a:extLst>
              <a:ext uri="{FF2B5EF4-FFF2-40B4-BE49-F238E27FC236}">
                <a16:creationId xmlns:a16="http://schemas.microsoft.com/office/drawing/2014/main" id="{DDCE0D9F-7A23-2970-3828-C3561FB65B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5625" y="37707"/>
            <a:ext cx="4581426" cy="313912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A7EACC5-E27C-9252-8EC0-6BA488A45E1B}"/>
              </a:ext>
            </a:extLst>
          </p:cNvPr>
          <p:cNvSpPr txBox="1"/>
          <p:nvPr/>
        </p:nvSpPr>
        <p:spPr>
          <a:xfrm>
            <a:off x="952107" y="4284482"/>
            <a:ext cx="2290713" cy="2031325"/>
          </a:xfrm>
          <a:prstGeom prst="rect">
            <a:avLst/>
          </a:prstGeom>
          <a:noFill/>
        </p:spPr>
        <p:txBody>
          <a:bodyPr wrap="square" rtlCol="0">
            <a:spAutoFit/>
          </a:bodyPr>
          <a:lstStyle/>
          <a:p>
            <a:r>
              <a:rPr lang="en-IN" dirty="0"/>
              <a:t>Presented by</a:t>
            </a:r>
          </a:p>
          <a:p>
            <a:endParaRPr lang="en-IN" dirty="0"/>
          </a:p>
          <a:p>
            <a:r>
              <a:rPr lang="en-IN" dirty="0"/>
              <a:t>Chandan Maurya</a:t>
            </a:r>
          </a:p>
          <a:p>
            <a:r>
              <a:rPr lang="en-IN" dirty="0"/>
              <a:t>(2502103017)</a:t>
            </a:r>
          </a:p>
          <a:p>
            <a:endParaRPr lang="en-IN" dirty="0"/>
          </a:p>
          <a:p>
            <a:r>
              <a:rPr lang="en-IN" dirty="0"/>
              <a:t>Pratham Shrivastava</a:t>
            </a:r>
          </a:p>
          <a:p>
            <a:r>
              <a:rPr lang="en-IN" dirty="0"/>
              <a:t>(2502103024</a:t>
            </a:r>
          </a:p>
        </p:txBody>
      </p:sp>
      <p:sp>
        <p:nvSpPr>
          <p:cNvPr id="6" name="TextBox 5">
            <a:extLst>
              <a:ext uri="{FF2B5EF4-FFF2-40B4-BE49-F238E27FC236}">
                <a16:creationId xmlns:a16="http://schemas.microsoft.com/office/drawing/2014/main" id="{679F6B2B-9E33-DA1C-4FD1-819AE55D5CFD}"/>
              </a:ext>
            </a:extLst>
          </p:cNvPr>
          <p:cNvSpPr txBox="1"/>
          <p:nvPr/>
        </p:nvSpPr>
        <p:spPr>
          <a:xfrm>
            <a:off x="8616099" y="4284482"/>
            <a:ext cx="2824061" cy="1477328"/>
          </a:xfrm>
          <a:prstGeom prst="rect">
            <a:avLst/>
          </a:prstGeom>
          <a:noFill/>
        </p:spPr>
        <p:txBody>
          <a:bodyPr wrap="square" rtlCol="0">
            <a:spAutoFit/>
          </a:bodyPr>
          <a:lstStyle/>
          <a:p>
            <a:r>
              <a:rPr lang="en-IN" dirty="0"/>
              <a:t>Presented to</a:t>
            </a:r>
          </a:p>
          <a:p>
            <a:endParaRPr lang="en-IN" dirty="0"/>
          </a:p>
          <a:p>
            <a:r>
              <a:rPr lang="en-IN" dirty="0"/>
              <a:t>Dr. Pawan Kumar </a:t>
            </a:r>
            <a:r>
              <a:rPr lang="en-IN" dirty="0" err="1"/>
              <a:t>Kankar</a:t>
            </a:r>
            <a:r>
              <a:rPr lang="en-IN" dirty="0"/>
              <a:t> Professor</a:t>
            </a:r>
          </a:p>
          <a:p>
            <a:r>
              <a:rPr lang="en-IN" dirty="0"/>
              <a:t>IIT Indore</a:t>
            </a:r>
          </a:p>
        </p:txBody>
      </p:sp>
    </p:spTree>
    <p:extLst>
      <p:ext uri="{BB962C8B-B14F-4D97-AF65-F5344CB8AC3E}">
        <p14:creationId xmlns:p14="http://schemas.microsoft.com/office/powerpoint/2010/main" val="39480448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F8442-BFBD-787D-5883-A018F2A3B94D}"/>
              </a:ext>
            </a:extLst>
          </p:cNvPr>
          <p:cNvSpPr>
            <a:spLocks noGrp="1"/>
          </p:cNvSpPr>
          <p:nvPr>
            <p:ph type="title"/>
          </p:nvPr>
        </p:nvSpPr>
        <p:spPr/>
        <p:txBody>
          <a:bodyPr/>
          <a:lstStyle/>
          <a:p>
            <a:r>
              <a:rPr lang="en-IN" b="1" dirty="0"/>
              <a:t>OPPORTUNITY IDENTIFICATION</a:t>
            </a:r>
          </a:p>
        </p:txBody>
      </p:sp>
      <p:pic>
        <p:nvPicPr>
          <p:cNvPr id="9" name="Picture 8">
            <a:extLst>
              <a:ext uri="{FF2B5EF4-FFF2-40B4-BE49-F238E27FC236}">
                <a16:creationId xmlns:a16="http://schemas.microsoft.com/office/drawing/2014/main" id="{F49E099D-FC8B-A6E9-60D4-C7AA6508BA18}"/>
              </a:ext>
            </a:extLst>
          </p:cNvPr>
          <p:cNvPicPr>
            <a:picLocks noChangeAspect="1"/>
          </p:cNvPicPr>
          <p:nvPr/>
        </p:nvPicPr>
        <p:blipFill>
          <a:blip r:embed="rId2"/>
          <a:stretch>
            <a:fillRect/>
          </a:stretch>
        </p:blipFill>
        <p:spPr>
          <a:xfrm>
            <a:off x="7560297" y="2491966"/>
            <a:ext cx="3793503" cy="3588323"/>
          </a:xfrm>
          <a:prstGeom prst="rect">
            <a:avLst/>
          </a:prstGeom>
        </p:spPr>
      </p:pic>
      <p:sp>
        <p:nvSpPr>
          <p:cNvPr id="13" name="Rectangle: Rounded Corners 12">
            <a:extLst>
              <a:ext uri="{FF2B5EF4-FFF2-40B4-BE49-F238E27FC236}">
                <a16:creationId xmlns:a16="http://schemas.microsoft.com/office/drawing/2014/main" id="{0ACEDB8F-DF1A-3C1E-C276-D9B4D1F300B7}"/>
              </a:ext>
            </a:extLst>
          </p:cNvPr>
          <p:cNvSpPr/>
          <p:nvPr/>
        </p:nvSpPr>
        <p:spPr>
          <a:xfrm>
            <a:off x="637879" y="2147690"/>
            <a:ext cx="5819481" cy="3734636"/>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95000"/>
                    <a:lumOff val="5000"/>
                  </a:schemeClr>
                </a:solidFill>
              </a:rPr>
              <a:t>In the modern lifestyle, students, office workers, gamers, and professionals spend </a:t>
            </a:r>
            <a:r>
              <a:rPr lang="en-US" b="1" dirty="0">
                <a:solidFill>
                  <a:schemeClr val="tx1">
                    <a:lumMod val="95000"/>
                    <a:lumOff val="5000"/>
                  </a:schemeClr>
                </a:solidFill>
              </a:rPr>
              <a:t>long hours sitting on chairs</a:t>
            </a:r>
            <a:r>
              <a:rPr lang="en-US" dirty="0">
                <a:solidFill>
                  <a:schemeClr val="tx1">
                    <a:lumMod val="95000"/>
                    <a:lumOff val="5000"/>
                  </a:schemeClr>
                </a:solidFill>
              </a:rPr>
              <a:t> while studying or working. Continuous sitting with </a:t>
            </a:r>
            <a:r>
              <a:rPr lang="en-US" b="1" dirty="0">
                <a:solidFill>
                  <a:schemeClr val="tx1">
                    <a:lumMod val="95000"/>
                    <a:lumOff val="5000"/>
                  </a:schemeClr>
                </a:solidFill>
              </a:rPr>
              <a:t>incorrect posture</a:t>
            </a:r>
            <a:r>
              <a:rPr lang="en-US" dirty="0">
                <a:solidFill>
                  <a:schemeClr val="tx1">
                    <a:lumMod val="95000"/>
                    <a:lumOff val="5000"/>
                  </a:schemeClr>
                </a:solidFill>
              </a:rPr>
              <a:t> leads to serious health problems such as </a:t>
            </a:r>
            <a:r>
              <a:rPr lang="en-US" b="1" dirty="0">
                <a:solidFill>
                  <a:schemeClr val="tx1">
                    <a:lumMod val="95000"/>
                    <a:lumOff val="5000"/>
                  </a:schemeClr>
                </a:solidFill>
              </a:rPr>
              <a:t>back pain, neck strain, spinal disorders, obesity, reduced blood circulation, and heart-related risks</a:t>
            </a:r>
            <a:r>
              <a:rPr lang="en-US" dirty="0">
                <a:solidFill>
                  <a:schemeClr val="tx1">
                    <a:lumMod val="95000"/>
                    <a:lumOff val="5000"/>
                  </a:schemeClr>
                </a:solidFill>
              </a:rPr>
              <a:t>.</a:t>
            </a:r>
            <a:endParaRPr lang="en-IN" dirty="0">
              <a:solidFill>
                <a:schemeClr val="tx1">
                  <a:lumMod val="95000"/>
                  <a:lumOff val="5000"/>
                </a:schemeClr>
              </a:solidFill>
            </a:endParaRPr>
          </a:p>
        </p:txBody>
      </p:sp>
    </p:spTree>
    <p:extLst>
      <p:ext uri="{BB962C8B-B14F-4D97-AF65-F5344CB8AC3E}">
        <p14:creationId xmlns:p14="http://schemas.microsoft.com/office/powerpoint/2010/main" val="40894996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47A3094-8D3C-F1BD-12BF-6A15BAA816E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53192" y="1197973"/>
            <a:ext cx="4683413" cy="4351338"/>
          </a:xfrm>
          <a:prstGeom prst="rect">
            <a:avLst/>
          </a:prstGeom>
        </p:spPr>
      </p:pic>
      <p:sp>
        <p:nvSpPr>
          <p:cNvPr id="5" name="Rectangle: Rounded Corners 4">
            <a:extLst>
              <a:ext uri="{FF2B5EF4-FFF2-40B4-BE49-F238E27FC236}">
                <a16:creationId xmlns:a16="http://schemas.microsoft.com/office/drawing/2014/main" id="{01F179F3-EB92-5F13-336D-C86C339D3CC9}"/>
              </a:ext>
            </a:extLst>
          </p:cNvPr>
          <p:cNvSpPr/>
          <p:nvPr/>
        </p:nvSpPr>
        <p:spPr>
          <a:xfrm>
            <a:off x="838200" y="1197973"/>
            <a:ext cx="5210529" cy="4462053"/>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rPr>
              <a:t>Conventional shoes have </a:t>
            </a:r>
            <a:r>
              <a:rPr lang="en-US" b="1">
                <a:solidFill>
                  <a:schemeClr val="tx1"/>
                </a:solidFill>
              </a:rPr>
              <a:t>fixed sizes</a:t>
            </a:r>
            <a:r>
              <a:rPr lang="en-US">
                <a:solidFill>
                  <a:schemeClr val="tx1"/>
                </a:solidFill>
              </a:rPr>
              <a:t>, which leads to:</a:t>
            </a:r>
          </a:p>
          <a:p>
            <a:endParaRPr lang="en-US">
              <a:solidFill>
                <a:schemeClr val="tx1"/>
              </a:solidFill>
            </a:endParaRPr>
          </a:p>
          <a:p>
            <a:pPr marL="285750" indent="-285750">
              <a:buFont typeface="Arial" panose="020B0604020202020204" pitchFamily="34" charset="0"/>
              <a:buChar char="•"/>
            </a:pPr>
            <a:r>
              <a:rPr lang="en-US">
                <a:solidFill>
                  <a:schemeClr val="tx1"/>
                </a:solidFill>
              </a:rPr>
              <a:t>Size mismatch for growing feet (children)</a:t>
            </a:r>
          </a:p>
          <a:p>
            <a:pPr marL="285750" indent="-285750">
              <a:buFont typeface="Arial" panose="020B0604020202020204" pitchFamily="34" charset="0"/>
              <a:buChar char="•"/>
            </a:pPr>
            <a:endParaRPr lang="en-US">
              <a:solidFill>
                <a:schemeClr val="tx1"/>
              </a:solidFill>
            </a:endParaRPr>
          </a:p>
          <a:p>
            <a:pPr marL="285750" indent="-285750">
              <a:buFont typeface="Arial" panose="020B0604020202020204" pitchFamily="34" charset="0"/>
              <a:buChar char="•"/>
            </a:pPr>
            <a:r>
              <a:rPr lang="en-US">
                <a:solidFill>
                  <a:schemeClr val="tx1"/>
                </a:solidFill>
              </a:rPr>
              <a:t>Discomfort due to swelling during long walking</a:t>
            </a:r>
          </a:p>
          <a:p>
            <a:pPr marL="285750" indent="-285750">
              <a:buFont typeface="Arial" panose="020B0604020202020204" pitchFamily="34" charset="0"/>
              <a:buChar char="•"/>
            </a:pPr>
            <a:endParaRPr lang="en-US">
              <a:solidFill>
                <a:schemeClr val="tx1"/>
              </a:solidFill>
            </a:endParaRPr>
          </a:p>
          <a:p>
            <a:pPr marL="285750" indent="-285750">
              <a:buFont typeface="Arial" panose="020B0604020202020204" pitchFamily="34" charset="0"/>
              <a:buChar char="•"/>
            </a:pPr>
            <a:r>
              <a:rPr lang="en-US">
                <a:solidFill>
                  <a:schemeClr val="tx1"/>
                </a:solidFill>
              </a:rPr>
              <a:t>Inventory issues for manufacturers</a:t>
            </a:r>
          </a:p>
          <a:p>
            <a:pPr marL="285750" indent="-285750">
              <a:buFont typeface="Arial" panose="020B0604020202020204" pitchFamily="34" charset="0"/>
              <a:buChar char="•"/>
            </a:pPr>
            <a:endParaRPr lang="en-US">
              <a:solidFill>
                <a:schemeClr val="tx1"/>
              </a:solidFill>
            </a:endParaRPr>
          </a:p>
          <a:p>
            <a:pPr marL="285750" indent="-285750">
              <a:buFont typeface="Arial" panose="020B0604020202020204" pitchFamily="34" charset="0"/>
              <a:buChar char="•"/>
            </a:pPr>
            <a:r>
              <a:rPr lang="en-US">
                <a:solidFill>
                  <a:schemeClr val="tx1"/>
                </a:solidFill>
              </a:rPr>
              <a:t>Shoe wastage due to minor size variation</a:t>
            </a:r>
            <a:endParaRPr lang="en-US" dirty="0">
              <a:solidFill>
                <a:schemeClr val="tx1"/>
              </a:solidFill>
            </a:endParaRPr>
          </a:p>
        </p:txBody>
      </p:sp>
    </p:spTree>
    <p:extLst>
      <p:ext uri="{BB962C8B-B14F-4D97-AF65-F5344CB8AC3E}">
        <p14:creationId xmlns:p14="http://schemas.microsoft.com/office/powerpoint/2010/main" val="3123186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55C8F71-6741-9CE9-57DA-8D3002CA35EC}"/>
              </a:ext>
            </a:extLst>
          </p:cNvPr>
          <p:cNvPicPr>
            <a:picLocks noChangeAspect="1"/>
          </p:cNvPicPr>
          <p:nvPr/>
        </p:nvPicPr>
        <p:blipFill>
          <a:blip r:embed="rId2"/>
          <a:stretch>
            <a:fillRect/>
          </a:stretch>
        </p:blipFill>
        <p:spPr>
          <a:xfrm>
            <a:off x="7070104" y="1861793"/>
            <a:ext cx="4572000" cy="4006392"/>
          </a:xfrm>
          <a:prstGeom prst="rect">
            <a:avLst/>
          </a:prstGeom>
        </p:spPr>
      </p:pic>
      <p:sp>
        <p:nvSpPr>
          <p:cNvPr id="10" name="Rectangle: Rounded Corners 9">
            <a:extLst>
              <a:ext uri="{FF2B5EF4-FFF2-40B4-BE49-F238E27FC236}">
                <a16:creationId xmlns:a16="http://schemas.microsoft.com/office/drawing/2014/main" id="{E1B5842D-739E-AB39-4808-217C61566C22}"/>
              </a:ext>
            </a:extLst>
          </p:cNvPr>
          <p:cNvSpPr/>
          <p:nvPr/>
        </p:nvSpPr>
        <p:spPr>
          <a:xfrm>
            <a:off x="197963" y="1564849"/>
            <a:ext cx="6306532" cy="4600281"/>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In rural areas, people often </a:t>
            </a:r>
            <a:r>
              <a:rPr lang="en-US" b="1" dirty="0">
                <a:solidFill>
                  <a:schemeClr val="tx1"/>
                </a:solidFill>
              </a:rPr>
              <a:t>carry heavy agricultural or household loads using traditional sacks (sag/bora).</a:t>
            </a:r>
          </a:p>
          <a:p>
            <a:br>
              <a:rPr lang="en-US" dirty="0">
                <a:solidFill>
                  <a:schemeClr val="tx1"/>
                </a:solidFill>
              </a:rPr>
            </a:br>
            <a:r>
              <a:rPr lang="en-US" dirty="0">
                <a:solidFill>
                  <a:schemeClr val="tx1"/>
                </a:solidFill>
              </a:rPr>
              <a:t>These sacks are uncomfortable, lack proper weight distribution, and can cause shoulder and back pain.</a:t>
            </a:r>
            <a:br>
              <a:rPr lang="en-US" dirty="0">
                <a:solidFill>
                  <a:schemeClr val="tx1"/>
                </a:solidFill>
              </a:rPr>
            </a:br>
            <a:r>
              <a:rPr lang="en-US" dirty="0">
                <a:solidFill>
                  <a:schemeClr val="tx1"/>
                </a:solidFill>
              </a:rPr>
              <a:t>At the same time, normal bags are not suitable for carrying heavy loads.</a:t>
            </a:r>
          </a:p>
          <a:p>
            <a:br>
              <a:rPr lang="en-US" dirty="0">
                <a:solidFill>
                  <a:schemeClr val="tx1"/>
                </a:solidFill>
              </a:rPr>
            </a:br>
            <a:r>
              <a:rPr lang="en-US" dirty="0">
                <a:solidFill>
                  <a:schemeClr val="tx1"/>
                </a:solidFill>
              </a:rPr>
              <a:t>Therefore, there is a need for a convertible carrying system that can function as:</a:t>
            </a:r>
          </a:p>
          <a:p>
            <a:r>
              <a:rPr lang="en-US" dirty="0">
                <a:solidFill>
                  <a:schemeClr val="tx1"/>
                </a:solidFill>
              </a:rPr>
              <a:t> A comfortable backpack for light loads</a:t>
            </a:r>
            <a:br>
              <a:rPr lang="en-US" dirty="0">
                <a:solidFill>
                  <a:schemeClr val="tx1"/>
                </a:solidFill>
              </a:rPr>
            </a:br>
            <a:r>
              <a:rPr lang="en-US" dirty="0">
                <a:solidFill>
                  <a:schemeClr val="tx1"/>
                </a:solidFill>
              </a:rPr>
              <a:t> A strong sack-type carrier for heavy loads</a:t>
            </a:r>
          </a:p>
        </p:txBody>
      </p:sp>
    </p:spTree>
    <p:extLst>
      <p:ext uri="{BB962C8B-B14F-4D97-AF65-F5344CB8AC3E}">
        <p14:creationId xmlns:p14="http://schemas.microsoft.com/office/powerpoint/2010/main" val="4052093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3AA3C-AA2F-F8AE-84D5-FDEA8B5D2FD2}"/>
              </a:ext>
            </a:extLst>
          </p:cNvPr>
          <p:cNvSpPr>
            <a:spLocks noGrp="1"/>
          </p:cNvSpPr>
          <p:nvPr>
            <p:ph type="title"/>
          </p:nvPr>
        </p:nvSpPr>
        <p:spPr/>
        <p:txBody>
          <a:bodyPr/>
          <a:lstStyle/>
          <a:p>
            <a:r>
              <a:rPr lang="en-IN" dirty="0">
                <a:solidFill>
                  <a:srgbClr val="FF0000"/>
                </a:solidFill>
              </a:rPr>
              <a:t>SELECTED OPPORTUNITY</a:t>
            </a:r>
          </a:p>
        </p:txBody>
      </p:sp>
      <p:sp>
        <p:nvSpPr>
          <p:cNvPr id="5" name="Rectangle: Rounded Corners 4">
            <a:extLst>
              <a:ext uri="{FF2B5EF4-FFF2-40B4-BE49-F238E27FC236}">
                <a16:creationId xmlns:a16="http://schemas.microsoft.com/office/drawing/2014/main" id="{DED9001A-BCCB-8855-D7B5-D9DB42673AC2}"/>
              </a:ext>
            </a:extLst>
          </p:cNvPr>
          <p:cNvSpPr/>
          <p:nvPr/>
        </p:nvSpPr>
        <p:spPr>
          <a:xfrm>
            <a:off x="263951" y="1762812"/>
            <a:ext cx="5832049" cy="4730063"/>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solidFill>
                  <a:schemeClr val="tx1">
                    <a:lumMod val="95000"/>
                    <a:lumOff val="5000"/>
                  </a:schemeClr>
                </a:solidFill>
              </a:rPr>
              <a:t>In the modern lifestyle, students, office workers, gamers, and professionals spend </a:t>
            </a:r>
            <a:r>
              <a:rPr lang="en-US" sz="2000" b="1" dirty="0">
                <a:solidFill>
                  <a:schemeClr val="tx1">
                    <a:lumMod val="95000"/>
                    <a:lumOff val="5000"/>
                  </a:schemeClr>
                </a:solidFill>
              </a:rPr>
              <a:t>long hours sitting on chairs</a:t>
            </a:r>
            <a:r>
              <a:rPr lang="en-US" sz="2000" dirty="0">
                <a:solidFill>
                  <a:schemeClr val="tx1">
                    <a:lumMod val="95000"/>
                    <a:lumOff val="5000"/>
                  </a:schemeClr>
                </a:solidFill>
              </a:rPr>
              <a:t> while studying or working. Continuous sitting with </a:t>
            </a:r>
            <a:r>
              <a:rPr lang="en-US" sz="2000" b="1" dirty="0">
                <a:solidFill>
                  <a:schemeClr val="tx1">
                    <a:lumMod val="95000"/>
                    <a:lumOff val="5000"/>
                  </a:schemeClr>
                </a:solidFill>
              </a:rPr>
              <a:t>incorrect posture</a:t>
            </a:r>
            <a:r>
              <a:rPr lang="en-US" sz="2000" dirty="0">
                <a:solidFill>
                  <a:schemeClr val="tx1">
                    <a:lumMod val="95000"/>
                    <a:lumOff val="5000"/>
                  </a:schemeClr>
                </a:solidFill>
              </a:rPr>
              <a:t> leads to serious health problems such as </a:t>
            </a:r>
            <a:r>
              <a:rPr lang="en-US" sz="2000" b="1" dirty="0">
                <a:solidFill>
                  <a:schemeClr val="tx1">
                    <a:lumMod val="95000"/>
                    <a:lumOff val="5000"/>
                  </a:schemeClr>
                </a:solidFill>
              </a:rPr>
              <a:t>back pain, neck strain, spinal disorders, obesity, reduced blood circulation, and heart-related risks</a:t>
            </a:r>
            <a:r>
              <a:rPr lang="en-US" sz="2000" dirty="0">
                <a:solidFill>
                  <a:schemeClr val="tx1">
                    <a:lumMod val="95000"/>
                    <a:lumOff val="5000"/>
                  </a:schemeClr>
                </a:solidFill>
              </a:rPr>
              <a:t>.</a:t>
            </a:r>
            <a:endParaRPr lang="en-IN" sz="2000" dirty="0">
              <a:solidFill>
                <a:schemeClr val="tx1">
                  <a:lumMod val="95000"/>
                  <a:lumOff val="5000"/>
                </a:schemeClr>
              </a:solidFill>
            </a:endParaRPr>
          </a:p>
        </p:txBody>
      </p:sp>
      <p:sp>
        <p:nvSpPr>
          <p:cNvPr id="7" name="Rectangle: Rounded Corners 6">
            <a:extLst>
              <a:ext uri="{FF2B5EF4-FFF2-40B4-BE49-F238E27FC236}">
                <a16:creationId xmlns:a16="http://schemas.microsoft.com/office/drawing/2014/main" id="{44150CC9-7B94-7A39-258E-B43F0D6526F5}"/>
              </a:ext>
            </a:extLst>
          </p:cNvPr>
          <p:cNvSpPr/>
          <p:nvPr/>
        </p:nvSpPr>
        <p:spPr>
          <a:xfrm>
            <a:off x="6608190" y="1762812"/>
            <a:ext cx="5319859" cy="4730063"/>
          </a:xfrm>
          <a:prstGeom prst="roundRect">
            <a:avLst/>
          </a:prstGeom>
          <a:solidFill>
            <a:schemeClr val="accent1">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Additionally, people often </a:t>
            </a:r>
            <a:r>
              <a:rPr lang="en-US" sz="2000" b="1" dirty="0"/>
              <a:t>forget to take breaks, drink sufficient water, or maintain proper body posture</a:t>
            </a:r>
            <a:r>
              <a:rPr lang="en-US" sz="2000" dirty="0"/>
              <a:t>, which negatively affects their productivity, comfort, and long-term health. Existing chairs are mostly </a:t>
            </a:r>
            <a:r>
              <a:rPr lang="en-US" sz="2000" b="1" dirty="0"/>
              <a:t>passive furniture</a:t>
            </a:r>
            <a:r>
              <a:rPr lang="en-US" sz="2000" dirty="0"/>
              <a:t> and do not provide any </a:t>
            </a:r>
            <a:r>
              <a:rPr lang="en-US" sz="2000" b="1" dirty="0"/>
              <a:t>active health monitoring or real-time feedback system</a:t>
            </a:r>
            <a:r>
              <a:rPr lang="en-US" sz="2000" dirty="0"/>
              <a:t>.</a:t>
            </a:r>
            <a:endParaRPr lang="en-IN" sz="2000" dirty="0">
              <a:solidFill>
                <a:schemeClr val="accent1">
                  <a:lumMod val="60000"/>
                  <a:lumOff val="40000"/>
                </a:schemeClr>
              </a:solidFill>
            </a:endParaRPr>
          </a:p>
        </p:txBody>
      </p:sp>
    </p:spTree>
    <p:extLst>
      <p:ext uri="{BB962C8B-B14F-4D97-AF65-F5344CB8AC3E}">
        <p14:creationId xmlns:p14="http://schemas.microsoft.com/office/powerpoint/2010/main" val="12576240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40386-E65C-4767-E228-E3A5A9BB7922}"/>
              </a:ext>
            </a:extLst>
          </p:cNvPr>
          <p:cNvSpPr>
            <a:spLocks noGrp="1"/>
          </p:cNvSpPr>
          <p:nvPr>
            <p:ph type="title"/>
          </p:nvPr>
        </p:nvSpPr>
        <p:spPr/>
        <p:txBody>
          <a:bodyPr/>
          <a:lstStyle/>
          <a:p>
            <a:r>
              <a:rPr lang="en-IN" dirty="0"/>
              <a:t>OBJECTIVE</a:t>
            </a:r>
          </a:p>
        </p:txBody>
      </p:sp>
      <p:sp>
        <p:nvSpPr>
          <p:cNvPr id="3" name="Content Placeholder 2">
            <a:extLst>
              <a:ext uri="{FF2B5EF4-FFF2-40B4-BE49-F238E27FC236}">
                <a16:creationId xmlns:a16="http://schemas.microsoft.com/office/drawing/2014/main" id="{8A8C36AB-6463-FE14-4860-95D776A394DE}"/>
              </a:ext>
            </a:extLst>
          </p:cNvPr>
          <p:cNvSpPr>
            <a:spLocks noGrp="1"/>
          </p:cNvSpPr>
          <p:nvPr>
            <p:ph idx="1"/>
          </p:nvPr>
        </p:nvSpPr>
        <p:spPr/>
        <p:txBody>
          <a:bodyPr>
            <a:normAutofit/>
          </a:bodyPr>
          <a:lstStyle/>
          <a:p>
            <a:pPr marL="0" indent="0">
              <a:buNone/>
            </a:pPr>
            <a:r>
              <a:rPr lang="en-US" sz="2000" dirty="0"/>
              <a:t>The main objectives of designing the Smart Chair are:</a:t>
            </a:r>
          </a:p>
          <a:p>
            <a:pPr marL="0" indent="0">
              <a:buNone/>
            </a:pPr>
            <a:endParaRPr lang="en-US" sz="2000" dirty="0"/>
          </a:p>
          <a:p>
            <a:r>
              <a:rPr lang="en-US" sz="2000" dirty="0"/>
              <a:t>To detect and improve sitting posture using posture sensing system.</a:t>
            </a:r>
          </a:p>
          <a:p>
            <a:r>
              <a:rPr lang="en-US" sz="2000" dirty="0"/>
              <a:t>To reduce sedentary lifestyle risk by giving periodic movement reminders.</a:t>
            </a:r>
          </a:p>
          <a:p>
            <a:r>
              <a:rPr lang="en-US" sz="2000" dirty="0"/>
              <a:t>To promote proper hydration habits by providing drinking water alerts.</a:t>
            </a:r>
          </a:p>
          <a:p>
            <a:r>
              <a:rPr lang="en-US" sz="2000" dirty="0"/>
              <a:t>To monitor basic heart rate for user health awareness.</a:t>
            </a:r>
          </a:p>
          <a:p>
            <a:r>
              <a:rPr lang="en-US" sz="2000" dirty="0"/>
              <a:t>To provide thermal comfort using cooling fan and heating coil.</a:t>
            </a:r>
          </a:p>
          <a:p>
            <a:r>
              <a:rPr lang="en-US" sz="2000" dirty="0"/>
              <a:t>To improve work efficiency, comfort, and long-term physical health of the user.</a:t>
            </a:r>
          </a:p>
          <a:p>
            <a:endParaRPr lang="en-IN" sz="2000" dirty="0"/>
          </a:p>
        </p:txBody>
      </p:sp>
    </p:spTree>
    <p:extLst>
      <p:ext uri="{BB962C8B-B14F-4D97-AF65-F5344CB8AC3E}">
        <p14:creationId xmlns:p14="http://schemas.microsoft.com/office/powerpoint/2010/main" val="2694764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AD5A4-D5F8-0E87-4C0A-F2F71902D9C9}"/>
              </a:ext>
            </a:extLst>
          </p:cNvPr>
          <p:cNvSpPr>
            <a:spLocks noGrp="1"/>
          </p:cNvSpPr>
          <p:nvPr>
            <p:ph type="title"/>
          </p:nvPr>
        </p:nvSpPr>
        <p:spPr/>
        <p:txBody>
          <a:bodyPr/>
          <a:lstStyle/>
          <a:p>
            <a:r>
              <a:rPr lang="en-IN" dirty="0"/>
              <a:t>NEED ANALYSIS</a:t>
            </a:r>
          </a:p>
        </p:txBody>
      </p:sp>
      <p:graphicFrame>
        <p:nvGraphicFramePr>
          <p:cNvPr id="5" name="Content Placeholder 4">
            <a:extLst>
              <a:ext uri="{FF2B5EF4-FFF2-40B4-BE49-F238E27FC236}">
                <a16:creationId xmlns:a16="http://schemas.microsoft.com/office/drawing/2014/main" id="{57C4D00D-104E-5BDE-55F8-9C34D94FD112}"/>
              </a:ext>
            </a:extLst>
          </p:cNvPr>
          <p:cNvGraphicFramePr>
            <a:graphicFrameLocks noGrp="1"/>
          </p:cNvGraphicFramePr>
          <p:nvPr>
            <p:ph idx="1"/>
            <p:extLst>
              <p:ext uri="{D42A27DB-BD31-4B8C-83A1-F6EECF244321}">
                <p14:modId xmlns:p14="http://schemas.microsoft.com/office/powerpoint/2010/main" val="2678247893"/>
              </p:ext>
            </p:extLst>
          </p:nvPr>
        </p:nvGraphicFramePr>
        <p:xfrm>
          <a:off x="1083297" y="1608809"/>
          <a:ext cx="9568992" cy="4312349"/>
        </p:xfrm>
        <a:graphic>
          <a:graphicData uri="http://schemas.openxmlformats.org/drawingml/2006/table">
            <a:tbl>
              <a:tblPr firstRow="1" bandRow="1">
                <a:tableStyleId>{5C22544A-7EE6-4342-B048-85BDC9FD1C3A}</a:tableStyleId>
              </a:tblPr>
              <a:tblGrid>
                <a:gridCol w="1197990">
                  <a:extLst>
                    <a:ext uri="{9D8B030D-6E8A-4147-A177-3AD203B41FA5}">
                      <a16:colId xmlns:a16="http://schemas.microsoft.com/office/drawing/2014/main" val="2095400342"/>
                    </a:ext>
                  </a:extLst>
                </a:gridCol>
                <a:gridCol w="5181338">
                  <a:extLst>
                    <a:ext uri="{9D8B030D-6E8A-4147-A177-3AD203B41FA5}">
                      <a16:colId xmlns:a16="http://schemas.microsoft.com/office/drawing/2014/main" val="186378384"/>
                    </a:ext>
                  </a:extLst>
                </a:gridCol>
                <a:gridCol w="3189664">
                  <a:extLst>
                    <a:ext uri="{9D8B030D-6E8A-4147-A177-3AD203B41FA5}">
                      <a16:colId xmlns:a16="http://schemas.microsoft.com/office/drawing/2014/main" val="2739819779"/>
                    </a:ext>
                  </a:extLst>
                </a:gridCol>
              </a:tblGrid>
              <a:tr h="471869">
                <a:tc>
                  <a:txBody>
                    <a:bodyPr/>
                    <a:lstStyle/>
                    <a:p>
                      <a:r>
                        <a:rPr lang="en-IN" dirty="0" err="1"/>
                        <a:t>Sr.No</a:t>
                      </a:r>
                      <a:endParaRPr lang="en-IN" dirty="0"/>
                    </a:p>
                  </a:txBody>
                  <a:tcPr/>
                </a:tc>
                <a:tc>
                  <a:txBody>
                    <a:bodyPr/>
                    <a:lstStyle/>
                    <a:p>
                      <a:r>
                        <a:rPr lang="en-IN" dirty="0"/>
                        <a:t>NEED ANALYSIS</a:t>
                      </a:r>
                    </a:p>
                  </a:txBody>
                  <a:tcPr/>
                </a:tc>
                <a:tc>
                  <a:txBody>
                    <a:bodyPr/>
                    <a:lstStyle/>
                    <a:p>
                      <a:r>
                        <a:rPr lang="en-IN" dirty="0"/>
                        <a:t>Rating</a:t>
                      </a:r>
                    </a:p>
                  </a:txBody>
                  <a:tcPr/>
                </a:tc>
                <a:extLst>
                  <a:ext uri="{0D108BD9-81ED-4DB2-BD59-A6C34878D82A}">
                    <a16:rowId xmlns:a16="http://schemas.microsoft.com/office/drawing/2014/main" val="975556073"/>
                  </a:ext>
                </a:extLst>
              </a:tr>
              <a:tr h="471869">
                <a:tc>
                  <a:txBody>
                    <a:bodyPr/>
                    <a:lstStyle/>
                    <a:p>
                      <a:r>
                        <a:rPr lang="en-IN" dirty="0"/>
                        <a:t>1</a:t>
                      </a:r>
                    </a:p>
                  </a:txBody>
                  <a:tcPr/>
                </a:tc>
                <a:tc>
                  <a:txBody>
                    <a:bodyPr/>
                    <a:lstStyle/>
                    <a:p>
                      <a:r>
                        <a:rPr lang="en-US" dirty="0"/>
                        <a:t>The chair should help the user maintain correct sitting posture to prevent back and neck pain</a:t>
                      </a:r>
                      <a:endParaRPr lang="en-IN" dirty="0"/>
                    </a:p>
                  </a:txBody>
                  <a:tcPr/>
                </a:tc>
                <a:tc>
                  <a:txBody>
                    <a:bodyPr/>
                    <a:lstStyle/>
                    <a:p>
                      <a:r>
                        <a:rPr lang="en-IN" dirty="0"/>
                        <a:t>10</a:t>
                      </a:r>
                    </a:p>
                  </a:txBody>
                  <a:tcPr/>
                </a:tc>
                <a:extLst>
                  <a:ext uri="{0D108BD9-81ED-4DB2-BD59-A6C34878D82A}">
                    <a16:rowId xmlns:a16="http://schemas.microsoft.com/office/drawing/2014/main" val="2350833246"/>
                  </a:ext>
                </a:extLst>
              </a:tr>
              <a:tr h="471869">
                <a:tc>
                  <a:txBody>
                    <a:bodyPr/>
                    <a:lstStyle/>
                    <a:p>
                      <a:r>
                        <a:rPr lang="en-IN" dirty="0"/>
                        <a:t>2</a:t>
                      </a:r>
                    </a:p>
                  </a:txBody>
                  <a:tcPr/>
                </a:tc>
                <a:tc>
                  <a:txBody>
                    <a:bodyPr/>
                    <a:lstStyle/>
                    <a:p>
                      <a:r>
                        <a:rPr lang="en-US" dirty="0"/>
                        <a:t>The system should provide sedentary reminders to encourage regular movement and reduce health risks</a:t>
                      </a:r>
                      <a:endParaRPr lang="en-IN" dirty="0"/>
                    </a:p>
                  </a:txBody>
                  <a:tcPr/>
                </a:tc>
                <a:tc>
                  <a:txBody>
                    <a:bodyPr/>
                    <a:lstStyle/>
                    <a:p>
                      <a:r>
                        <a:rPr lang="en-IN" dirty="0"/>
                        <a:t>9</a:t>
                      </a:r>
                    </a:p>
                  </a:txBody>
                  <a:tcPr/>
                </a:tc>
                <a:extLst>
                  <a:ext uri="{0D108BD9-81ED-4DB2-BD59-A6C34878D82A}">
                    <a16:rowId xmlns:a16="http://schemas.microsoft.com/office/drawing/2014/main" val="3494686724"/>
                  </a:ext>
                </a:extLst>
              </a:tr>
              <a:tr h="471869">
                <a:tc>
                  <a:txBody>
                    <a:bodyPr/>
                    <a:lstStyle/>
                    <a:p>
                      <a:r>
                        <a:rPr lang="en-IN" dirty="0"/>
                        <a:t>3</a:t>
                      </a:r>
                    </a:p>
                  </a:txBody>
                  <a:tcPr/>
                </a:tc>
                <a:tc>
                  <a:txBody>
                    <a:bodyPr/>
                    <a:lstStyle/>
                    <a:p>
                      <a:pPr>
                        <a:buNone/>
                      </a:pPr>
                      <a:r>
                        <a:rPr lang="en-US" dirty="0"/>
                        <a:t>The chair should include a drinking water reminder to promote proper hydration habits</a:t>
                      </a:r>
                      <a:endParaRPr lang="en-IN" dirty="0"/>
                    </a:p>
                  </a:txBody>
                  <a:tcPr anchor="ctr"/>
                </a:tc>
                <a:tc>
                  <a:txBody>
                    <a:bodyPr/>
                    <a:lstStyle/>
                    <a:p>
                      <a:r>
                        <a:rPr lang="en-IN" dirty="0"/>
                        <a:t>8</a:t>
                      </a:r>
                    </a:p>
                  </a:txBody>
                  <a:tcPr/>
                </a:tc>
                <a:extLst>
                  <a:ext uri="{0D108BD9-81ED-4DB2-BD59-A6C34878D82A}">
                    <a16:rowId xmlns:a16="http://schemas.microsoft.com/office/drawing/2014/main" val="3876819198"/>
                  </a:ext>
                </a:extLst>
              </a:tr>
              <a:tr h="471869">
                <a:tc>
                  <a:txBody>
                    <a:bodyPr/>
                    <a:lstStyle/>
                    <a:p>
                      <a:r>
                        <a:rPr lang="en-IN" dirty="0"/>
                        <a:t>4</a:t>
                      </a:r>
                    </a:p>
                  </a:txBody>
                  <a:tcPr/>
                </a:tc>
                <a:tc>
                  <a:txBody>
                    <a:bodyPr/>
                    <a:lstStyle/>
                    <a:p>
                      <a:r>
                        <a:rPr lang="en-US" dirty="0"/>
                        <a:t>The chair should monitor heart rate to create basic health awareness during long sitting periods</a:t>
                      </a:r>
                      <a:endParaRPr lang="en-IN" dirty="0"/>
                    </a:p>
                  </a:txBody>
                  <a:tcPr/>
                </a:tc>
                <a:tc>
                  <a:txBody>
                    <a:bodyPr/>
                    <a:lstStyle/>
                    <a:p>
                      <a:r>
                        <a:rPr lang="en-IN" dirty="0"/>
                        <a:t>8</a:t>
                      </a:r>
                    </a:p>
                  </a:txBody>
                  <a:tcPr/>
                </a:tc>
                <a:extLst>
                  <a:ext uri="{0D108BD9-81ED-4DB2-BD59-A6C34878D82A}">
                    <a16:rowId xmlns:a16="http://schemas.microsoft.com/office/drawing/2014/main" val="1835202463"/>
                  </a:ext>
                </a:extLst>
              </a:tr>
              <a:tr h="471869">
                <a:tc>
                  <a:txBody>
                    <a:bodyPr/>
                    <a:lstStyle/>
                    <a:p>
                      <a:r>
                        <a:rPr lang="en-IN" dirty="0"/>
                        <a:t>5</a:t>
                      </a:r>
                    </a:p>
                  </a:txBody>
                  <a:tcPr/>
                </a:tc>
                <a:tc>
                  <a:txBody>
                    <a:bodyPr/>
                    <a:lstStyle/>
                    <a:p>
                      <a:pPr>
                        <a:buNone/>
                      </a:pPr>
                      <a:r>
                        <a:rPr lang="en-US" dirty="0"/>
                        <a:t>The chair should provide thermal comfort through cooling fan and heating system</a:t>
                      </a:r>
                      <a:endParaRPr lang="en-IN" dirty="0"/>
                    </a:p>
                  </a:txBody>
                  <a:tcPr anchor="ctr"/>
                </a:tc>
                <a:tc>
                  <a:txBody>
                    <a:bodyPr/>
                    <a:lstStyle/>
                    <a:p>
                      <a:r>
                        <a:rPr lang="en-IN" dirty="0"/>
                        <a:t>7</a:t>
                      </a:r>
                    </a:p>
                  </a:txBody>
                  <a:tcPr/>
                </a:tc>
                <a:extLst>
                  <a:ext uri="{0D108BD9-81ED-4DB2-BD59-A6C34878D82A}">
                    <a16:rowId xmlns:a16="http://schemas.microsoft.com/office/drawing/2014/main" val="1715617749"/>
                  </a:ext>
                </a:extLst>
              </a:tr>
              <a:tr h="471869">
                <a:tc>
                  <a:txBody>
                    <a:bodyPr/>
                    <a:lstStyle/>
                    <a:p>
                      <a:r>
                        <a:rPr lang="en-IN" dirty="0"/>
                        <a:t>6</a:t>
                      </a:r>
                    </a:p>
                  </a:txBody>
                  <a:tcPr/>
                </a:tc>
                <a:tc>
                  <a:txBody>
                    <a:bodyPr/>
                    <a:lstStyle/>
                    <a:p>
                      <a:r>
                        <a:rPr lang="en-US" dirty="0"/>
                        <a:t>The chair should have ergonomic cushioning and comfortable body support for long duration sitting</a:t>
                      </a:r>
                      <a:endParaRPr lang="en-IN" dirty="0"/>
                    </a:p>
                  </a:txBody>
                  <a:tcPr/>
                </a:tc>
                <a:tc>
                  <a:txBody>
                    <a:bodyPr/>
                    <a:lstStyle/>
                    <a:p>
                      <a:r>
                        <a:rPr lang="en-IN" dirty="0"/>
                        <a:t>9</a:t>
                      </a:r>
                    </a:p>
                  </a:txBody>
                  <a:tcPr/>
                </a:tc>
                <a:extLst>
                  <a:ext uri="{0D108BD9-81ED-4DB2-BD59-A6C34878D82A}">
                    <a16:rowId xmlns:a16="http://schemas.microsoft.com/office/drawing/2014/main" val="538073489"/>
                  </a:ext>
                </a:extLst>
              </a:tr>
            </a:tbl>
          </a:graphicData>
        </a:graphic>
      </p:graphicFrame>
    </p:spTree>
    <p:extLst>
      <p:ext uri="{BB962C8B-B14F-4D97-AF65-F5344CB8AC3E}">
        <p14:creationId xmlns:p14="http://schemas.microsoft.com/office/powerpoint/2010/main" val="39594709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0F03E-44D1-6100-842C-D2FDB0BB1507}"/>
              </a:ext>
            </a:extLst>
          </p:cNvPr>
          <p:cNvSpPr>
            <a:spLocks noGrp="1"/>
          </p:cNvSpPr>
          <p:nvPr>
            <p:ph type="title"/>
          </p:nvPr>
        </p:nvSpPr>
        <p:spPr/>
        <p:txBody>
          <a:bodyPr/>
          <a:lstStyle/>
          <a:p>
            <a:r>
              <a:rPr lang="en-IN" dirty="0"/>
              <a:t>Continued…</a:t>
            </a:r>
          </a:p>
        </p:txBody>
      </p:sp>
      <p:graphicFrame>
        <p:nvGraphicFramePr>
          <p:cNvPr id="4" name="Content Placeholder 3">
            <a:extLst>
              <a:ext uri="{FF2B5EF4-FFF2-40B4-BE49-F238E27FC236}">
                <a16:creationId xmlns:a16="http://schemas.microsoft.com/office/drawing/2014/main" id="{99AD4144-5D9D-2693-1470-43DDF4B47575}"/>
              </a:ext>
            </a:extLst>
          </p:cNvPr>
          <p:cNvGraphicFramePr>
            <a:graphicFrameLocks noGrp="1"/>
          </p:cNvGraphicFramePr>
          <p:nvPr>
            <p:ph idx="1"/>
            <p:extLst>
              <p:ext uri="{D42A27DB-BD31-4B8C-83A1-F6EECF244321}">
                <p14:modId xmlns:p14="http://schemas.microsoft.com/office/powerpoint/2010/main" val="3614163263"/>
              </p:ext>
            </p:extLst>
          </p:nvPr>
        </p:nvGraphicFramePr>
        <p:xfrm>
          <a:off x="838200" y="1825625"/>
          <a:ext cx="10515597" cy="3302000"/>
        </p:xfrm>
        <a:graphic>
          <a:graphicData uri="http://schemas.openxmlformats.org/drawingml/2006/table">
            <a:tbl>
              <a:tblPr firstRow="1" bandRow="1">
                <a:tableStyleId>{5C22544A-7EE6-4342-B048-85BDC9FD1C3A}</a:tableStyleId>
              </a:tblPr>
              <a:tblGrid>
                <a:gridCol w="1132002">
                  <a:extLst>
                    <a:ext uri="{9D8B030D-6E8A-4147-A177-3AD203B41FA5}">
                      <a16:colId xmlns:a16="http://schemas.microsoft.com/office/drawing/2014/main" val="1758868921"/>
                    </a:ext>
                  </a:extLst>
                </a:gridCol>
                <a:gridCol w="5878396">
                  <a:extLst>
                    <a:ext uri="{9D8B030D-6E8A-4147-A177-3AD203B41FA5}">
                      <a16:colId xmlns:a16="http://schemas.microsoft.com/office/drawing/2014/main" val="748193497"/>
                    </a:ext>
                  </a:extLst>
                </a:gridCol>
                <a:gridCol w="3505199">
                  <a:extLst>
                    <a:ext uri="{9D8B030D-6E8A-4147-A177-3AD203B41FA5}">
                      <a16:colId xmlns:a16="http://schemas.microsoft.com/office/drawing/2014/main" val="835034149"/>
                    </a:ext>
                  </a:extLst>
                </a:gridCol>
              </a:tblGrid>
              <a:tr h="370840">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4259661671"/>
                  </a:ext>
                </a:extLst>
              </a:tr>
              <a:tr h="370840">
                <a:tc>
                  <a:txBody>
                    <a:bodyPr/>
                    <a:lstStyle/>
                    <a:p>
                      <a:r>
                        <a:rPr lang="en-IN" dirty="0"/>
                        <a:t>7</a:t>
                      </a:r>
                    </a:p>
                  </a:txBody>
                  <a:tcPr/>
                </a:tc>
                <a:tc>
                  <a:txBody>
                    <a:bodyPr/>
                    <a:lstStyle/>
                    <a:p>
                      <a:r>
                        <a:rPr lang="en-US" dirty="0"/>
                        <a:t>The system should be energy efficient and safe for continuous operation</a:t>
                      </a:r>
                      <a:endParaRPr lang="en-IN" dirty="0"/>
                    </a:p>
                  </a:txBody>
                  <a:tcPr/>
                </a:tc>
                <a:tc>
                  <a:txBody>
                    <a:bodyPr/>
                    <a:lstStyle/>
                    <a:p>
                      <a:r>
                        <a:rPr lang="en-IN" dirty="0"/>
                        <a:t>8</a:t>
                      </a:r>
                    </a:p>
                  </a:txBody>
                  <a:tcPr/>
                </a:tc>
                <a:extLst>
                  <a:ext uri="{0D108BD9-81ED-4DB2-BD59-A6C34878D82A}">
                    <a16:rowId xmlns:a16="http://schemas.microsoft.com/office/drawing/2014/main" val="1331499646"/>
                  </a:ext>
                </a:extLst>
              </a:tr>
              <a:tr h="370840">
                <a:tc>
                  <a:txBody>
                    <a:bodyPr/>
                    <a:lstStyle/>
                    <a:p>
                      <a:r>
                        <a:rPr lang="en-IN" dirty="0"/>
                        <a:t>8</a:t>
                      </a:r>
                    </a:p>
                  </a:txBody>
                  <a:tcPr/>
                </a:tc>
                <a:tc>
                  <a:txBody>
                    <a:bodyPr/>
                    <a:lstStyle/>
                    <a:p>
                      <a:r>
                        <a:rPr lang="en-US" dirty="0"/>
                        <a:t>The system should be easy to use and user-friendly for students and office workers</a:t>
                      </a:r>
                      <a:endParaRPr lang="en-IN" dirty="0"/>
                    </a:p>
                  </a:txBody>
                  <a:tcPr/>
                </a:tc>
                <a:tc>
                  <a:txBody>
                    <a:bodyPr/>
                    <a:lstStyle/>
                    <a:p>
                      <a:r>
                        <a:rPr lang="en-IN" dirty="0"/>
                        <a:t>9</a:t>
                      </a:r>
                    </a:p>
                  </a:txBody>
                  <a:tcPr/>
                </a:tc>
                <a:extLst>
                  <a:ext uri="{0D108BD9-81ED-4DB2-BD59-A6C34878D82A}">
                    <a16:rowId xmlns:a16="http://schemas.microsoft.com/office/drawing/2014/main" val="3459887317"/>
                  </a:ext>
                </a:extLst>
              </a:tr>
              <a:tr h="370840">
                <a:tc>
                  <a:txBody>
                    <a:bodyPr/>
                    <a:lstStyle/>
                    <a:p>
                      <a:r>
                        <a:rPr lang="en-IN" dirty="0"/>
                        <a:t>9</a:t>
                      </a:r>
                    </a:p>
                  </a:txBody>
                  <a:tcPr/>
                </a:tc>
                <a:tc>
                  <a:txBody>
                    <a:bodyPr/>
                    <a:lstStyle/>
                    <a:p>
                      <a:r>
                        <a:rPr lang="en-US" dirty="0"/>
                        <a:t>The design should be low cost and affordable for common users</a:t>
                      </a:r>
                      <a:endParaRPr lang="en-IN" dirty="0"/>
                    </a:p>
                  </a:txBody>
                  <a:tcPr/>
                </a:tc>
                <a:tc>
                  <a:txBody>
                    <a:bodyPr/>
                    <a:lstStyle/>
                    <a:p>
                      <a:r>
                        <a:rPr lang="en-IN" dirty="0"/>
                        <a:t>7</a:t>
                      </a:r>
                    </a:p>
                  </a:txBody>
                  <a:tcPr/>
                </a:tc>
                <a:extLst>
                  <a:ext uri="{0D108BD9-81ED-4DB2-BD59-A6C34878D82A}">
                    <a16:rowId xmlns:a16="http://schemas.microsoft.com/office/drawing/2014/main" val="2782797975"/>
                  </a:ext>
                </a:extLst>
              </a:tr>
              <a:tr h="370840">
                <a:tc>
                  <a:txBody>
                    <a:bodyPr/>
                    <a:lstStyle/>
                    <a:p>
                      <a:r>
                        <a:rPr lang="en-IN" dirty="0"/>
                        <a:t>10</a:t>
                      </a:r>
                    </a:p>
                  </a:txBody>
                  <a:tcPr/>
                </a:tc>
                <a:tc>
                  <a:txBody>
                    <a:bodyPr/>
                    <a:lstStyle/>
                    <a:p>
                      <a:r>
                        <a:rPr lang="en-US" dirty="0"/>
                        <a:t>The chair should be compact and suitable for home, office and classroom environments</a:t>
                      </a:r>
                      <a:endParaRPr lang="en-IN" dirty="0"/>
                    </a:p>
                  </a:txBody>
                  <a:tcPr/>
                </a:tc>
                <a:tc>
                  <a:txBody>
                    <a:bodyPr/>
                    <a:lstStyle/>
                    <a:p>
                      <a:r>
                        <a:rPr lang="en-IN" dirty="0"/>
                        <a:t>8</a:t>
                      </a:r>
                    </a:p>
                  </a:txBody>
                  <a:tcPr/>
                </a:tc>
                <a:extLst>
                  <a:ext uri="{0D108BD9-81ED-4DB2-BD59-A6C34878D82A}">
                    <a16:rowId xmlns:a16="http://schemas.microsoft.com/office/drawing/2014/main" val="848017799"/>
                  </a:ext>
                </a:extLst>
              </a:tr>
              <a:tr h="370840">
                <a:tc>
                  <a:txBody>
                    <a:bodyPr/>
                    <a:lstStyle/>
                    <a:p>
                      <a:endParaRPr lang="en-IN"/>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20544868"/>
                  </a:ext>
                </a:extLst>
              </a:tr>
            </a:tbl>
          </a:graphicData>
        </a:graphic>
      </p:graphicFrame>
    </p:spTree>
    <p:extLst>
      <p:ext uri="{BB962C8B-B14F-4D97-AF65-F5344CB8AC3E}">
        <p14:creationId xmlns:p14="http://schemas.microsoft.com/office/powerpoint/2010/main" val="26319075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B6AE7D1-AD64-E306-6B0D-448996C57E19}"/>
              </a:ext>
            </a:extLst>
          </p:cNvPr>
          <p:cNvSpPr txBox="1"/>
          <p:nvPr/>
        </p:nvSpPr>
        <p:spPr>
          <a:xfrm>
            <a:off x="231494" y="324091"/>
            <a:ext cx="1967696" cy="369332"/>
          </a:xfrm>
          <a:prstGeom prst="rect">
            <a:avLst/>
          </a:prstGeom>
          <a:noFill/>
        </p:spPr>
        <p:txBody>
          <a:bodyPr wrap="square" rtlCol="0">
            <a:spAutoFit/>
          </a:bodyPr>
          <a:lstStyle/>
          <a:p>
            <a:r>
              <a:rPr lang="en-IN" dirty="0"/>
              <a:t>Age group</a:t>
            </a:r>
          </a:p>
        </p:txBody>
      </p:sp>
      <p:pic>
        <p:nvPicPr>
          <p:cNvPr id="8" name="Picture 7">
            <a:extLst>
              <a:ext uri="{FF2B5EF4-FFF2-40B4-BE49-F238E27FC236}">
                <a16:creationId xmlns:a16="http://schemas.microsoft.com/office/drawing/2014/main" id="{5BA20AE1-5F15-779F-C1A6-C997055B162F}"/>
              </a:ext>
            </a:extLst>
          </p:cNvPr>
          <p:cNvPicPr>
            <a:picLocks noChangeAspect="1"/>
          </p:cNvPicPr>
          <p:nvPr/>
        </p:nvPicPr>
        <p:blipFill>
          <a:blip r:embed="rId2"/>
          <a:stretch>
            <a:fillRect/>
          </a:stretch>
        </p:blipFill>
        <p:spPr>
          <a:xfrm>
            <a:off x="2310125" y="1220401"/>
            <a:ext cx="5858693" cy="2657846"/>
          </a:xfrm>
          <a:prstGeom prst="rect">
            <a:avLst/>
          </a:prstGeom>
        </p:spPr>
      </p:pic>
      <p:sp>
        <p:nvSpPr>
          <p:cNvPr id="9" name="TextBox 8">
            <a:extLst>
              <a:ext uri="{FF2B5EF4-FFF2-40B4-BE49-F238E27FC236}">
                <a16:creationId xmlns:a16="http://schemas.microsoft.com/office/drawing/2014/main" id="{A182EFE0-A600-65D2-E4D1-FCC5B879F4AD}"/>
              </a:ext>
            </a:extLst>
          </p:cNvPr>
          <p:cNvSpPr txBox="1"/>
          <p:nvPr/>
        </p:nvSpPr>
        <p:spPr>
          <a:xfrm>
            <a:off x="231495" y="4097438"/>
            <a:ext cx="1539432" cy="369332"/>
          </a:xfrm>
          <a:prstGeom prst="rect">
            <a:avLst/>
          </a:prstGeom>
          <a:noFill/>
        </p:spPr>
        <p:txBody>
          <a:bodyPr wrap="square" rtlCol="0">
            <a:spAutoFit/>
          </a:bodyPr>
          <a:lstStyle/>
          <a:p>
            <a:r>
              <a:rPr lang="en-IN" dirty="0"/>
              <a:t>Occupation</a:t>
            </a:r>
          </a:p>
        </p:txBody>
      </p:sp>
      <p:pic>
        <p:nvPicPr>
          <p:cNvPr id="11" name="Picture 10">
            <a:extLst>
              <a:ext uri="{FF2B5EF4-FFF2-40B4-BE49-F238E27FC236}">
                <a16:creationId xmlns:a16="http://schemas.microsoft.com/office/drawing/2014/main" id="{92903202-31C4-BA30-9EEE-2674728CEC93}"/>
              </a:ext>
            </a:extLst>
          </p:cNvPr>
          <p:cNvPicPr>
            <a:picLocks noChangeAspect="1"/>
          </p:cNvPicPr>
          <p:nvPr/>
        </p:nvPicPr>
        <p:blipFill>
          <a:blip r:embed="rId3"/>
          <a:stretch>
            <a:fillRect/>
          </a:stretch>
        </p:blipFill>
        <p:spPr>
          <a:xfrm>
            <a:off x="2899916" y="3878247"/>
            <a:ext cx="6392167" cy="2743583"/>
          </a:xfrm>
          <a:prstGeom prst="rect">
            <a:avLst/>
          </a:prstGeom>
        </p:spPr>
      </p:pic>
    </p:spTree>
    <p:extLst>
      <p:ext uri="{BB962C8B-B14F-4D97-AF65-F5344CB8AC3E}">
        <p14:creationId xmlns:p14="http://schemas.microsoft.com/office/powerpoint/2010/main" val="37198624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52A2AE4-6769-548C-551E-342345C89BC2}"/>
              </a:ext>
            </a:extLst>
          </p:cNvPr>
          <p:cNvSpPr txBox="1"/>
          <p:nvPr/>
        </p:nvSpPr>
        <p:spPr>
          <a:xfrm>
            <a:off x="266218" y="324091"/>
            <a:ext cx="6366076" cy="369332"/>
          </a:xfrm>
          <a:prstGeom prst="rect">
            <a:avLst/>
          </a:prstGeom>
          <a:noFill/>
        </p:spPr>
        <p:txBody>
          <a:bodyPr wrap="square" rtlCol="0">
            <a:spAutoFit/>
          </a:bodyPr>
          <a:lstStyle/>
          <a:p>
            <a:r>
              <a:rPr lang="en-US" dirty="0"/>
              <a:t>How many Hours do you sit daily?</a:t>
            </a:r>
            <a:endParaRPr lang="en-IN" dirty="0"/>
          </a:p>
        </p:txBody>
      </p:sp>
      <p:pic>
        <p:nvPicPr>
          <p:cNvPr id="10" name="Picture 9">
            <a:extLst>
              <a:ext uri="{FF2B5EF4-FFF2-40B4-BE49-F238E27FC236}">
                <a16:creationId xmlns:a16="http://schemas.microsoft.com/office/drawing/2014/main" id="{E0E70662-1B95-2024-7E04-09811BED2FB9}"/>
              </a:ext>
            </a:extLst>
          </p:cNvPr>
          <p:cNvPicPr>
            <a:picLocks noChangeAspect="1"/>
          </p:cNvPicPr>
          <p:nvPr/>
        </p:nvPicPr>
        <p:blipFill>
          <a:blip r:embed="rId2"/>
          <a:stretch>
            <a:fillRect/>
          </a:stretch>
        </p:blipFill>
        <p:spPr>
          <a:xfrm>
            <a:off x="2240110" y="693423"/>
            <a:ext cx="6230219" cy="2810267"/>
          </a:xfrm>
          <a:prstGeom prst="rect">
            <a:avLst/>
          </a:prstGeom>
        </p:spPr>
      </p:pic>
      <p:sp>
        <p:nvSpPr>
          <p:cNvPr id="11" name="TextBox 10">
            <a:extLst>
              <a:ext uri="{FF2B5EF4-FFF2-40B4-BE49-F238E27FC236}">
                <a16:creationId xmlns:a16="http://schemas.microsoft.com/office/drawing/2014/main" id="{0FE80E70-CBC4-BFD2-6B85-2698E90CAC7C}"/>
              </a:ext>
            </a:extLst>
          </p:cNvPr>
          <p:cNvSpPr txBox="1"/>
          <p:nvPr/>
        </p:nvSpPr>
        <p:spPr>
          <a:xfrm>
            <a:off x="370390" y="3981691"/>
            <a:ext cx="3946967" cy="369332"/>
          </a:xfrm>
          <a:prstGeom prst="rect">
            <a:avLst/>
          </a:prstGeom>
          <a:noFill/>
        </p:spPr>
        <p:txBody>
          <a:bodyPr wrap="square" rtlCol="0">
            <a:spAutoFit/>
          </a:bodyPr>
          <a:lstStyle/>
          <a:p>
            <a:r>
              <a:rPr lang="en-US"/>
              <a:t>How often do you sit in wrong posture?</a:t>
            </a:r>
            <a:endParaRPr lang="en-IN" dirty="0"/>
          </a:p>
        </p:txBody>
      </p:sp>
      <p:pic>
        <p:nvPicPr>
          <p:cNvPr id="13" name="Picture 12">
            <a:extLst>
              <a:ext uri="{FF2B5EF4-FFF2-40B4-BE49-F238E27FC236}">
                <a16:creationId xmlns:a16="http://schemas.microsoft.com/office/drawing/2014/main" id="{3488F6DD-1DAB-D5DE-7C84-5CF8293FBDD9}"/>
              </a:ext>
            </a:extLst>
          </p:cNvPr>
          <p:cNvPicPr>
            <a:picLocks noChangeAspect="1"/>
          </p:cNvPicPr>
          <p:nvPr/>
        </p:nvPicPr>
        <p:blipFill>
          <a:blip r:embed="rId3"/>
          <a:stretch>
            <a:fillRect/>
          </a:stretch>
        </p:blipFill>
        <p:spPr>
          <a:xfrm>
            <a:off x="2573531" y="4444678"/>
            <a:ext cx="5896798" cy="2347280"/>
          </a:xfrm>
          <a:prstGeom prst="rect">
            <a:avLst/>
          </a:prstGeom>
        </p:spPr>
      </p:pic>
    </p:spTree>
    <p:extLst>
      <p:ext uri="{BB962C8B-B14F-4D97-AF65-F5344CB8AC3E}">
        <p14:creationId xmlns:p14="http://schemas.microsoft.com/office/powerpoint/2010/main" val="1921764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CD3CB9F-5D98-76B2-F308-451FCEECD7E2}"/>
              </a:ext>
            </a:extLst>
          </p:cNvPr>
          <p:cNvSpPr txBox="1"/>
          <p:nvPr/>
        </p:nvSpPr>
        <p:spPr>
          <a:xfrm>
            <a:off x="370390" y="509286"/>
            <a:ext cx="5428526" cy="369332"/>
          </a:xfrm>
          <a:prstGeom prst="rect">
            <a:avLst/>
          </a:prstGeom>
          <a:noFill/>
        </p:spPr>
        <p:txBody>
          <a:bodyPr wrap="square" rtlCol="0">
            <a:spAutoFit/>
          </a:bodyPr>
          <a:lstStyle/>
          <a:p>
            <a:r>
              <a:rPr lang="en-US" dirty="0"/>
              <a:t>Do you sit continuously for long periods without breaks?</a:t>
            </a:r>
            <a:endParaRPr lang="en-IN" dirty="0"/>
          </a:p>
        </p:txBody>
      </p:sp>
      <p:pic>
        <p:nvPicPr>
          <p:cNvPr id="6" name="Picture 5">
            <a:extLst>
              <a:ext uri="{FF2B5EF4-FFF2-40B4-BE49-F238E27FC236}">
                <a16:creationId xmlns:a16="http://schemas.microsoft.com/office/drawing/2014/main" id="{2F23B439-D823-E502-DBD0-79891CE83D27}"/>
              </a:ext>
            </a:extLst>
          </p:cNvPr>
          <p:cNvPicPr>
            <a:picLocks noChangeAspect="1"/>
          </p:cNvPicPr>
          <p:nvPr/>
        </p:nvPicPr>
        <p:blipFill>
          <a:blip r:embed="rId2"/>
          <a:stretch>
            <a:fillRect/>
          </a:stretch>
        </p:blipFill>
        <p:spPr>
          <a:xfrm>
            <a:off x="2080828" y="878618"/>
            <a:ext cx="6363588" cy="2781688"/>
          </a:xfrm>
          <a:prstGeom prst="rect">
            <a:avLst/>
          </a:prstGeom>
        </p:spPr>
      </p:pic>
      <p:sp>
        <p:nvSpPr>
          <p:cNvPr id="7" name="TextBox 6">
            <a:extLst>
              <a:ext uri="{FF2B5EF4-FFF2-40B4-BE49-F238E27FC236}">
                <a16:creationId xmlns:a16="http://schemas.microsoft.com/office/drawing/2014/main" id="{0AD5E587-65AB-3155-BDF3-CAD4A5B00B77}"/>
              </a:ext>
            </a:extLst>
          </p:cNvPr>
          <p:cNvSpPr txBox="1"/>
          <p:nvPr/>
        </p:nvSpPr>
        <p:spPr>
          <a:xfrm>
            <a:off x="451413" y="3728106"/>
            <a:ext cx="6481822" cy="369332"/>
          </a:xfrm>
          <a:prstGeom prst="rect">
            <a:avLst/>
          </a:prstGeom>
          <a:noFill/>
        </p:spPr>
        <p:txBody>
          <a:bodyPr wrap="square" rtlCol="0">
            <a:spAutoFit/>
          </a:bodyPr>
          <a:lstStyle/>
          <a:p>
            <a:r>
              <a:rPr lang="en-US" dirty="0"/>
              <a:t> How often do you forget to drink water while working/studying?  </a:t>
            </a:r>
            <a:endParaRPr lang="en-IN" dirty="0"/>
          </a:p>
        </p:txBody>
      </p:sp>
      <p:pic>
        <p:nvPicPr>
          <p:cNvPr id="9" name="Picture 8">
            <a:extLst>
              <a:ext uri="{FF2B5EF4-FFF2-40B4-BE49-F238E27FC236}">
                <a16:creationId xmlns:a16="http://schemas.microsoft.com/office/drawing/2014/main" id="{A3192A29-25F8-D524-43D2-A4A92DCF941A}"/>
              </a:ext>
            </a:extLst>
          </p:cNvPr>
          <p:cNvPicPr>
            <a:picLocks noChangeAspect="1"/>
          </p:cNvPicPr>
          <p:nvPr/>
        </p:nvPicPr>
        <p:blipFill>
          <a:blip r:embed="rId3"/>
          <a:stretch>
            <a:fillRect/>
          </a:stretch>
        </p:blipFill>
        <p:spPr>
          <a:xfrm>
            <a:off x="2046103" y="4029638"/>
            <a:ext cx="6077798" cy="2619741"/>
          </a:xfrm>
          <a:prstGeom prst="rect">
            <a:avLst/>
          </a:prstGeom>
        </p:spPr>
      </p:pic>
    </p:spTree>
    <p:extLst>
      <p:ext uri="{BB962C8B-B14F-4D97-AF65-F5344CB8AC3E}">
        <p14:creationId xmlns:p14="http://schemas.microsoft.com/office/powerpoint/2010/main" val="4064576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94BBB8A-5C1D-C2F8-1C62-C6AE498951E9}"/>
              </a:ext>
            </a:extLst>
          </p:cNvPr>
          <p:cNvSpPr txBox="1"/>
          <p:nvPr/>
        </p:nvSpPr>
        <p:spPr>
          <a:xfrm>
            <a:off x="289367" y="254643"/>
            <a:ext cx="5903089" cy="369332"/>
          </a:xfrm>
          <a:prstGeom prst="rect">
            <a:avLst/>
          </a:prstGeom>
          <a:noFill/>
        </p:spPr>
        <p:txBody>
          <a:bodyPr wrap="square" rtlCol="0">
            <a:spAutoFit/>
          </a:bodyPr>
          <a:lstStyle/>
          <a:p>
            <a:r>
              <a:rPr lang="en-US" dirty="0"/>
              <a:t>Any kind of discomfort due to temperature while sitting?</a:t>
            </a:r>
            <a:endParaRPr lang="en-IN" dirty="0"/>
          </a:p>
        </p:txBody>
      </p:sp>
      <p:pic>
        <p:nvPicPr>
          <p:cNvPr id="6" name="Picture 5">
            <a:extLst>
              <a:ext uri="{FF2B5EF4-FFF2-40B4-BE49-F238E27FC236}">
                <a16:creationId xmlns:a16="http://schemas.microsoft.com/office/drawing/2014/main" id="{B7BEB494-254C-6BAA-CDC6-89A134D7B5C1}"/>
              </a:ext>
            </a:extLst>
          </p:cNvPr>
          <p:cNvPicPr>
            <a:picLocks noChangeAspect="1"/>
          </p:cNvPicPr>
          <p:nvPr/>
        </p:nvPicPr>
        <p:blipFill>
          <a:blip r:embed="rId2"/>
          <a:stretch>
            <a:fillRect/>
          </a:stretch>
        </p:blipFill>
        <p:spPr>
          <a:xfrm>
            <a:off x="2206199" y="952154"/>
            <a:ext cx="6668431" cy="2476846"/>
          </a:xfrm>
          <a:prstGeom prst="rect">
            <a:avLst/>
          </a:prstGeom>
        </p:spPr>
      </p:pic>
      <p:sp>
        <p:nvSpPr>
          <p:cNvPr id="7" name="TextBox 6">
            <a:extLst>
              <a:ext uri="{FF2B5EF4-FFF2-40B4-BE49-F238E27FC236}">
                <a16:creationId xmlns:a16="http://schemas.microsoft.com/office/drawing/2014/main" id="{98B1ED9E-1769-89DE-FCCE-B688EBA04C75}"/>
              </a:ext>
            </a:extLst>
          </p:cNvPr>
          <p:cNvSpPr txBox="1"/>
          <p:nvPr/>
        </p:nvSpPr>
        <p:spPr>
          <a:xfrm>
            <a:off x="439837" y="3693382"/>
            <a:ext cx="8009681" cy="369332"/>
          </a:xfrm>
          <a:prstGeom prst="rect">
            <a:avLst/>
          </a:prstGeom>
          <a:noFill/>
        </p:spPr>
        <p:txBody>
          <a:bodyPr wrap="square" rtlCol="0">
            <a:spAutoFit/>
          </a:bodyPr>
          <a:lstStyle/>
          <a:p>
            <a:r>
              <a:rPr lang="en-US" dirty="0"/>
              <a:t>  Do you experience any kind of  Increased heart rate,  Feeling tired or discomfort ?</a:t>
            </a:r>
            <a:endParaRPr lang="en-IN" dirty="0"/>
          </a:p>
        </p:txBody>
      </p:sp>
      <p:pic>
        <p:nvPicPr>
          <p:cNvPr id="9" name="Picture 8">
            <a:extLst>
              <a:ext uri="{FF2B5EF4-FFF2-40B4-BE49-F238E27FC236}">
                <a16:creationId xmlns:a16="http://schemas.microsoft.com/office/drawing/2014/main" id="{9113F29F-7295-1D18-ECF6-C775F903A9FC}"/>
              </a:ext>
            </a:extLst>
          </p:cNvPr>
          <p:cNvPicPr>
            <a:picLocks noChangeAspect="1"/>
          </p:cNvPicPr>
          <p:nvPr/>
        </p:nvPicPr>
        <p:blipFill>
          <a:blip r:embed="rId3"/>
          <a:stretch>
            <a:fillRect/>
          </a:stretch>
        </p:blipFill>
        <p:spPr>
          <a:xfrm>
            <a:off x="2380535" y="4203906"/>
            <a:ext cx="6782747" cy="2524477"/>
          </a:xfrm>
          <a:prstGeom prst="rect">
            <a:avLst/>
          </a:prstGeom>
        </p:spPr>
      </p:pic>
    </p:spTree>
    <p:extLst>
      <p:ext uri="{BB962C8B-B14F-4D97-AF65-F5344CB8AC3E}">
        <p14:creationId xmlns:p14="http://schemas.microsoft.com/office/powerpoint/2010/main" val="3666081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B2ECF13-FBC4-2605-E356-0320FEFFF924}"/>
              </a:ext>
            </a:extLst>
          </p:cNvPr>
          <p:cNvSpPr txBox="1"/>
          <p:nvPr/>
        </p:nvSpPr>
        <p:spPr>
          <a:xfrm>
            <a:off x="243068" y="324091"/>
            <a:ext cx="5995686" cy="369332"/>
          </a:xfrm>
          <a:prstGeom prst="rect">
            <a:avLst/>
          </a:prstGeom>
          <a:noFill/>
        </p:spPr>
        <p:txBody>
          <a:bodyPr wrap="square" rtlCol="0">
            <a:spAutoFit/>
          </a:bodyPr>
          <a:lstStyle/>
          <a:p>
            <a:r>
              <a:rPr lang="en-US" dirty="0"/>
              <a:t>Would you be interested in buying a Smart Health Chair?  </a:t>
            </a:r>
            <a:endParaRPr lang="en-IN" dirty="0"/>
          </a:p>
        </p:txBody>
      </p:sp>
      <p:pic>
        <p:nvPicPr>
          <p:cNvPr id="6" name="Picture 5">
            <a:extLst>
              <a:ext uri="{FF2B5EF4-FFF2-40B4-BE49-F238E27FC236}">
                <a16:creationId xmlns:a16="http://schemas.microsoft.com/office/drawing/2014/main" id="{FD42D67C-6398-675A-2A91-967F1A841F41}"/>
              </a:ext>
            </a:extLst>
          </p:cNvPr>
          <p:cNvPicPr>
            <a:picLocks noChangeAspect="1"/>
          </p:cNvPicPr>
          <p:nvPr/>
        </p:nvPicPr>
        <p:blipFill>
          <a:blip r:embed="rId3"/>
          <a:stretch>
            <a:fillRect/>
          </a:stretch>
        </p:blipFill>
        <p:spPr>
          <a:xfrm>
            <a:off x="2693473" y="868397"/>
            <a:ext cx="5925377" cy="2667372"/>
          </a:xfrm>
          <a:prstGeom prst="rect">
            <a:avLst/>
          </a:prstGeom>
        </p:spPr>
      </p:pic>
      <p:sp>
        <p:nvSpPr>
          <p:cNvPr id="7" name="TextBox 6">
            <a:extLst>
              <a:ext uri="{FF2B5EF4-FFF2-40B4-BE49-F238E27FC236}">
                <a16:creationId xmlns:a16="http://schemas.microsoft.com/office/drawing/2014/main" id="{188BA17C-C54C-ED57-3FB0-02AAF060C102}"/>
              </a:ext>
            </a:extLst>
          </p:cNvPr>
          <p:cNvSpPr txBox="1"/>
          <p:nvPr/>
        </p:nvSpPr>
        <p:spPr>
          <a:xfrm>
            <a:off x="439838" y="3535769"/>
            <a:ext cx="6551271" cy="369332"/>
          </a:xfrm>
          <a:prstGeom prst="rect">
            <a:avLst/>
          </a:prstGeom>
          <a:noFill/>
        </p:spPr>
        <p:txBody>
          <a:bodyPr wrap="square" rtlCol="0">
            <a:spAutoFit/>
          </a:bodyPr>
          <a:lstStyle/>
          <a:p>
            <a:r>
              <a:rPr lang="en-US" dirty="0"/>
              <a:t>Which feature would influence your decision the most?  </a:t>
            </a:r>
            <a:endParaRPr lang="en-IN" dirty="0"/>
          </a:p>
        </p:txBody>
      </p:sp>
      <p:pic>
        <p:nvPicPr>
          <p:cNvPr id="9" name="Picture 8">
            <a:extLst>
              <a:ext uri="{FF2B5EF4-FFF2-40B4-BE49-F238E27FC236}">
                <a16:creationId xmlns:a16="http://schemas.microsoft.com/office/drawing/2014/main" id="{E458234B-8E8E-16B0-9620-976D26576E4D}"/>
              </a:ext>
            </a:extLst>
          </p:cNvPr>
          <p:cNvPicPr>
            <a:picLocks noChangeAspect="1"/>
          </p:cNvPicPr>
          <p:nvPr/>
        </p:nvPicPr>
        <p:blipFill>
          <a:blip r:embed="rId4"/>
          <a:stretch>
            <a:fillRect/>
          </a:stretch>
        </p:blipFill>
        <p:spPr>
          <a:xfrm>
            <a:off x="3024004" y="3860969"/>
            <a:ext cx="6954220" cy="2886478"/>
          </a:xfrm>
          <a:prstGeom prst="rect">
            <a:avLst/>
          </a:prstGeom>
        </p:spPr>
      </p:pic>
    </p:spTree>
    <p:extLst>
      <p:ext uri="{BB962C8B-B14F-4D97-AF65-F5344CB8AC3E}">
        <p14:creationId xmlns:p14="http://schemas.microsoft.com/office/powerpoint/2010/main" val="13222292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8C7D61A-A5E6-6059-D6C5-7BBDDFC36723}"/>
              </a:ext>
            </a:extLst>
          </p:cNvPr>
          <p:cNvSpPr txBox="1"/>
          <p:nvPr/>
        </p:nvSpPr>
        <p:spPr>
          <a:xfrm>
            <a:off x="289367" y="289367"/>
            <a:ext cx="6296628" cy="369332"/>
          </a:xfrm>
          <a:prstGeom prst="rect">
            <a:avLst/>
          </a:prstGeom>
          <a:noFill/>
        </p:spPr>
        <p:txBody>
          <a:bodyPr wrap="square" rtlCol="0">
            <a:spAutoFit/>
          </a:bodyPr>
          <a:lstStyle/>
          <a:p>
            <a:r>
              <a:rPr lang="en-US"/>
              <a:t>How much you are willing to pay?</a:t>
            </a:r>
            <a:endParaRPr lang="en-IN" dirty="0"/>
          </a:p>
        </p:txBody>
      </p:sp>
      <p:pic>
        <p:nvPicPr>
          <p:cNvPr id="7" name="Picture 6">
            <a:extLst>
              <a:ext uri="{FF2B5EF4-FFF2-40B4-BE49-F238E27FC236}">
                <a16:creationId xmlns:a16="http://schemas.microsoft.com/office/drawing/2014/main" id="{DA69AF8C-6BD3-22EA-FF6A-48D0ADE6450D}"/>
              </a:ext>
            </a:extLst>
          </p:cNvPr>
          <p:cNvPicPr>
            <a:picLocks noChangeAspect="1"/>
          </p:cNvPicPr>
          <p:nvPr/>
        </p:nvPicPr>
        <p:blipFill>
          <a:blip r:embed="rId2"/>
          <a:stretch>
            <a:fillRect/>
          </a:stretch>
        </p:blipFill>
        <p:spPr>
          <a:xfrm>
            <a:off x="1106752" y="1111808"/>
            <a:ext cx="7154273" cy="2524477"/>
          </a:xfrm>
          <a:prstGeom prst="rect">
            <a:avLst/>
          </a:prstGeom>
        </p:spPr>
      </p:pic>
      <p:sp>
        <p:nvSpPr>
          <p:cNvPr id="14" name="TextBox 13">
            <a:extLst>
              <a:ext uri="{FF2B5EF4-FFF2-40B4-BE49-F238E27FC236}">
                <a16:creationId xmlns:a16="http://schemas.microsoft.com/office/drawing/2014/main" id="{379B6FFD-0B07-289B-5B3F-6DDB384B06B9}"/>
              </a:ext>
            </a:extLst>
          </p:cNvPr>
          <p:cNvSpPr txBox="1"/>
          <p:nvPr/>
        </p:nvSpPr>
        <p:spPr>
          <a:xfrm>
            <a:off x="289367" y="3935392"/>
            <a:ext cx="11516810" cy="2922608"/>
          </a:xfrm>
          <a:prstGeom prst="rect">
            <a:avLst/>
          </a:prstGeom>
          <a:noFill/>
        </p:spPr>
        <p:txBody>
          <a:bodyPr wrap="square" rtlCol="0">
            <a:spAutoFit/>
          </a:bodyPr>
          <a:lstStyle/>
          <a:p>
            <a:endParaRPr lang="en-IN" dirty="0"/>
          </a:p>
        </p:txBody>
      </p:sp>
    </p:spTree>
    <p:extLst>
      <p:ext uri="{BB962C8B-B14F-4D97-AF65-F5344CB8AC3E}">
        <p14:creationId xmlns:p14="http://schemas.microsoft.com/office/powerpoint/2010/main" val="27643018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5AB0E-B567-30CF-F99C-1CF5E0B7942A}"/>
              </a:ext>
            </a:extLst>
          </p:cNvPr>
          <p:cNvSpPr>
            <a:spLocks noGrp="1"/>
          </p:cNvSpPr>
          <p:nvPr>
            <p:ph type="title"/>
          </p:nvPr>
        </p:nvSpPr>
        <p:spPr/>
        <p:txBody>
          <a:bodyPr/>
          <a:lstStyle/>
          <a:p>
            <a:r>
              <a:rPr lang="en-IN" dirty="0"/>
              <a:t>QUALITY FUNCTION DEPLOYMENT</a:t>
            </a:r>
          </a:p>
        </p:txBody>
      </p:sp>
      <p:pic>
        <p:nvPicPr>
          <p:cNvPr id="5" name="Content Placeholder 4">
            <a:extLst>
              <a:ext uri="{FF2B5EF4-FFF2-40B4-BE49-F238E27FC236}">
                <a16:creationId xmlns:a16="http://schemas.microsoft.com/office/drawing/2014/main" id="{0FDD7E09-E755-7624-8ABE-17B531836C82}"/>
              </a:ext>
            </a:extLst>
          </p:cNvPr>
          <p:cNvPicPr>
            <a:picLocks noGrp="1" noChangeAspect="1"/>
          </p:cNvPicPr>
          <p:nvPr>
            <p:ph idx="1"/>
          </p:nvPr>
        </p:nvPicPr>
        <p:blipFill>
          <a:blip r:embed="rId2"/>
          <a:stretch>
            <a:fillRect/>
          </a:stretch>
        </p:blipFill>
        <p:spPr>
          <a:xfrm>
            <a:off x="1027522" y="1583703"/>
            <a:ext cx="9794450" cy="5128182"/>
          </a:xfrm>
          <a:prstGeom prst="rect">
            <a:avLst/>
          </a:prstGeom>
        </p:spPr>
      </p:pic>
    </p:spTree>
    <p:extLst>
      <p:ext uri="{BB962C8B-B14F-4D97-AF65-F5344CB8AC3E}">
        <p14:creationId xmlns:p14="http://schemas.microsoft.com/office/powerpoint/2010/main" val="37814115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09C8B-72CD-D7C3-9527-C14027D99E1A}"/>
              </a:ext>
            </a:extLst>
          </p:cNvPr>
          <p:cNvSpPr>
            <a:spLocks noGrp="1"/>
          </p:cNvSpPr>
          <p:nvPr>
            <p:ph type="title"/>
          </p:nvPr>
        </p:nvSpPr>
        <p:spPr/>
        <p:txBody>
          <a:bodyPr/>
          <a:lstStyle/>
          <a:p>
            <a:r>
              <a:rPr lang="en-IN" dirty="0"/>
              <a:t>CONCEPT GENERATION</a:t>
            </a:r>
          </a:p>
        </p:txBody>
      </p:sp>
      <p:pic>
        <p:nvPicPr>
          <p:cNvPr id="8" name="Content Placeholder 7">
            <a:extLst>
              <a:ext uri="{FF2B5EF4-FFF2-40B4-BE49-F238E27FC236}">
                <a16:creationId xmlns:a16="http://schemas.microsoft.com/office/drawing/2014/main" id="{5BBF9888-257C-E10F-5433-9282F8A24424}"/>
              </a:ext>
            </a:extLst>
          </p:cNvPr>
          <p:cNvPicPr>
            <a:picLocks noGrp="1" noChangeAspect="1"/>
          </p:cNvPicPr>
          <p:nvPr>
            <p:ph idx="1"/>
          </p:nvPr>
        </p:nvPicPr>
        <p:blipFill>
          <a:blip r:embed="rId2"/>
          <a:stretch>
            <a:fillRect/>
          </a:stretch>
        </p:blipFill>
        <p:spPr>
          <a:xfrm>
            <a:off x="471341" y="1825625"/>
            <a:ext cx="10746556" cy="4667250"/>
          </a:xfrm>
          <a:prstGeom prst="rect">
            <a:avLst/>
          </a:prstGeom>
        </p:spPr>
      </p:pic>
    </p:spTree>
    <p:extLst>
      <p:ext uri="{BB962C8B-B14F-4D97-AF65-F5344CB8AC3E}">
        <p14:creationId xmlns:p14="http://schemas.microsoft.com/office/powerpoint/2010/main" val="26254541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CFE779E6-F19C-6BF6-A56D-60D175F6DA28}"/>
              </a:ext>
            </a:extLst>
          </p:cNvPr>
          <p:cNvSpPr/>
          <p:nvPr/>
        </p:nvSpPr>
        <p:spPr>
          <a:xfrm>
            <a:off x="273376" y="183823"/>
            <a:ext cx="5637229" cy="2587657"/>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dirty="0">
                <a:solidFill>
                  <a:schemeClr val="tx1"/>
                </a:solidFill>
              </a:rPr>
              <a:t>CONCEPT-1 : BASIC SENSOR BASED SMART CHAIR</a:t>
            </a:r>
            <a:endParaRPr lang="en-IN" dirty="0">
              <a:solidFill>
                <a:schemeClr val="tx1"/>
              </a:solidFill>
            </a:endParaRPr>
          </a:p>
          <a:p>
            <a:r>
              <a:rPr lang="en-IN" b="1" dirty="0">
                <a:solidFill>
                  <a:schemeClr val="tx1"/>
                </a:solidFill>
              </a:rPr>
              <a:t> Main Features</a:t>
            </a:r>
          </a:p>
          <a:p>
            <a:r>
              <a:rPr lang="en-IN" dirty="0">
                <a:solidFill>
                  <a:schemeClr val="tx1"/>
                </a:solidFill>
              </a:rPr>
              <a:t>Flex sensor placed in backrest for posture detection </a:t>
            </a:r>
          </a:p>
          <a:p>
            <a:r>
              <a:rPr lang="en-IN" dirty="0">
                <a:solidFill>
                  <a:schemeClr val="tx1"/>
                </a:solidFill>
              </a:rPr>
              <a:t>Arduino microcontroller as control unit </a:t>
            </a:r>
          </a:p>
          <a:p>
            <a:r>
              <a:rPr lang="en-IN" dirty="0">
                <a:solidFill>
                  <a:schemeClr val="tx1"/>
                </a:solidFill>
              </a:rPr>
              <a:t>Fingertip pulse sensor for heart rate </a:t>
            </a:r>
          </a:p>
          <a:p>
            <a:r>
              <a:rPr lang="en-IN" dirty="0">
                <a:solidFill>
                  <a:schemeClr val="tx1"/>
                </a:solidFill>
              </a:rPr>
              <a:t>Small DC cooling fan mounted at back </a:t>
            </a:r>
          </a:p>
          <a:p>
            <a:r>
              <a:rPr lang="en-IN" dirty="0">
                <a:solidFill>
                  <a:schemeClr val="tx1"/>
                </a:solidFill>
              </a:rPr>
              <a:t>Buzzer alarm for sedentary and water reminder </a:t>
            </a:r>
          </a:p>
          <a:p>
            <a:r>
              <a:rPr lang="en-IN" dirty="0">
                <a:solidFill>
                  <a:schemeClr val="tx1"/>
                </a:solidFill>
              </a:rPr>
              <a:t>Rechargeable battery supply</a:t>
            </a:r>
          </a:p>
        </p:txBody>
      </p:sp>
      <p:sp>
        <p:nvSpPr>
          <p:cNvPr id="6" name="Rectangle: Rounded Corners 5">
            <a:extLst>
              <a:ext uri="{FF2B5EF4-FFF2-40B4-BE49-F238E27FC236}">
                <a16:creationId xmlns:a16="http://schemas.microsoft.com/office/drawing/2014/main" id="{0F68B37E-5C1B-3CF6-21FB-96E4A896F1F3}"/>
              </a:ext>
            </a:extLst>
          </p:cNvPr>
          <p:cNvSpPr/>
          <p:nvPr/>
        </p:nvSpPr>
        <p:spPr>
          <a:xfrm>
            <a:off x="273376" y="2865748"/>
            <a:ext cx="5822624" cy="4166648"/>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 Working Principle</a:t>
            </a:r>
          </a:p>
          <a:p>
            <a:pPr algn="ctr"/>
            <a:endParaRPr lang="en-IN" b="1" dirty="0">
              <a:solidFill>
                <a:schemeClr val="tx1"/>
              </a:solidFill>
            </a:endParaRPr>
          </a:p>
          <a:p>
            <a:r>
              <a:rPr lang="en-IN" dirty="0">
                <a:solidFill>
                  <a:schemeClr val="tx1"/>
                </a:solidFill>
              </a:rPr>
              <a:t>    When user sits</a:t>
            </a:r>
          </a:p>
          <a:p>
            <a:r>
              <a:rPr lang="en-IN" dirty="0">
                <a:solidFill>
                  <a:schemeClr val="tx1"/>
                </a:solidFill>
              </a:rPr>
              <a:t> Flex sensor measures spine bending</a:t>
            </a:r>
            <a:br>
              <a:rPr lang="en-IN" dirty="0">
                <a:solidFill>
                  <a:schemeClr val="tx1"/>
                </a:solidFill>
              </a:rPr>
            </a:br>
            <a:r>
              <a:rPr lang="en-IN" dirty="0">
                <a:solidFill>
                  <a:schemeClr val="tx1"/>
                </a:solidFill>
              </a:rPr>
              <a:t>→ Arduino reads </a:t>
            </a:r>
            <a:r>
              <a:rPr lang="en-IN" dirty="0" err="1">
                <a:solidFill>
                  <a:schemeClr val="tx1"/>
                </a:solidFill>
              </a:rPr>
              <a:t>analog</a:t>
            </a:r>
            <a:r>
              <a:rPr lang="en-IN" dirty="0">
                <a:solidFill>
                  <a:schemeClr val="tx1"/>
                </a:solidFill>
              </a:rPr>
              <a:t> signal</a:t>
            </a:r>
            <a:br>
              <a:rPr lang="en-IN" dirty="0">
                <a:solidFill>
                  <a:schemeClr val="tx1"/>
                </a:solidFill>
              </a:rPr>
            </a:br>
            <a:r>
              <a:rPr lang="en-IN" dirty="0">
                <a:solidFill>
                  <a:schemeClr val="tx1"/>
                </a:solidFill>
              </a:rPr>
              <a:t>→ If posture wrong → buzzer alarm</a:t>
            </a:r>
          </a:p>
          <a:p>
            <a:r>
              <a:rPr lang="en-IN" dirty="0">
                <a:solidFill>
                  <a:schemeClr val="tx1"/>
                </a:solidFill>
              </a:rPr>
              <a:t>Pulse sensor</a:t>
            </a:r>
          </a:p>
          <a:p>
            <a:r>
              <a:rPr lang="en-IN" dirty="0">
                <a:solidFill>
                  <a:schemeClr val="tx1"/>
                </a:solidFill>
              </a:rPr>
              <a:t>→ detects blood flow variation</a:t>
            </a:r>
            <a:br>
              <a:rPr lang="en-IN" dirty="0">
                <a:solidFill>
                  <a:schemeClr val="tx1"/>
                </a:solidFill>
              </a:rPr>
            </a:br>
            <a:r>
              <a:rPr lang="en-IN" dirty="0">
                <a:solidFill>
                  <a:schemeClr val="tx1"/>
                </a:solidFill>
              </a:rPr>
              <a:t>→ Arduino calculates BPM</a:t>
            </a:r>
            <a:br>
              <a:rPr lang="en-IN" dirty="0">
                <a:solidFill>
                  <a:schemeClr val="tx1"/>
                </a:solidFill>
              </a:rPr>
            </a:br>
            <a:r>
              <a:rPr lang="en-IN" dirty="0">
                <a:solidFill>
                  <a:schemeClr val="tx1"/>
                </a:solidFill>
              </a:rPr>
              <a:t>→ basic health monitoring</a:t>
            </a:r>
          </a:p>
          <a:p>
            <a:r>
              <a:rPr lang="en-IN" dirty="0">
                <a:solidFill>
                  <a:schemeClr val="tx1"/>
                </a:solidFill>
              </a:rPr>
              <a:t>Timer inside Arduino</a:t>
            </a:r>
          </a:p>
          <a:p>
            <a:r>
              <a:rPr lang="en-IN" dirty="0">
                <a:solidFill>
                  <a:schemeClr val="tx1"/>
                </a:solidFill>
              </a:rPr>
              <a:t>→ gives break reminder &amp; water reminder</a:t>
            </a:r>
          </a:p>
          <a:p>
            <a:r>
              <a:rPr lang="en-IN" dirty="0">
                <a:solidFill>
                  <a:schemeClr val="tx1"/>
                </a:solidFill>
              </a:rPr>
              <a:t>Fan</a:t>
            </a:r>
          </a:p>
          <a:p>
            <a:r>
              <a:rPr lang="en-IN" dirty="0">
                <a:solidFill>
                  <a:schemeClr val="tx1"/>
                </a:solidFill>
              </a:rPr>
              <a:t>→ improves air circulation</a:t>
            </a:r>
            <a:br>
              <a:rPr lang="en-IN" dirty="0">
                <a:solidFill>
                  <a:schemeClr val="tx1"/>
                </a:solidFill>
              </a:rPr>
            </a:br>
            <a:r>
              <a:rPr lang="en-IN" dirty="0">
                <a:solidFill>
                  <a:schemeClr val="tx1"/>
                </a:solidFill>
              </a:rPr>
              <a:t>→ increases comfort</a:t>
            </a:r>
          </a:p>
        </p:txBody>
      </p:sp>
      <p:pic>
        <p:nvPicPr>
          <p:cNvPr id="10" name="Picture 9">
            <a:extLst>
              <a:ext uri="{FF2B5EF4-FFF2-40B4-BE49-F238E27FC236}">
                <a16:creationId xmlns:a16="http://schemas.microsoft.com/office/drawing/2014/main" id="{F011ACF9-4E3B-6563-C8AD-2F6EBB0037F6}"/>
              </a:ext>
            </a:extLst>
          </p:cNvPr>
          <p:cNvPicPr>
            <a:picLocks noChangeAspect="1"/>
          </p:cNvPicPr>
          <p:nvPr/>
        </p:nvPicPr>
        <p:blipFill>
          <a:blip r:embed="rId2"/>
          <a:stretch>
            <a:fillRect/>
          </a:stretch>
        </p:blipFill>
        <p:spPr>
          <a:xfrm>
            <a:off x="7704657" y="480767"/>
            <a:ext cx="3824324" cy="6093102"/>
          </a:xfrm>
          <a:prstGeom prst="rect">
            <a:avLst/>
          </a:prstGeom>
        </p:spPr>
      </p:pic>
    </p:spTree>
    <p:extLst>
      <p:ext uri="{BB962C8B-B14F-4D97-AF65-F5344CB8AC3E}">
        <p14:creationId xmlns:p14="http://schemas.microsoft.com/office/powerpoint/2010/main" val="5297805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ECFD224B-3EF9-55BC-2EB8-0ACED99779CC}"/>
              </a:ext>
            </a:extLst>
          </p:cNvPr>
          <p:cNvSpPr/>
          <p:nvPr/>
        </p:nvSpPr>
        <p:spPr>
          <a:xfrm>
            <a:off x="122549" y="139045"/>
            <a:ext cx="4835950" cy="2877531"/>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CONCEPT-2 : CUSHION SENSOR + DISPLAY BASED SMART CHAIR</a:t>
            </a:r>
          </a:p>
          <a:p>
            <a:r>
              <a:rPr lang="en-IN" dirty="0">
                <a:solidFill>
                  <a:schemeClr val="tx1"/>
                </a:solidFill>
              </a:rPr>
              <a:t>This concept focuses on better ergonomics + user interaction.</a:t>
            </a:r>
          </a:p>
          <a:p>
            <a:r>
              <a:rPr lang="en-IN" b="1" dirty="0">
                <a:solidFill>
                  <a:schemeClr val="tx1"/>
                </a:solidFill>
              </a:rPr>
              <a:t>Main Features</a:t>
            </a:r>
          </a:p>
          <a:p>
            <a:r>
              <a:rPr lang="en-IN" dirty="0">
                <a:solidFill>
                  <a:schemeClr val="tx1"/>
                </a:solidFill>
              </a:rPr>
              <a:t>Pressure sensors embedded in seat cushion </a:t>
            </a:r>
          </a:p>
          <a:p>
            <a:r>
              <a:rPr lang="en-IN" dirty="0">
                <a:solidFill>
                  <a:schemeClr val="tx1"/>
                </a:solidFill>
              </a:rPr>
              <a:t>LCD display showing reminders and heart rate </a:t>
            </a:r>
          </a:p>
          <a:p>
            <a:r>
              <a:rPr lang="en-IN" dirty="0">
                <a:solidFill>
                  <a:schemeClr val="tx1"/>
                </a:solidFill>
              </a:rPr>
              <a:t>Ventilated cushion design for passive cooling </a:t>
            </a:r>
          </a:p>
          <a:p>
            <a:r>
              <a:rPr lang="en-IN" dirty="0">
                <a:solidFill>
                  <a:schemeClr val="tx1"/>
                </a:solidFill>
              </a:rPr>
              <a:t>Rechargeable battery pack</a:t>
            </a:r>
          </a:p>
        </p:txBody>
      </p:sp>
      <p:sp>
        <p:nvSpPr>
          <p:cNvPr id="7" name="Rectangle: Rounded Corners 6">
            <a:extLst>
              <a:ext uri="{FF2B5EF4-FFF2-40B4-BE49-F238E27FC236}">
                <a16:creationId xmlns:a16="http://schemas.microsoft.com/office/drawing/2014/main" id="{F1156800-8404-48FE-D0B4-313B75752F09}"/>
              </a:ext>
            </a:extLst>
          </p:cNvPr>
          <p:cNvSpPr/>
          <p:nvPr/>
        </p:nvSpPr>
        <p:spPr>
          <a:xfrm>
            <a:off x="122550" y="3176833"/>
            <a:ext cx="4835950" cy="3542122"/>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 Working Principle</a:t>
            </a:r>
          </a:p>
          <a:p>
            <a:pPr algn="ctr"/>
            <a:endParaRPr lang="en-IN" b="1" dirty="0">
              <a:solidFill>
                <a:schemeClr val="tx1"/>
              </a:solidFill>
            </a:endParaRPr>
          </a:p>
          <a:p>
            <a:r>
              <a:rPr lang="en-IN" dirty="0">
                <a:solidFill>
                  <a:schemeClr val="tx1"/>
                </a:solidFill>
              </a:rPr>
              <a:t>Pressure sensors</a:t>
            </a:r>
          </a:p>
          <a:p>
            <a:r>
              <a:rPr lang="en-IN" dirty="0">
                <a:solidFill>
                  <a:schemeClr val="tx1"/>
                </a:solidFill>
              </a:rPr>
              <a:t>→ detect uneven weight distribution</a:t>
            </a:r>
            <a:br>
              <a:rPr lang="en-IN" dirty="0">
                <a:solidFill>
                  <a:schemeClr val="tx1"/>
                </a:solidFill>
              </a:rPr>
            </a:br>
            <a:r>
              <a:rPr lang="en-IN" dirty="0">
                <a:solidFill>
                  <a:schemeClr val="tx1"/>
                </a:solidFill>
              </a:rPr>
              <a:t>→ identify poor sitting posture</a:t>
            </a:r>
          </a:p>
          <a:p>
            <a:r>
              <a:rPr lang="en-IN" dirty="0">
                <a:solidFill>
                  <a:schemeClr val="tx1"/>
                </a:solidFill>
              </a:rPr>
              <a:t>LCD display</a:t>
            </a:r>
          </a:p>
          <a:p>
            <a:r>
              <a:rPr lang="en-IN" dirty="0">
                <a:solidFill>
                  <a:schemeClr val="tx1"/>
                </a:solidFill>
              </a:rPr>
              <a:t>→ shows messages like</a:t>
            </a:r>
            <a:br>
              <a:rPr lang="en-IN" dirty="0">
                <a:solidFill>
                  <a:schemeClr val="tx1"/>
                </a:solidFill>
              </a:rPr>
            </a:br>
            <a:r>
              <a:rPr lang="en-IN" dirty="0">
                <a:solidFill>
                  <a:schemeClr val="tx1"/>
                </a:solidFill>
              </a:rPr>
              <a:t>“Sit Straight”</a:t>
            </a:r>
            <a:br>
              <a:rPr lang="en-IN" dirty="0">
                <a:solidFill>
                  <a:schemeClr val="tx1"/>
                </a:solidFill>
              </a:rPr>
            </a:br>
            <a:r>
              <a:rPr lang="en-IN" dirty="0">
                <a:solidFill>
                  <a:schemeClr val="tx1"/>
                </a:solidFill>
              </a:rPr>
              <a:t>“Take Break”</a:t>
            </a:r>
            <a:br>
              <a:rPr lang="en-IN" dirty="0">
                <a:solidFill>
                  <a:schemeClr val="tx1"/>
                </a:solidFill>
              </a:rPr>
            </a:br>
            <a:r>
              <a:rPr lang="en-IN" dirty="0">
                <a:solidFill>
                  <a:schemeClr val="tx1"/>
                </a:solidFill>
              </a:rPr>
              <a:t>“Drink Water”</a:t>
            </a:r>
          </a:p>
        </p:txBody>
      </p:sp>
      <p:pic>
        <p:nvPicPr>
          <p:cNvPr id="9" name="Picture 8">
            <a:extLst>
              <a:ext uri="{FF2B5EF4-FFF2-40B4-BE49-F238E27FC236}">
                <a16:creationId xmlns:a16="http://schemas.microsoft.com/office/drawing/2014/main" id="{4E0A3288-608F-397C-0FA6-C87B34C97EC1}"/>
              </a:ext>
            </a:extLst>
          </p:cNvPr>
          <p:cNvPicPr>
            <a:picLocks noChangeAspect="1"/>
          </p:cNvPicPr>
          <p:nvPr/>
        </p:nvPicPr>
        <p:blipFill>
          <a:blip r:embed="rId2"/>
          <a:stretch>
            <a:fillRect/>
          </a:stretch>
        </p:blipFill>
        <p:spPr>
          <a:xfrm>
            <a:off x="7233502" y="511071"/>
            <a:ext cx="3667637" cy="5477639"/>
          </a:xfrm>
          <a:prstGeom prst="rect">
            <a:avLst/>
          </a:prstGeom>
        </p:spPr>
      </p:pic>
    </p:spTree>
    <p:extLst>
      <p:ext uri="{BB962C8B-B14F-4D97-AF65-F5344CB8AC3E}">
        <p14:creationId xmlns:p14="http://schemas.microsoft.com/office/powerpoint/2010/main" val="12441351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C259BD8-B833-FDD1-9C41-2A09CCA44E04}"/>
              </a:ext>
            </a:extLst>
          </p:cNvPr>
          <p:cNvSpPr/>
          <p:nvPr/>
        </p:nvSpPr>
        <p:spPr>
          <a:xfrm>
            <a:off x="75414" y="122548"/>
            <a:ext cx="4939646" cy="3129699"/>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dirty="0">
                <a:solidFill>
                  <a:schemeClr val="tx1"/>
                </a:solidFill>
              </a:rPr>
              <a:t>CONCEPT-3 : ADVANCED SMART CONNECTED CHAIR</a:t>
            </a:r>
          </a:p>
          <a:p>
            <a:r>
              <a:rPr lang="en-IN" dirty="0">
                <a:solidFill>
                  <a:schemeClr val="tx1"/>
                </a:solidFill>
              </a:rPr>
              <a:t>This concept focuses on modern IoT based smart ergonomic furniture.</a:t>
            </a:r>
          </a:p>
          <a:p>
            <a:r>
              <a:rPr lang="en-IN" b="1" dirty="0">
                <a:solidFill>
                  <a:schemeClr val="tx1"/>
                </a:solidFill>
              </a:rPr>
              <a:t> Main Features</a:t>
            </a:r>
          </a:p>
          <a:p>
            <a:r>
              <a:rPr lang="en-IN" dirty="0">
                <a:solidFill>
                  <a:schemeClr val="tx1"/>
                </a:solidFill>
              </a:rPr>
              <a:t>IMU tilt sensor mounted on chair frame </a:t>
            </a:r>
          </a:p>
          <a:p>
            <a:r>
              <a:rPr lang="en-IN" dirty="0">
                <a:solidFill>
                  <a:schemeClr val="tx1"/>
                </a:solidFill>
              </a:rPr>
              <a:t>Mobile app connectivity for alerts </a:t>
            </a:r>
          </a:p>
          <a:p>
            <a:r>
              <a:rPr lang="en-IN" dirty="0">
                <a:solidFill>
                  <a:schemeClr val="tx1"/>
                </a:solidFill>
              </a:rPr>
              <a:t>USB powered air blower cooling </a:t>
            </a:r>
          </a:p>
          <a:p>
            <a:r>
              <a:rPr lang="en-IN" dirty="0">
                <a:solidFill>
                  <a:schemeClr val="tx1"/>
                </a:solidFill>
              </a:rPr>
              <a:t>Solar assisted charging system</a:t>
            </a:r>
          </a:p>
        </p:txBody>
      </p:sp>
      <p:sp>
        <p:nvSpPr>
          <p:cNvPr id="5" name="Rectangle: Rounded Corners 4">
            <a:extLst>
              <a:ext uri="{FF2B5EF4-FFF2-40B4-BE49-F238E27FC236}">
                <a16:creationId xmlns:a16="http://schemas.microsoft.com/office/drawing/2014/main" id="{87C8B19C-02D6-4194-5644-FCCEAC0813A2}"/>
              </a:ext>
            </a:extLst>
          </p:cNvPr>
          <p:cNvSpPr/>
          <p:nvPr/>
        </p:nvSpPr>
        <p:spPr>
          <a:xfrm>
            <a:off x="245097" y="3429001"/>
            <a:ext cx="4769963" cy="3429000"/>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 Working Principle</a:t>
            </a:r>
          </a:p>
          <a:p>
            <a:r>
              <a:rPr lang="en-IN" dirty="0">
                <a:solidFill>
                  <a:schemeClr val="tx1"/>
                </a:solidFill>
              </a:rPr>
              <a:t>IMU sensor</a:t>
            </a:r>
          </a:p>
          <a:p>
            <a:r>
              <a:rPr lang="en-IN" dirty="0">
                <a:solidFill>
                  <a:schemeClr val="tx1"/>
                </a:solidFill>
              </a:rPr>
              <a:t>→ detects chair tilt angle</a:t>
            </a:r>
            <a:br>
              <a:rPr lang="en-IN" dirty="0">
                <a:solidFill>
                  <a:schemeClr val="tx1"/>
                </a:solidFill>
              </a:rPr>
            </a:br>
            <a:r>
              <a:rPr lang="en-IN" dirty="0">
                <a:solidFill>
                  <a:schemeClr val="tx1"/>
                </a:solidFill>
              </a:rPr>
              <a:t>→ determines body posture dynamically</a:t>
            </a:r>
          </a:p>
          <a:p>
            <a:r>
              <a:rPr lang="en-IN" dirty="0">
                <a:solidFill>
                  <a:schemeClr val="tx1"/>
                </a:solidFill>
              </a:rPr>
              <a:t>Mobile app</a:t>
            </a:r>
          </a:p>
          <a:p>
            <a:r>
              <a:rPr lang="en-IN" dirty="0">
                <a:solidFill>
                  <a:schemeClr val="tx1"/>
                </a:solidFill>
              </a:rPr>
              <a:t>→ sends notification</a:t>
            </a:r>
            <a:br>
              <a:rPr lang="en-IN" dirty="0">
                <a:solidFill>
                  <a:schemeClr val="tx1"/>
                </a:solidFill>
              </a:rPr>
            </a:br>
            <a:r>
              <a:rPr lang="en-IN" dirty="0">
                <a:solidFill>
                  <a:schemeClr val="tx1"/>
                </a:solidFill>
              </a:rPr>
              <a:t>“Wrong posture”</a:t>
            </a:r>
            <a:br>
              <a:rPr lang="en-IN" dirty="0">
                <a:solidFill>
                  <a:schemeClr val="tx1"/>
                </a:solidFill>
              </a:rPr>
            </a:br>
            <a:r>
              <a:rPr lang="en-IN" dirty="0">
                <a:solidFill>
                  <a:schemeClr val="tx1"/>
                </a:solidFill>
              </a:rPr>
              <a:t>“Time to move”</a:t>
            </a:r>
          </a:p>
          <a:p>
            <a:r>
              <a:rPr lang="en-IN" dirty="0">
                <a:solidFill>
                  <a:schemeClr val="tx1"/>
                </a:solidFill>
              </a:rPr>
              <a:t>USB blower</a:t>
            </a:r>
          </a:p>
          <a:p>
            <a:r>
              <a:rPr lang="en-IN" dirty="0">
                <a:solidFill>
                  <a:schemeClr val="tx1"/>
                </a:solidFill>
              </a:rPr>
              <a:t>→ provides strong cooling airflow</a:t>
            </a:r>
          </a:p>
          <a:p>
            <a:r>
              <a:rPr lang="en-IN" dirty="0">
                <a:solidFill>
                  <a:schemeClr val="tx1"/>
                </a:solidFill>
              </a:rPr>
              <a:t>Solar charging</a:t>
            </a:r>
          </a:p>
          <a:p>
            <a:r>
              <a:rPr lang="en-IN" dirty="0">
                <a:solidFill>
                  <a:schemeClr val="tx1"/>
                </a:solidFill>
              </a:rPr>
              <a:t>→ improves energy efficiency</a:t>
            </a:r>
          </a:p>
        </p:txBody>
      </p:sp>
      <p:pic>
        <p:nvPicPr>
          <p:cNvPr id="8" name="Picture 7">
            <a:extLst>
              <a:ext uri="{FF2B5EF4-FFF2-40B4-BE49-F238E27FC236}">
                <a16:creationId xmlns:a16="http://schemas.microsoft.com/office/drawing/2014/main" id="{086583BC-29CF-52D0-853B-496D322C8A9B}"/>
              </a:ext>
            </a:extLst>
          </p:cNvPr>
          <p:cNvPicPr>
            <a:picLocks noChangeAspect="1"/>
          </p:cNvPicPr>
          <p:nvPr/>
        </p:nvPicPr>
        <p:blipFill>
          <a:blip r:embed="rId2"/>
          <a:stretch>
            <a:fillRect/>
          </a:stretch>
        </p:blipFill>
        <p:spPr>
          <a:xfrm>
            <a:off x="7076729" y="443060"/>
            <a:ext cx="3877217" cy="5922325"/>
          </a:xfrm>
          <a:prstGeom prst="rect">
            <a:avLst/>
          </a:prstGeom>
        </p:spPr>
      </p:pic>
    </p:spTree>
    <p:extLst>
      <p:ext uri="{BB962C8B-B14F-4D97-AF65-F5344CB8AC3E}">
        <p14:creationId xmlns:p14="http://schemas.microsoft.com/office/powerpoint/2010/main" val="12010771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80193-AC94-7D3D-ACAA-9B5ED6989857}"/>
              </a:ext>
            </a:extLst>
          </p:cNvPr>
          <p:cNvSpPr>
            <a:spLocks noGrp="1"/>
          </p:cNvSpPr>
          <p:nvPr>
            <p:ph type="title"/>
          </p:nvPr>
        </p:nvSpPr>
        <p:spPr>
          <a:xfrm>
            <a:off x="659090" y="764846"/>
            <a:ext cx="10515600" cy="1325563"/>
          </a:xfrm>
        </p:spPr>
        <p:txBody>
          <a:bodyPr/>
          <a:lstStyle/>
          <a:p>
            <a:r>
              <a:rPr lang="en-IN" b="1" dirty="0"/>
              <a:t>CONCEPT SELECTION (AHP)</a:t>
            </a:r>
          </a:p>
        </p:txBody>
      </p:sp>
      <p:graphicFrame>
        <p:nvGraphicFramePr>
          <p:cNvPr id="4" name="Content Placeholder 3">
            <a:extLst>
              <a:ext uri="{FF2B5EF4-FFF2-40B4-BE49-F238E27FC236}">
                <a16:creationId xmlns:a16="http://schemas.microsoft.com/office/drawing/2014/main" id="{8D50041A-4B21-9F6B-905C-BB4AC82B9B61}"/>
              </a:ext>
            </a:extLst>
          </p:cNvPr>
          <p:cNvGraphicFramePr>
            <a:graphicFrameLocks noGrp="1"/>
          </p:cNvGraphicFramePr>
          <p:nvPr>
            <p:ph idx="1"/>
            <p:extLst>
              <p:ext uri="{D42A27DB-BD31-4B8C-83A1-F6EECF244321}">
                <p14:modId xmlns:p14="http://schemas.microsoft.com/office/powerpoint/2010/main" val="2038119737"/>
              </p:ext>
            </p:extLst>
          </p:nvPr>
        </p:nvGraphicFramePr>
        <p:xfrm>
          <a:off x="838200" y="2648933"/>
          <a:ext cx="10515600" cy="2577642"/>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4102255430"/>
                    </a:ext>
                  </a:extLst>
                </a:gridCol>
                <a:gridCol w="1752600">
                  <a:extLst>
                    <a:ext uri="{9D8B030D-6E8A-4147-A177-3AD203B41FA5}">
                      <a16:colId xmlns:a16="http://schemas.microsoft.com/office/drawing/2014/main" val="3683146378"/>
                    </a:ext>
                  </a:extLst>
                </a:gridCol>
                <a:gridCol w="1752600">
                  <a:extLst>
                    <a:ext uri="{9D8B030D-6E8A-4147-A177-3AD203B41FA5}">
                      <a16:colId xmlns:a16="http://schemas.microsoft.com/office/drawing/2014/main" val="158221819"/>
                    </a:ext>
                  </a:extLst>
                </a:gridCol>
                <a:gridCol w="1752600">
                  <a:extLst>
                    <a:ext uri="{9D8B030D-6E8A-4147-A177-3AD203B41FA5}">
                      <a16:colId xmlns:a16="http://schemas.microsoft.com/office/drawing/2014/main" val="153837012"/>
                    </a:ext>
                  </a:extLst>
                </a:gridCol>
                <a:gridCol w="1752600">
                  <a:extLst>
                    <a:ext uri="{9D8B030D-6E8A-4147-A177-3AD203B41FA5}">
                      <a16:colId xmlns:a16="http://schemas.microsoft.com/office/drawing/2014/main" val="3092885974"/>
                    </a:ext>
                  </a:extLst>
                </a:gridCol>
                <a:gridCol w="1752600">
                  <a:extLst>
                    <a:ext uri="{9D8B030D-6E8A-4147-A177-3AD203B41FA5}">
                      <a16:colId xmlns:a16="http://schemas.microsoft.com/office/drawing/2014/main" val="1885895669"/>
                    </a:ext>
                  </a:extLst>
                </a:gridCol>
              </a:tblGrid>
              <a:tr h="363597">
                <a:tc>
                  <a:txBody>
                    <a:bodyPr/>
                    <a:lstStyle/>
                    <a:p>
                      <a:r>
                        <a:rPr lang="en-IN" dirty="0">
                          <a:solidFill>
                            <a:schemeClr val="tx1"/>
                          </a:solidFill>
                        </a:rPr>
                        <a:t>Criteria</a:t>
                      </a:r>
                    </a:p>
                  </a:txBody>
                  <a:tcPr/>
                </a:tc>
                <a:tc>
                  <a:txBody>
                    <a:bodyPr/>
                    <a:lstStyle/>
                    <a:p>
                      <a:r>
                        <a:rPr lang="en-IN" dirty="0"/>
                        <a:t>Cost</a:t>
                      </a:r>
                    </a:p>
                  </a:txBody>
                  <a:tcPr/>
                </a:tc>
                <a:tc>
                  <a:txBody>
                    <a:bodyPr/>
                    <a:lstStyle/>
                    <a:p>
                      <a:r>
                        <a:rPr lang="en-IN" dirty="0"/>
                        <a:t>Fabrication</a:t>
                      </a:r>
                    </a:p>
                  </a:txBody>
                  <a:tcPr/>
                </a:tc>
                <a:tc>
                  <a:txBody>
                    <a:bodyPr/>
                    <a:lstStyle/>
                    <a:p>
                      <a:r>
                        <a:rPr lang="en-IN" dirty="0"/>
                        <a:t>Performance</a:t>
                      </a:r>
                    </a:p>
                  </a:txBody>
                  <a:tcPr/>
                </a:tc>
                <a:tc>
                  <a:txBody>
                    <a:bodyPr/>
                    <a:lstStyle/>
                    <a:p>
                      <a:r>
                        <a:rPr lang="en-IN" dirty="0"/>
                        <a:t>Comfort</a:t>
                      </a:r>
                    </a:p>
                  </a:txBody>
                  <a:tcPr/>
                </a:tc>
                <a:tc>
                  <a:txBody>
                    <a:bodyPr/>
                    <a:lstStyle/>
                    <a:p>
                      <a:r>
                        <a:rPr lang="en-IN" dirty="0"/>
                        <a:t>Complexity</a:t>
                      </a:r>
                    </a:p>
                  </a:txBody>
                  <a:tcPr/>
                </a:tc>
                <a:extLst>
                  <a:ext uri="{0D108BD9-81ED-4DB2-BD59-A6C34878D82A}">
                    <a16:rowId xmlns:a16="http://schemas.microsoft.com/office/drawing/2014/main" val="4232180607"/>
                  </a:ext>
                </a:extLst>
              </a:tr>
              <a:tr h="368647">
                <a:tc>
                  <a:txBody>
                    <a:bodyPr/>
                    <a:lstStyle/>
                    <a:p>
                      <a:r>
                        <a:rPr lang="en-IN" dirty="0"/>
                        <a:t>Cost</a:t>
                      </a:r>
                    </a:p>
                  </a:txBody>
                  <a:tcPr/>
                </a:tc>
                <a:tc>
                  <a:txBody>
                    <a:bodyPr/>
                    <a:lstStyle/>
                    <a:p>
                      <a:r>
                        <a:rPr lang="en-IN" dirty="0"/>
                        <a:t>1</a:t>
                      </a:r>
                    </a:p>
                  </a:txBody>
                  <a:tcPr/>
                </a:tc>
                <a:tc>
                  <a:txBody>
                    <a:bodyPr/>
                    <a:lstStyle/>
                    <a:p>
                      <a:r>
                        <a:rPr lang="en-IN" dirty="0"/>
                        <a:t>2</a:t>
                      </a:r>
                    </a:p>
                  </a:txBody>
                  <a:tcPr/>
                </a:tc>
                <a:tc>
                  <a:txBody>
                    <a:bodyPr/>
                    <a:lstStyle/>
                    <a:p>
                      <a:r>
                        <a:rPr lang="en-IN" dirty="0"/>
                        <a:t>3</a:t>
                      </a:r>
                    </a:p>
                  </a:txBody>
                  <a:tcPr/>
                </a:tc>
                <a:tc>
                  <a:txBody>
                    <a:bodyPr/>
                    <a:lstStyle/>
                    <a:p>
                      <a:r>
                        <a:rPr lang="en-IN" dirty="0"/>
                        <a:t>3</a:t>
                      </a:r>
                    </a:p>
                  </a:txBody>
                  <a:tcPr/>
                </a:tc>
                <a:tc>
                  <a:txBody>
                    <a:bodyPr/>
                    <a:lstStyle/>
                    <a:p>
                      <a:r>
                        <a:rPr lang="en-IN" dirty="0"/>
                        <a:t>4</a:t>
                      </a:r>
                    </a:p>
                  </a:txBody>
                  <a:tcPr/>
                </a:tc>
                <a:extLst>
                  <a:ext uri="{0D108BD9-81ED-4DB2-BD59-A6C34878D82A}">
                    <a16:rowId xmlns:a16="http://schemas.microsoft.com/office/drawing/2014/main" val="2426576442"/>
                  </a:ext>
                </a:extLst>
              </a:tr>
              <a:tr h="368647">
                <a:tc>
                  <a:txBody>
                    <a:bodyPr/>
                    <a:lstStyle/>
                    <a:p>
                      <a:r>
                        <a:rPr lang="en-IN" dirty="0"/>
                        <a:t>Fabrication</a:t>
                      </a:r>
                    </a:p>
                  </a:txBody>
                  <a:tcPr/>
                </a:tc>
                <a:tc>
                  <a:txBody>
                    <a:bodyPr/>
                    <a:lstStyle/>
                    <a:p>
                      <a:r>
                        <a:rPr lang="en-IN" dirty="0"/>
                        <a:t>1/2</a:t>
                      </a:r>
                    </a:p>
                  </a:txBody>
                  <a:tcPr/>
                </a:tc>
                <a:tc>
                  <a:txBody>
                    <a:bodyPr/>
                    <a:lstStyle/>
                    <a:p>
                      <a:r>
                        <a:rPr lang="en-IN" dirty="0"/>
                        <a:t>1</a:t>
                      </a:r>
                    </a:p>
                  </a:txBody>
                  <a:tcPr/>
                </a:tc>
                <a:tc>
                  <a:txBody>
                    <a:bodyPr/>
                    <a:lstStyle/>
                    <a:p>
                      <a:r>
                        <a:rPr lang="en-IN" dirty="0"/>
                        <a:t>2</a:t>
                      </a:r>
                    </a:p>
                  </a:txBody>
                  <a:tcPr/>
                </a:tc>
                <a:tc>
                  <a:txBody>
                    <a:bodyPr/>
                    <a:lstStyle/>
                    <a:p>
                      <a:r>
                        <a:rPr lang="en-IN" dirty="0"/>
                        <a:t>2</a:t>
                      </a:r>
                    </a:p>
                  </a:txBody>
                  <a:tcPr/>
                </a:tc>
                <a:tc>
                  <a:txBody>
                    <a:bodyPr/>
                    <a:lstStyle/>
                    <a:p>
                      <a:r>
                        <a:rPr lang="en-IN" dirty="0"/>
                        <a:t>3</a:t>
                      </a:r>
                    </a:p>
                  </a:txBody>
                  <a:tcPr/>
                </a:tc>
                <a:extLst>
                  <a:ext uri="{0D108BD9-81ED-4DB2-BD59-A6C34878D82A}">
                    <a16:rowId xmlns:a16="http://schemas.microsoft.com/office/drawing/2014/main" val="4201580505"/>
                  </a:ext>
                </a:extLst>
              </a:tr>
              <a:tr h="368647">
                <a:tc>
                  <a:txBody>
                    <a:bodyPr/>
                    <a:lstStyle/>
                    <a:p>
                      <a:r>
                        <a:rPr lang="en-IN" dirty="0"/>
                        <a:t>Performance</a:t>
                      </a:r>
                    </a:p>
                  </a:txBody>
                  <a:tcPr/>
                </a:tc>
                <a:tc>
                  <a:txBody>
                    <a:bodyPr/>
                    <a:lstStyle/>
                    <a:p>
                      <a:r>
                        <a:rPr lang="en-IN" dirty="0"/>
                        <a:t>1/3</a:t>
                      </a:r>
                    </a:p>
                  </a:txBody>
                  <a:tcPr/>
                </a:tc>
                <a:tc>
                  <a:txBody>
                    <a:bodyPr/>
                    <a:lstStyle/>
                    <a:p>
                      <a:r>
                        <a:rPr lang="en-IN" dirty="0"/>
                        <a:t>1/2</a:t>
                      </a:r>
                    </a:p>
                  </a:txBody>
                  <a:tcPr/>
                </a:tc>
                <a:tc>
                  <a:txBody>
                    <a:bodyPr/>
                    <a:lstStyle/>
                    <a:p>
                      <a:r>
                        <a:rPr lang="en-IN" dirty="0"/>
                        <a:t>1</a:t>
                      </a:r>
                    </a:p>
                  </a:txBody>
                  <a:tcPr/>
                </a:tc>
                <a:tc>
                  <a:txBody>
                    <a:bodyPr/>
                    <a:lstStyle/>
                    <a:p>
                      <a:r>
                        <a:rPr lang="en-IN" dirty="0"/>
                        <a:t>2</a:t>
                      </a:r>
                    </a:p>
                  </a:txBody>
                  <a:tcPr/>
                </a:tc>
                <a:tc>
                  <a:txBody>
                    <a:bodyPr/>
                    <a:lstStyle/>
                    <a:p>
                      <a:r>
                        <a:rPr lang="en-IN" dirty="0"/>
                        <a:t>2</a:t>
                      </a:r>
                    </a:p>
                  </a:txBody>
                  <a:tcPr/>
                </a:tc>
                <a:extLst>
                  <a:ext uri="{0D108BD9-81ED-4DB2-BD59-A6C34878D82A}">
                    <a16:rowId xmlns:a16="http://schemas.microsoft.com/office/drawing/2014/main" val="4275508096"/>
                  </a:ext>
                </a:extLst>
              </a:tr>
              <a:tr h="368647">
                <a:tc>
                  <a:txBody>
                    <a:bodyPr/>
                    <a:lstStyle/>
                    <a:p>
                      <a:r>
                        <a:rPr lang="en-IN" dirty="0"/>
                        <a:t>Comfort</a:t>
                      </a:r>
                    </a:p>
                  </a:txBody>
                  <a:tcPr/>
                </a:tc>
                <a:tc>
                  <a:txBody>
                    <a:bodyPr/>
                    <a:lstStyle/>
                    <a:p>
                      <a:r>
                        <a:rPr lang="en-IN" dirty="0"/>
                        <a:t>1/3</a:t>
                      </a:r>
                    </a:p>
                  </a:txBody>
                  <a:tcPr/>
                </a:tc>
                <a:tc>
                  <a:txBody>
                    <a:bodyPr/>
                    <a:lstStyle/>
                    <a:p>
                      <a:r>
                        <a:rPr lang="en-IN" dirty="0"/>
                        <a:t>1/2</a:t>
                      </a:r>
                    </a:p>
                  </a:txBody>
                  <a:tcPr/>
                </a:tc>
                <a:tc>
                  <a:txBody>
                    <a:bodyPr/>
                    <a:lstStyle/>
                    <a:p>
                      <a:r>
                        <a:rPr lang="en-IN" dirty="0"/>
                        <a:t>1/2</a:t>
                      </a:r>
                    </a:p>
                  </a:txBody>
                  <a:tcPr/>
                </a:tc>
                <a:tc>
                  <a:txBody>
                    <a:bodyPr/>
                    <a:lstStyle/>
                    <a:p>
                      <a:r>
                        <a:rPr lang="en-IN" dirty="0"/>
                        <a:t>1</a:t>
                      </a:r>
                    </a:p>
                  </a:txBody>
                  <a:tcPr/>
                </a:tc>
                <a:tc>
                  <a:txBody>
                    <a:bodyPr/>
                    <a:lstStyle/>
                    <a:p>
                      <a:r>
                        <a:rPr lang="en-IN" dirty="0"/>
                        <a:t>2</a:t>
                      </a:r>
                    </a:p>
                  </a:txBody>
                  <a:tcPr/>
                </a:tc>
                <a:extLst>
                  <a:ext uri="{0D108BD9-81ED-4DB2-BD59-A6C34878D82A}">
                    <a16:rowId xmlns:a16="http://schemas.microsoft.com/office/drawing/2014/main" val="646309688"/>
                  </a:ext>
                </a:extLst>
              </a:tr>
              <a:tr h="368647">
                <a:tc>
                  <a:txBody>
                    <a:bodyPr/>
                    <a:lstStyle/>
                    <a:p>
                      <a:r>
                        <a:rPr lang="en-IN" dirty="0"/>
                        <a:t>Complexity</a:t>
                      </a:r>
                    </a:p>
                  </a:txBody>
                  <a:tcPr/>
                </a:tc>
                <a:tc>
                  <a:txBody>
                    <a:bodyPr/>
                    <a:lstStyle/>
                    <a:p>
                      <a:r>
                        <a:rPr lang="en-IN" dirty="0"/>
                        <a:t>1/4</a:t>
                      </a:r>
                    </a:p>
                  </a:txBody>
                  <a:tcPr/>
                </a:tc>
                <a:tc>
                  <a:txBody>
                    <a:bodyPr/>
                    <a:lstStyle/>
                    <a:p>
                      <a:r>
                        <a:rPr lang="en-IN" dirty="0"/>
                        <a:t>1/3</a:t>
                      </a:r>
                    </a:p>
                  </a:txBody>
                  <a:tcPr/>
                </a:tc>
                <a:tc>
                  <a:txBody>
                    <a:bodyPr/>
                    <a:lstStyle/>
                    <a:p>
                      <a:r>
                        <a:rPr lang="en-IN" dirty="0"/>
                        <a:t>1/2</a:t>
                      </a:r>
                    </a:p>
                  </a:txBody>
                  <a:tcPr/>
                </a:tc>
                <a:tc>
                  <a:txBody>
                    <a:bodyPr/>
                    <a:lstStyle/>
                    <a:p>
                      <a:r>
                        <a:rPr lang="en-IN" dirty="0"/>
                        <a:t>1/2</a:t>
                      </a:r>
                    </a:p>
                  </a:txBody>
                  <a:tcPr/>
                </a:tc>
                <a:tc>
                  <a:txBody>
                    <a:bodyPr/>
                    <a:lstStyle/>
                    <a:p>
                      <a:r>
                        <a:rPr lang="en-IN" dirty="0"/>
                        <a:t>1</a:t>
                      </a:r>
                    </a:p>
                  </a:txBody>
                  <a:tcPr/>
                </a:tc>
                <a:extLst>
                  <a:ext uri="{0D108BD9-81ED-4DB2-BD59-A6C34878D82A}">
                    <a16:rowId xmlns:a16="http://schemas.microsoft.com/office/drawing/2014/main" val="3052110437"/>
                  </a:ext>
                </a:extLst>
              </a:tr>
              <a:tr h="368647">
                <a:tc>
                  <a:txBody>
                    <a:bodyPr/>
                    <a:lstStyle/>
                    <a:p>
                      <a:endParaRPr lang="en-IN" dirty="0"/>
                    </a:p>
                  </a:txBody>
                  <a:tcPr/>
                </a:tc>
                <a:tc>
                  <a:txBody>
                    <a:bodyPr/>
                    <a:lstStyle/>
                    <a:p>
                      <a:r>
                        <a:rPr lang="en-IN" dirty="0"/>
                        <a:t>2.416</a:t>
                      </a:r>
                    </a:p>
                  </a:txBody>
                  <a:tcPr/>
                </a:tc>
                <a:tc>
                  <a:txBody>
                    <a:bodyPr/>
                    <a:lstStyle/>
                    <a:p>
                      <a:r>
                        <a:rPr lang="en-IN" dirty="0"/>
                        <a:t>5.33</a:t>
                      </a:r>
                    </a:p>
                  </a:txBody>
                  <a:tcPr/>
                </a:tc>
                <a:tc>
                  <a:txBody>
                    <a:bodyPr/>
                    <a:lstStyle/>
                    <a:p>
                      <a:r>
                        <a:rPr lang="en-IN" dirty="0"/>
                        <a:t>7</a:t>
                      </a:r>
                    </a:p>
                  </a:txBody>
                  <a:tcPr/>
                </a:tc>
                <a:tc>
                  <a:txBody>
                    <a:bodyPr/>
                    <a:lstStyle/>
                    <a:p>
                      <a:r>
                        <a:rPr lang="en-IN" dirty="0"/>
                        <a:t>8.5</a:t>
                      </a:r>
                    </a:p>
                  </a:txBody>
                  <a:tcPr/>
                </a:tc>
                <a:tc>
                  <a:txBody>
                    <a:bodyPr/>
                    <a:lstStyle/>
                    <a:p>
                      <a:r>
                        <a:rPr lang="en-IN" dirty="0"/>
                        <a:t>12</a:t>
                      </a:r>
                    </a:p>
                  </a:txBody>
                  <a:tcPr/>
                </a:tc>
                <a:extLst>
                  <a:ext uri="{0D108BD9-81ED-4DB2-BD59-A6C34878D82A}">
                    <a16:rowId xmlns:a16="http://schemas.microsoft.com/office/drawing/2014/main" val="3794485548"/>
                  </a:ext>
                </a:extLst>
              </a:tr>
            </a:tbl>
          </a:graphicData>
        </a:graphic>
      </p:graphicFrame>
      <p:sp>
        <p:nvSpPr>
          <p:cNvPr id="6" name="TextBox 5">
            <a:extLst>
              <a:ext uri="{FF2B5EF4-FFF2-40B4-BE49-F238E27FC236}">
                <a16:creationId xmlns:a16="http://schemas.microsoft.com/office/drawing/2014/main" id="{E8DAFAD3-915F-0D49-17AA-FB7371127B1E}"/>
              </a:ext>
            </a:extLst>
          </p:cNvPr>
          <p:cNvSpPr txBox="1"/>
          <p:nvPr/>
        </p:nvSpPr>
        <p:spPr>
          <a:xfrm>
            <a:off x="838200" y="2102177"/>
            <a:ext cx="2554664" cy="523220"/>
          </a:xfrm>
          <a:prstGeom prst="rect">
            <a:avLst/>
          </a:prstGeom>
          <a:noFill/>
        </p:spPr>
        <p:txBody>
          <a:bodyPr wrap="square" rtlCol="0">
            <a:spAutoFit/>
          </a:bodyPr>
          <a:lstStyle/>
          <a:p>
            <a:r>
              <a:rPr lang="en-IN" sz="2800" b="1" dirty="0"/>
              <a:t>Decision matrix</a:t>
            </a:r>
          </a:p>
        </p:txBody>
      </p:sp>
    </p:spTree>
    <p:extLst>
      <p:ext uri="{BB962C8B-B14F-4D97-AF65-F5344CB8AC3E}">
        <p14:creationId xmlns:p14="http://schemas.microsoft.com/office/powerpoint/2010/main" val="39211382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36B22A77-3512-3B99-C972-ADAB460140F1}"/>
              </a:ext>
            </a:extLst>
          </p:cNvPr>
          <p:cNvGraphicFramePr>
            <a:graphicFrameLocks noGrp="1"/>
          </p:cNvGraphicFramePr>
          <p:nvPr>
            <p:ph idx="1"/>
            <p:extLst>
              <p:ext uri="{D42A27DB-BD31-4B8C-83A1-F6EECF244321}">
                <p14:modId xmlns:p14="http://schemas.microsoft.com/office/powerpoint/2010/main" val="3275474481"/>
              </p:ext>
            </p:extLst>
          </p:nvPr>
        </p:nvGraphicFramePr>
        <p:xfrm>
          <a:off x="707010" y="2061295"/>
          <a:ext cx="9558794" cy="2494280"/>
        </p:xfrm>
        <a:graphic>
          <a:graphicData uri="http://schemas.openxmlformats.org/drawingml/2006/table">
            <a:tbl>
              <a:tblPr firstRow="1" bandRow="1">
                <a:tableStyleId>{5C22544A-7EE6-4342-B048-85BDC9FD1C3A}</a:tableStyleId>
              </a:tblPr>
              <a:tblGrid>
                <a:gridCol w="1536569">
                  <a:extLst>
                    <a:ext uri="{9D8B030D-6E8A-4147-A177-3AD203B41FA5}">
                      <a16:colId xmlns:a16="http://schemas.microsoft.com/office/drawing/2014/main" val="3288447582"/>
                    </a:ext>
                  </a:extLst>
                </a:gridCol>
                <a:gridCol w="1194515">
                  <a:extLst>
                    <a:ext uri="{9D8B030D-6E8A-4147-A177-3AD203B41FA5}">
                      <a16:colId xmlns:a16="http://schemas.microsoft.com/office/drawing/2014/main" val="2259527409"/>
                    </a:ext>
                  </a:extLst>
                </a:gridCol>
                <a:gridCol w="1365542">
                  <a:extLst>
                    <a:ext uri="{9D8B030D-6E8A-4147-A177-3AD203B41FA5}">
                      <a16:colId xmlns:a16="http://schemas.microsoft.com/office/drawing/2014/main" val="2872183529"/>
                    </a:ext>
                  </a:extLst>
                </a:gridCol>
                <a:gridCol w="1365542">
                  <a:extLst>
                    <a:ext uri="{9D8B030D-6E8A-4147-A177-3AD203B41FA5}">
                      <a16:colId xmlns:a16="http://schemas.microsoft.com/office/drawing/2014/main" val="2271879500"/>
                    </a:ext>
                  </a:extLst>
                </a:gridCol>
                <a:gridCol w="1365542">
                  <a:extLst>
                    <a:ext uri="{9D8B030D-6E8A-4147-A177-3AD203B41FA5}">
                      <a16:colId xmlns:a16="http://schemas.microsoft.com/office/drawing/2014/main" val="1819781057"/>
                    </a:ext>
                  </a:extLst>
                </a:gridCol>
                <a:gridCol w="1365542">
                  <a:extLst>
                    <a:ext uri="{9D8B030D-6E8A-4147-A177-3AD203B41FA5}">
                      <a16:colId xmlns:a16="http://schemas.microsoft.com/office/drawing/2014/main" val="771756860"/>
                    </a:ext>
                  </a:extLst>
                </a:gridCol>
                <a:gridCol w="1365542">
                  <a:extLst>
                    <a:ext uri="{9D8B030D-6E8A-4147-A177-3AD203B41FA5}">
                      <a16:colId xmlns:a16="http://schemas.microsoft.com/office/drawing/2014/main" val="34502174"/>
                    </a:ext>
                  </a:extLst>
                </a:gridCol>
              </a:tblGrid>
              <a:tr h="370840">
                <a:tc>
                  <a:txBody>
                    <a:bodyPr/>
                    <a:lstStyle/>
                    <a:p>
                      <a:r>
                        <a:rPr lang="en-IN" dirty="0"/>
                        <a:t>Criteria</a:t>
                      </a:r>
                    </a:p>
                  </a:txBody>
                  <a:tcPr/>
                </a:tc>
                <a:tc>
                  <a:txBody>
                    <a:bodyPr/>
                    <a:lstStyle/>
                    <a:p>
                      <a:r>
                        <a:rPr lang="en-IN" dirty="0"/>
                        <a:t>Cost</a:t>
                      </a:r>
                    </a:p>
                  </a:txBody>
                  <a:tcPr/>
                </a:tc>
                <a:tc>
                  <a:txBody>
                    <a:bodyPr/>
                    <a:lstStyle/>
                    <a:p>
                      <a:r>
                        <a:rPr lang="en-IN" dirty="0"/>
                        <a:t>Fabrication</a:t>
                      </a:r>
                    </a:p>
                  </a:txBody>
                  <a:tcPr/>
                </a:tc>
                <a:tc>
                  <a:txBody>
                    <a:bodyPr/>
                    <a:lstStyle/>
                    <a:p>
                      <a:r>
                        <a:rPr lang="en-IN" dirty="0"/>
                        <a:t>Performance</a:t>
                      </a:r>
                    </a:p>
                  </a:txBody>
                  <a:tcPr/>
                </a:tc>
                <a:tc>
                  <a:txBody>
                    <a:bodyPr/>
                    <a:lstStyle/>
                    <a:p>
                      <a:r>
                        <a:rPr lang="en-IN" dirty="0"/>
                        <a:t>Comfort</a:t>
                      </a:r>
                    </a:p>
                  </a:txBody>
                  <a:tcPr/>
                </a:tc>
                <a:tc>
                  <a:txBody>
                    <a:bodyPr/>
                    <a:lstStyle/>
                    <a:p>
                      <a:r>
                        <a:rPr lang="en-IN" dirty="0"/>
                        <a:t>Complexity</a:t>
                      </a:r>
                    </a:p>
                  </a:txBody>
                  <a:tcPr/>
                </a:tc>
                <a:tc>
                  <a:txBody>
                    <a:bodyPr/>
                    <a:lstStyle/>
                    <a:p>
                      <a:r>
                        <a:rPr lang="en-IN" dirty="0"/>
                        <a:t>Priority</a:t>
                      </a:r>
                    </a:p>
                  </a:txBody>
                  <a:tcPr/>
                </a:tc>
                <a:extLst>
                  <a:ext uri="{0D108BD9-81ED-4DB2-BD59-A6C34878D82A}">
                    <a16:rowId xmlns:a16="http://schemas.microsoft.com/office/drawing/2014/main" val="437322281"/>
                  </a:ext>
                </a:extLst>
              </a:tr>
              <a:tr h="370840">
                <a:tc>
                  <a:txBody>
                    <a:bodyPr/>
                    <a:lstStyle/>
                    <a:p>
                      <a:r>
                        <a:rPr lang="en-IN" dirty="0"/>
                        <a:t>Cost</a:t>
                      </a:r>
                    </a:p>
                  </a:txBody>
                  <a:tcPr/>
                </a:tc>
                <a:tc>
                  <a:txBody>
                    <a:bodyPr/>
                    <a:lstStyle/>
                    <a:p>
                      <a:r>
                        <a:rPr lang="en-IN" dirty="0"/>
                        <a:t>0.513</a:t>
                      </a:r>
                    </a:p>
                  </a:txBody>
                  <a:tcPr/>
                </a:tc>
                <a:tc>
                  <a:txBody>
                    <a:bodyPr/>
                    <a:lstStyle/>
                    <a:p>
                      <a:r>
                        <a:rPr lang="en-IN" dirty="0"/>
                        <a:t>0.462</a:t>
                      </a:r>
                    </a:p>
                  </a:txBody>
                  <a:tcPr/>
                </a:tc>
                <a:tc>
                  <a:txBody>
                    <a:bodyPr/>
                    <a:lstStyle/>
                    <a:p>
                      <a:r>
                        <a:rPr lang="en-IN" dirty="0"/>
                        <a:t>0.428</a:t>
                      </a:r>
                    </a:p>
                  </a:txBody>
                  <a:tcPr/>
                </a:tc>
                <a:tc>
                  <a:txBody>
                    <a:bodyPr/>
                    <a:lstStyle/>
                    <a:p>
                      <a:r>
                        <a:rPr lang="en-IN" dirty="0"/>
                        <a:t>0.352</a:t>
                      </a:r>
                    </a:p>
                  </a:txBody>
                  <a:tcPr/>
                </a:tc>
                <a:tc>
                  <a:txBody>
                    <a:bodyPr/>
                    <a:lstStyle/>
                    <a:p>
                      <a:r>
                        <a:rPr lang="en-IN" dirty="0"/>
                        <a:t>0.333</a:t>
                      </a:r>
                    </a:p>
                  </a:txBody>
                  <a:tcPr/>
                </a:tc>
                <a:tc>
                  <a:txBody>
                    <a:bodyPr/>
                    <a:lstStyle/>
                    <a:p>
                      <a:r>
                        <a:rPr lang="en-IN" dirty="0"/>
                        <a:t>0.417</a:t>
                      </a:r>
                    </a:p>
                  </a:txBody>
                  <a:tcPr/>
                </a:tc>
                <a:extLst>
                  <a:ext uri="{0D108BD9-81ED-4DB2-BD59-A6C34878D82A}">
                    <a16:rowId xmlns:a16="http://schemas.microsoft.com/office/drawing/2014/main" val="244330607"/>
                  </a:ext>
                </a:extLst>
              </a:tr>
              <a:tr h="370840">
                <a:tc>
                  <a:txBody>
                    <a:bodyPr/>
                    <a:lstStyle/>
                    <a:p>
                      <a:r>
                        <a:rPr lang="en-IN" dirty="0"/>
                        <a:t>Fabrication</a:t>
                      </a:r>
                    </a:p>
                  </a:txBody>
                  <a:tcPr/>
                </a:tc>
                <a:tc>
                  <a:txBody>
                    <a:bodyPr/>
                    <a:lstStyle/>
                    <a:p>
                      <a:r>
                        <a:rPr lang="en-IN" dirty="0"/>
                        <a:t>0.206</a:t>
                      </a:r>
                    </a:p>
                  </a:txBody>
                  <a:tcPr/>
                </a:tc>
                <a:tc>
                  <a:txBody>
                    <a:bodyPr/>
                    <a:lstStyle/>
                    <a:p>
                      <a:r>
                        <a:rPr lang="en-IN" dirty="0"/>
                        <a:t>0.231</a:t>
                      </a:r>
                    </a:p>
                  </a:txBody>
                  <a:tcPr/>
                </a:tc>
                <a:tc>
                  <a:txBody>
                    <a:bodyPr/>
                    <a:lstStyle/>
                    <a:p>
                      <a:r>
                        <a:rPr lang="en-IN" dirty="0"/>
                        <a:t>0.285</a:t>
                      </a:r>
                    </a:p>
                  </a:txBody>
                  <a:tcPr/>
                </a:tc>
                <a:tc>
                  <a:txBody>
                    <a:bodyPr/>
                    <a:lstStyle/>
                    <a:p>
                      <a:r>
                        <a:rPr lang="en-IN" dirty="0"/>
                        <a:t>0.235</a:t>
                      </a:r>
                    </a:p>
                  </a:txBody>
                  <a:tcPr/>
                </a:tc>
                <a:tc>
                  <a:txBody>
                    <a:bodyPr/>
                    <a:lstStyle/>
                    <a:p>
                      <a:r>
                        <a:rPr lang="en-IN" dirty="0"/>
                        <a:t>0.25</a:t>
                      </a:r>
                    </a:p>
                  </a:txBody>
                  <a:tcPr/>
                </a:tc>
                <a:tc>
                  <a:txBody>
                    <a:bodyPr/>
                    <a:lstStyle/>
                    <a:p>
                      <a:r>
                        <a:rPr lang="en-IN" dirty="0"/>
                        <a:t>0.241</a:t>
                      </a:r>
                    </a:p>
                  </a:txBody>
                  <a:tcPr/>
                </a:tc>
                <a:extLst>
                  <a:ext uri="{0D108BD9-81ED-4DB2-BD59-A6C34878D82A}">
                    <a16:rowId xmlns:a16="http://schemas.microsoft.com/office/drawing/2014/main" val="4102930370"/>
                  </a:ext>
                </a:extLst>
              </a:tr>
              <a:tr h="370840">
                <a:tc>
                  <a:txBody>
                    <a:bodyPr/>
                    <a:lstStyle/>
                    <a:p>
                      <a:r>
                        <a:rPr lang="en-IN" dirty="0"/>
                        <a:t>Performance</a:t>
                      </a:r>
                    </a:p>
                  </a:txBody>
                  <a:tcPr/>
                </a:tc>
                <a:tc>
                  <a:txBody>
                    <a:bodyPr/>
                    <a:lstStyle/>
                    <a:p>
                      <a:r>
                        <a:rPr lang="en-IN" dirty="0"/>
                        <a:t>0.137</a:t>
                      </a:r>
                    </a:p>
                  </a:txBody>
                  <a:tcPr/>
                </a:tc>
                <a:tc>
                  <a:txBody>
                    <a:bodyPr/>
                    <a:lstStyle/>
                    <a:p>
                      <a:r>
                        <a:rPr lang="en-IN" dirty="0"/>
                        <a:t>0.115</a:t>
                      </a:r>
                    </a:p>
                  </a:txBody>
                  <a:tcPr/>
                </a:tc>
                <a:tc>
                  <a:txBody>
                    <a:bodyPr/>
                    <a:lstStyle/>
                    <a:p>
                      <a:r>
                        <a:rPr lang="en-IN" dirty="0"/>
                        <a:t>0.142</a:t>
                      </a:r>
                    </a:p>
                  </a:txBody>
                  <a:tcPr/>
                </a:tc>
                <a:tc>
                  <a:txBody>
                    <a:bodyPr/>
                    <a:lstStyle/>
                    <a:p>
                      <a:r>
                        <a:rPr lang="en-IN" dirty="0"/>
                        <a:t>0.235</a:t>
                      </a:r>
                    </a:p>
                  </a:txBody>
                  <a:tcPr/>
                </a:tc>
                <a:tc>
                  <a:txBody>
                    <a:bodyPr/>
                    <a:lstStyle/>
                    <a:p>
                      <a:r>
                        <a:rPr lang="en-IN" dirty="0"/>
                        <a:t>0.166</a:t>
                      </a:r>
                    </a:p>
                  </a:txBody>
                  <a:tcPr/>
                </a:tc>
                <a:tc>
                  <a:txBody>
                    <a:bodyPr/>
                    <a:lstStyle/>
                    <a:p>
                      <a:r>
                        <a:rPr lang="en-IN" dirty="0"/>
                        <a:t>0.159</a:t>
                      </a:r>
                    </a:p>
                  </a:txBody>
                  <a:tcPr/>
                </a:tc>
                <a:extLst>
                  <a:ext uri="{0D108BD9-81ED-4DB2-BD59-A6C34878D82A}">
                    <a16:rowId xmlns:a16="http://schemas.microsoft.com/office/drawing/2014/main" val="1109040941"/>
                  </a:ext>
                </a:extLst>
              </a:tr>
              <a:tr h="370840">
                <a:tc>
                  <a:txBody>
                    <a:bodyPr/>
                    <a:lstStyle/>
                    <a:p>
                      <a:r>
                        <a:rPr lang="en-IN" dirty="0"/>
                        <a:t>Comfort</a:t>
                      </a:r>
                    </a:p>
                  </a:txBody>
                  <a:tcPr/>
                </a:tc>
                <a:tc>
                  <a:txBody>
                    <a:bodyPr/>
                    <a:lstStyle/>
                    <a:p>
                      <a:r>
                        <a:rPr lang="en-IN" dirty="0"/>
                        <a:t>0.137</a:t>
                      </a:r>
                    </a:p>
                  </a:txBody>
                  <a:tcPr/>
                </a:tc>
                <a:tc>
                  <a:txBody>
                    <a:bodyPr/>
                    <a:lstStyle/>
                    <a:p>
                      <a:r>
                        <a:rPr lang="en-IN" dirty="0"/>
                        <a:t>0.115</a:t>
                      </a:r>
                    </a:p>
                  </a:txBody>
                  <a:tcPr/>
                </a:tc>
                <a:tc>
                  <a:txBody>
                    <a:bodyPr/>
                    <a:lstStyle/>
                    <a:p>
                      <a:r>
                        <a:rPr lang="en-IN" dirty="0"/>
                        <a:t>0.071</a:t>
                      </a:r>
                    </a:p>
                  </a:txBody>
                  <a:tcPr/>
                </a:tc>
                <a:tc>
                  <a:txBody>
                    <a:bodyPr/>
                    <a:lstStyle/>
                    <a:p>
                      <a:r>
                        <a:rPr lang="en-IN" dirty="0"/>
                        <a:t>0.117</a:t>
                      </a:r>
                    </a:p>
                  </a:txBody>
                  <a:tcPr/>
                </a:tc>
                <a:tc>
                  <a:txBody>
                    <a:bodyPr/>
                    <a:lstStyle/>
                    <a:p>
                      <a:r>
                        <a:rPr lang="en-IN" dirty="0"/>
                        <a:t>0.166</a:t>
                      </a:r>
                    </a:p>
                  </a:txBody>
                  <a:tcPr/>
                </a:tc>
                <a:tc>
                  <a:txBody>
                    <a:bodyPr/>
                    <a:lstStyle/>
                    <a:p>
                      <a:r>
                        <a:rPr lang="en-IN" dirty="0"/>
                        <a:t>0.121</a:t>
                      </a:r>
                    </a:p>
                  </a:txBody>
                  <a:tcPr/>
                </a:tc>
                <a:extLst>
                  <a:ext uri="{0D108BD9-81ED-4DB2-BD59-A6C34878D82A}">
                    <a16:rowId xmlns:a16="http://schemas.microsoft.com/office/drawing/2014/main" val="2761959829"/>
                  </a:ext>
                </a:extLst>
              </a:tr>
              <a:tr h="370840">
                <a:tc>
                  <a:txBody>
                    <a:bodyPr/>
                    <a:lstStyle/>
                    <a:p>
                      <a:r>
                        <a:rPr lang="en-IN" dirty="0"/>
                        <a:t>Complexity</a:t>
                      </a:r>
                    </a:p>
                  </a:txBody>
                  <a:tcPr/>
                </a:tc>
                <a:tc>
                  <a:txBody>
                    <a:bodyPr/>
                    <a:lstStyle/>
                    <a:p>
                      <a:r>
                        <a:rPr lang="en-IN" dirty="0"/>
                        <a:t>0.103</a:t>
                      </a:r>
                    </a:p>
                  </a:txBody>
                  <a:tcPr/>
                </a:tc>
                <a:tc>
                  <a:txBody>
                    <a:bodyPr/>
                    <a:lstStyle/>
                    <a:p>
                      <a:r>
                        <a:rPr lang="en-IN" dirty="0"/>
                        <a:t>0.076</a:t>
                      </a:r>
                    </a:p>
                  </a:txBody>
                  <a:tcPr/>
                </a:tc>
                <a:tc>
                  <a:txBody>
                    <a:bodyPr/>
                    <a:lstStyle/>
                    <a:p>
                      <a:r>
                        <a:rPr lang="en-IN" dirty="0"/>
                        <a:t>0.071</a:t>
                      </a:r>
                    </a:p>
                  </a:txBody>
                  <a:tcPr/>
                </a:tc>
                <a:tc>
                  <a:txBody>
                    <a:bodyPr/>
                    <a:lstStyle/>
                    <a:p>
                      <a:r>
                        <a:rPr lang="en-IN" dirty="0"/>
                        <a:t>0.058</a:t>
                      </a:r>
                    </a:p>
                  </a:txBody>
                  <a:tcPr/>
                </a:tc>
                <a:tc>
                  <a:txBody>
                    <a:bodyPr/>
                    <a:lstStyle/>
                    <a:p>
                      <a:r>
                        <a:rPr lang="en-IN" dirty="0"/>
                        <a:t>0.083</a:t>
                      </a:r>
                    </a:p>
                  </a:txBody>
                  <a:tcPr/>
                </a:tc>
                <a:tc>
                  <a:txBody>
                    <a:bodyPr/>
                    <a:lstStyle/>
                    <a:p>
                      <a:r>
                        <a:rPr lang="en-IN" dirty="0"/>
                        <a:t>0.064</a:t>
                      </a:r>
                    </a:p>
                  </a:txBody>
                  <a:tcPr/>
                </a:tc>
                <a:extLst>
                  <a:ext uri="{0D108BD9-81ED-4DB2-BD59-A6C34878D82A}">
                    <a16:rowId xmlns:a16="http://schemas.microsoft.com/office/drawing/2014/main" val="2380565489"/>
                  </a:ext>
                </a:extLst>
              </a:tr>
            </a:tbl>
          </a:graphicData>
        </a:graphic>
      </p:graphicFrame>
      <p:sp>
        <p:nvSpPr>
          <p:cNvPr id="5" name="TextBox 4">
            <a:extLst>
              <a:ext uri="{FF2B5EF4-FFF2-40B4-BE49-F238E27FC236}">
                <a16:creationId xmlns:a16="http://schemas.microsoft.com/office/drawing/2014/main" id="{80A9E116-4D70-6179-2924-F8B2F627E867}"/>
              </a:ext>
            </a:extLst>
          </p:cNvPr>
          <p:cNvSpPr txBox="1"/>
          <p:nvPr/>
        </p:nvSpPr>
        <p:spPr>
          <a:xfrm>
            <a:off x="612742" y="1378598"/>
            <a:ext cx="2488677" cy="523220"/>
          </a:xfrm>
          <a:prstGeom prst="rect">
            <a:avLst/>
          </a:prstGeom>
          <a:noFill/>
        </p:spPr>
        <p:txBody>
          <a:bodyPr wrap="square" rtlCol="0">
            <a:spAutoFit/>
          </a:bodyPr>
          <a:lstStyle/>
          <a:p>
            <a:r>
              <a:rPr lang="en-IN" sz="2800" b="1" dirty="0"/>
              <a:t>Priority vector</a:t>
            </a:r>
          </a:p>
        </p:txBody>
      </p:sp>
    </p:spTree>
    <p:extLst>
      <p:ext uri="{BB962C8B-B14F-4D97-AF65-F5344CB8AC3E}">
        <p14:creationId xmlns:p14="http://schemas.microsoft.com/office/powerpoint/2010/main" val="32999690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60C20BA6-A0AB-ABEA-27AB-BFFBD77BF5F5}"/>
              </a:ext>
            </a:extLst>
          </p:cNvPr>
          <p:cNvGraphicFramePr>
            <a:graphicFrameLocks noGrp="1"/>
          </p:cNvGraphicFramePr>
          <p:nvPr>
            <p:ph idx="1"/>
            <p:extLst>
              <p:ext uri="{D42A27DB-BD31-4B8C-83A1-F6EECF244321}">
                <p14:modId xmlns:p14="http://schemas.microsoft.com/office/powerpoint/2010/main" val="439756259"/>
              </p:ext>
            </p:extLst>
          </p:nvPr>
        </p:nvGraphicFramePr>
        <p:xfrm>
          <a:off x="772212" y="1535087"/>
          <a:ext cx="10515600" cy="148336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3969309865"/>
                    </a:ext>
                  </a:extLst>
                </a:gridCol>
                <a:gridCol w="2628900">
                  <a:extLst>
                    <a:ext uri="{9D8B030D-6E8A-4147-A177-3AD203B41FA5}">
                      <a16:colId xmlns:a16="http://schemas.microsoft.com/office/drawing/2014/main" val="2591590954"/>
                    </a:ext>
                  </a:extLst>
                </a:gridCol>
                <a:gridCol w="2628900">
                  <a:extLst>
                    <a:ext uri="{9D8B030D-6E8A-4147-A177-3AD203B41FA5}">
                      <a16:colId xmlns:a16="http://schemas.microsoft.com/office/drawing/2014/main" val="1757761289"/>
                    </a:ext>
                  </a:extLst>
                </a:gridCol>
                <a:gridCol w="2628900">
                  <a:extLst>
                    <a:ext uri="{9D8B030D-6E8A-4147-A177-3AD203B41FA5}">
                      <a16:colId xmlns:a16="http://schemas.microsoft.com/office/drawing/2014/main" val="1021940356"/>
                    </a:ext>
                  </a:extLst>
                </a:gridCol>
              </a:tblGrid>
              <a:tr h="370840">
                <a:tc>
                  <a:txBody>
                    <a:bodyPr/>
                    <a:lstStyle/>
                    <a:p>
                      <a:r>
                        <a:rPr lang="en-IN" dirty="0"/>
                        <a:t>Cost</a:t>
                      </a:r>
                    </a:p>
                  </a:txBody>
                  <a:tcPr/>
                </a:tc>
                <a:tc>
                  <a:txBody>
                    <a:bodyPr/>
                    <a:lstStyle/>
                    <a:p>
                      <a:r>
                        <a:rPr lang="en-IN" dirty="0"/>
                        <a:t>C1</a:t>
                      </a:r>
                    </a:p>
                  </a:txBody>
                  <a:tcPr/>
                </a:tc>
                <a:tc>
                  <a:txBody>
                    <a:bodyPr/>
                    <a:lstStyle/>
                    <a:p>
                      <a:r>
                        <a:rPr lang="en-IN" dirty="0"/>
                        <a:t>C2</a:t>
                      </a:r>
                    </a:p>
                  </a:txBody>
                  <a:tcPr/>
                </a:tc>
                <a:tc>
                  <a:txBody>
                    <a:bodyPr/>
                    <a:lstStyle/>
                    <a:p>
                      <a:r>
                        <a:rPr lang="en-IN" dirty="0"/>
                        <a:t>C3</a:t>
                      </a:r>
                    </a:p>
                  </a:txBody>
                  <a:tcPr/>
                </a:tc>
                <a:extLst>
                  <a:ext uri="{0D108BD9-81ED-4DB2-BD59-A6C34878D82A}">
                    <a16:rowId xmlns:a16="http://schemas.microsoft.com/office/drawing/2014/main" val="1215612429"/>
                  </a:ext>
                </a:extLst>
              </a:tr>
              <a:tr h="370840">
                <a:tc>
                  <a:txBody>
                    <a:bodyPr/>
                    <a:lstStyle/>
                    <a:p>
                      <a:r>
                        <a:rPr lang="en-IN" dirty="0"/>
                        <a:t>C1</a:t>
                      </a:r>
                    </a:p>
                  </a:txBody>
                  <a:tcPr/>
                </a:tc>
                <a:tc>
                  <a:txBody>
                    <a:bodyPr/>
                    <a:lstStyle/>
                    <a:p>
                      <a:r>
                        <a:rPr lang="en-IN" dirty="0"/>
                        <a:t>1</a:t>
                      </a:r>
                    </a:p>
                  </a:txBody>
                  <a:tcPr/>
                </a:tc>
                <a:tc>
                  <a:txBody>
                    <a:bodyPr/>
                    <a:lstStyle/>
                    <a:p>
                      <a:r>
                        <a:rPr lang="en-IN" dirty="0"/>
                        <a:t>3</a:t>
                      </a:r>
                    </a:p>
                  </a:txBody>
                  <a:tcPr/>
                </a:tc>
                <a:tc>
                  <a:txBody>
                    <a:bodyPr/>
                    <a:lstStyle/>
                    <a:p>
                      <a:r>
                        <a:rPr lang="en-IN" dirty="0"/>
                        <a:t>5</a:t>
                      </a:r>
                    </a:p>
                  </a:txBody>
                  <a:tcPr/>
                </a:tc>
                <a:extLst>
                  <a:ext uri="{0D108BD9-81ED-4DB2-BD59-A6C34878D82A}">
                    <a16:rowId xmlns:a16="http://schemas.microsoft.com/office/drawing/2014/main" val="1297337390"/>
                  </a:ext>
                </a:extLst>
              </a:tr>
              <a:tr h="370840">
                <a:tc>
                  <a:txBody>
                    <a:bodyPr/>
                    <a:lstStyle/>
                    <a:p>
                      <a:r>
                        <a:rPr lang="en-IN" dirty="0"/>
                        <a:t>C2</a:t>
                      </a:r>
                    </a:p>
                  </a:txBody>
                  <a:tcPr/>
                </a:tc>
                <a:tc>
                  <a:txBody>
                    <a:bodyPr/>
                    <a:lstStyle/>
                    <a:p>
                      <a:r>
                        <a:rPr lang="en-IN" dirty="0"/>
                        <a:t>1/3</a:t>
                      </a:r>
                    </a:p>
                  </a:txBody>
                  <a:tcPr/>
                </a:tc>
                <a:tc>
                  <a:txBody>
                    <a:bodyPr/>
                    <a:lstStyle/>
                    <a:p>
                      <a:r>
                        <a:rPr lang="en-IN" dirty="0"/>
                        <a:t>1</a:t>
                      </a:r>
                    </a:p>
                  </a:txBody>
                  <a:tcPr/>
                </a:tc>
                <a:tc>
                  <a:txBody>
                    <a:bodyPr/>
                    <a:lstStyle/>
                    <a:p>
                      <a:r>
                        <a:rPr lang="en-IN" dirty="0"/>
                        <a:t>3</a:t>
                      </a:r>
                    </a:p>
                  </a:txBody>
                  <a:tcPr/>
                </a:tc>
                <a:extLst>
                  <a:ext uri="{0D108BD9-81ED-4DB2-BD59-A6C34878D82A}">
                    <a16:rowId xmlns:a16="http://schemas.microsoft.com/office/drawing/2014/main" val="2514218213"/>
                  </a:ext>
                </a:extLst>
              </a:tr>
              <a:tr h="370840">
                <a:tc>
                  <a:txBody>
                    <a:bodyPr/>
                    <a:lstStyle/>
                    <a:p>
                      <a:r>
                        <a:rPr lang="en-IN" dirty="0"/>
                        <a:t>C3</a:t>
                      </a:r>
                    </a:p>
                  </a:txBody>
                  <a:tcPr/>
                </a:tc>
                <a:tc>
                  <a:txBody>
                    <a:bodyPr/>
                    <a:lstStyle/>
                    <a:p>
                      <a:r>
                        <a:rPr lang="en-IN" dirty="0"/>
                        <a:t>1/5</a:t>
                      </a:r>
                    </a:p>
                  </a:txBody>
                  <a:tcPr/>
                </a:tc>
                <a:tc>
                  <a:txBody>
                    <a:bodyPr/>
                    <a:lstStyle/>
                    <a:p>
                      <a:r>
                        <a:rPr lang="en-IN" dirty="0"/>
                        <a:t>1/3</a:t>
                      </a:r>
                    </a:p>
                  </a:txBody>
                  <a:tcPr/>
                </a:tc>
                <a:tc>
                  <a:txBody>
                    <a:bodyPr/>
                    <a:lstStyle/>
                    <a:p>
                      <a:r>
                        <a:rPr lang="en-IN" dirty="0"/>
                        <a:t>1</a:t>
                      </a:r>
                    </a:p>
                  </a:txBody>
                  <a:tcPr/>
                </a:tc>
                <a:extLst>
                  <a:ext uri="{0D108BD9-81ED-4DB2-BD59-A6C34878D82A}">
                    <a16:rowId xmlns:a16="http://schemas.microsoft.com/office/drawing/2014/main" val="2802241130"/>
                  </a:ext>
                </a:extLst>
              </a:tr>
            </a:tbl>
          </a:graphicData>
        </a:graphic>
      </p:graphicFrame>
      <p:graphicFrame>
        <p:nvGraphicFramePr>
          <p:cNvPr id="5" name="Table 4">
            <a:extLst>
              <a:ext uri="{FF2B5EF4-FFF2-40B4-BE49-F238E27FC236}">
                <a16:creationId xmlns:a16="http://schemas.microsoft.com/office/drawing/2014/main" id="{FB554C57-2253-9883-F55F-A212E5DADE9A}"/>
              </a:ext>
            </a:extLst>
          </p:cNvPr>
          <p:cNvGraphicFramePr>
            <a:graphicFrameLocks noGrp="1"/>
          </p:cNvGraphicFramePr>
          <p:nvPr>
            <p:extLst>
              <p:ext uri="{D42A27DB-BD31-4B8C-83A1-F6EECF244321}">
                <p14:modId xmlns:p14="http://schemas.microsoft.com/office/powerpoint/2010/main" val="2908275696"/>
              </p:ext>
            </p:extLst>
          </p:nvPr>
        </p:nvGraphicFramePr>
        <p:xfrm>
          <a:off x="772212" y="3311847"/>
          <a:ext cx="10515600" cy="1590284"/>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4236151765"/>
                    </a:ext>
                  </a:extLst>
                </a:gridCol>
                <a:gridCol w="2628900">
                  <a:extLst>
                    <a:ext uri="{9D8B030D-6E8A-4147-A177-3AD203B41FA5}">
                      <a16:colId xmlns:a16="http://schemas.microsoft.com/office/drawing/2014/main" val="2668424080"/>
                    </a:ext>
                  </a:extLst>
                </a:gridCol>
                <a:gridCol w="2628900">
                  <a:extLst>
                    <a:ext uri="{9D8B030D-6E8A-4147-A177-3AD203B41FA5}">
                      <a16:colId xmlns:a16="http://schemas.microsoft.com/office/drawing/2014/main" val="3099869219"/>
                    </a:ext>
                  </a:extLst>
                </a:gridCol>
                <a:gridCol w="2628900">
                  <a:extLst>
                    <a:ext uri="{9D8B030D-6E8A-4147-A177-3AD203B41FA5}">
                      <a16:colId xmlns:a16="http://schemas.microsoft.com/office/drawing/2014/main" val="124706589"/>
                    </a:ext>
                  </a:extLst>
                </a:gridCol>
              </a:tblGrid>
              <a:tr h="477764">
                <a:tc>
                  <a:txBody>
                    <a:bodyPr/>
                    <a:lstStyle/>
                    <a:p>
                      <a:r>
                        <a:rPr lang="en-IN" dirty="0"/>
                        <a:t>Fabrication</a:t>
                      </a:r>
                    </a:p>
                  </a:txBody>
                  <a:tcPr/>
                </a:tc>
                <a:tc>
                  <a:txBody>
                    <a:bodyPr/>
                    <a:lstStyle/>
                    <a:p>
                      <a:r>
                        <a:rPr lang="en-IN" dirty="0"/>
                        <a:t>C1</a:t>
                      </a:r>
                    </a:p>
                  </a:txBody>
                  <a:tcPr/>
                </a:tc>
                <a:tc>
                  <a:txBody>
                    <a:bodyPr/>
                    <a:lstStyle/>
                    <a:p>
                      <a:r>
                        <a:rPr lang="en-IN" dirty="0"/>
                        <a:t>C2</a:t>
                      </a:r>
                    </a:p>
                  </a:txBody>
                  <a:tcPr/>
                </a:tc>
                <a:tc>
                  <a:txBody>
                    <a:bodyPr/>
                    <a:lstStyle/>
                    <a:p>
                      <a:r>
                        <a:rPr lang="en-IN" dirty="0"/>
                        <a:t>C3</a:t>
                      </a:r>
                    </a:p>
                  </a:txBody>
                  <a:tcPr/>
                </a:tc>
                <a:extLst>
                  <a:ext uri="{0D108BD9-81ED-4DB2-BD59-A6C34878D82A}">
                    <a16:rowId xmlns:a16="http://schemas.microsoft.com/office/drawing/2014/main" val="3278495605"/>
                  </a:ext>
                </a:extLst>
              </a:tr>
              <a:tr h="370840">
                <a:tc>
                  <a:txBody>
                    <a:bodyPr/>
                    <a:lstStyle/>
                    <a:p>
                      <a:r>
                        <a:rPr lang="en-IN" dirty="0"/>
                        <a:t>C1</a:t>
                      </a:r>
                    </a:p>
                  </a:txBody>
                  <a:tcPr/>
                </a:tc>
                <a:tc>
                  <a:txBody>
                    <a:bodyPr/>
                    <a:lstStyle/>
                    <a:p>
                      <a:r>
                        <a:rPr lang="en-IN" dirty="0"/>
                        <a:t>1</a:t>
                      </a:r>
                    </a:p>
                  </a:txBody>
                  <a:tcPr/>
                </a:tc>
                <a:tc>
                  <a:txBody>
                    <a:bodyPr/>
                    <a:lstStyle/>
                    <a:p>
                      <a:r>
                        <a:rPr lang="en-IN" dirty="0"/>
                        <a:t>4</a:t>
                      </a:r>
                    </a:p>
                  </a:txBody>
                  <a:tcPr/>
                </a:tc>
                <a:tc>
                  <a:txBody>
                    <a:bodyPr/>
                    <a:lstStyle/>
                    <a:p>
                      <a:r>
                        <a:rPr lang="en-IN" dirty="0"/>
                        <a:t>5</a:t>
                      </a:r>
                    </a:p>
                  </a:txBody>
                  <a:tcPr/>
                </a:tc>
                <a:extLst>
                  <a:ext uri="{0D108BD9-81ED-4DB2-BD59-A6C34878D82A}">
                    <a16:rowId xmlns:a16="http://schemas.microsoft.com/office/drawing/2014/main" val="1137379519"/>
                  </a:ext>
                </a:extLst>
              </a:tr>
              <a:tr h="370840">
                <a:tc>
                  <a:txBody>
                    <a:bodyPr/>
                    <a:lstStyle/>
                    <a:p>
                      <a:r>
                        <a:rPr lang="en-IN" dirty="0"/>
                        <a:t>C2</a:t>
                      </a:r>
                    </a:p>
                  </a:txBody>
                  <a:tcPr/>
                </a:tc>
                <a:tc>
                  <a:txBody>
                    <a:bodyPr/>
                    <a:lstStyle/>
                    <a:p>
                      <a:r>
                        <a:rPr lang="en-IN" dirty="0"/>
                        <a:t>1/4</a:t>
                      </a:r>
                    </a:p>
                  </a:txBody>
                  <a:tcPr/>
                </a:tc>
                <a:tc>
                  <a:txBody>
                    <a:bodyPr/>
                    <a:lstStyle/>
                    <a:p>
                      <a:r>
                        <a:rPr lang="en-IN" dirty="0"/>
                        <a:t>1</a:t>
                      </a:r>
                    </a:p>
                  </a:txBody>
                  <a:tcPr/>
                </a:tc>
                <a:tc>
                  <a:txBody>
                    <a:bodyPr/>
                    <a:lstStyle/>
                    <a:p>
                      <a:r>
                        <a:rPr lang="en-IN" dirty="0"/>
                        <a:t>3</a:t>
                      </a:r>
                    </a:p>
                  </a:txBody>
                  <a:tcPr/>
                </a:tc>
                <a:extLst>
                  <a:ext uri="{0D108BD9-81ED-4DB2-BD59-A6C34878D82A}">
                    <a16:rowId xmlns:a16="http://schemas.microsoft.com/office/drawing/2014/main" val="1086100717"/>
                  </a:ext>
                </a:extLst>
              </a:tr>
              <a:tr h="370840">
                <a:tc>
                  <a:txBody>
                    <a:bodyPr/>
                    <a:lstStyle/>
                    <a:p>
                      <a:r>
                        <a:rPr lang="en-IN" dirty="0"/>
                        <a:t>C3</a:t>
                      </a:r>
                    </a:p>
                  </a:txBody>
                  <a:tcPr/>
                </a:tc>
                <a:tc>
                  <a:txBody>
                    <a:bodyPr/>
                    <a:lstStyle/>
                    <a:p>
                      <a:r>
                        <a:rPr lang="en-IN" dirty="0"/>
                        <a:t>1/5</a:t>
                      </a:r>
                    </a:p>
                  </a:txBody>
                  <a:tcPr/>
                </a:tc>
                <a:tc>
                  <a:txBody>
                    <a:bodyPr/>
                    <a:lstStyle/>
                    <a:p>
                      <a:r>
                        <a:rPr lang="en-IN" dirty="0"/>
                        <a:t>1/3</a:t>
                      </a:r>
                    </a:p>
                  </a:txBody>
                  <a:tcPr/>
                </a:tc>
                <a:tc>
                  <a:txBody>
                    <a:bodyPr/>
                    <a:lstStyle/>
                    <a:p>
                      <a:r>
                        <a:rPr lang="en-IN" dirty="0"/>
                        <a:t>1</a:t>
                      </a:r>
                    </a:p>
                  </a:txBody>
                  <a:tcPr/>
                </a:tc>
                <a:extLst>
                  <a:ext uri="{0D108BD9-81ED-4DB2-BD59-A6C34878D82A}">
                    <a16:rowId xmlns:a16="http://schemas.microsoft.com/office/drawing/2014/main" val="218729428"/>
                  </a:ext>
                </a:extLst>
              </a:tr>
            </a:tbl>
          </a:graphicData>
        </a:graphic>
      </p:graphicFrame>
      <p:graphicFrame>
        <p:nvGraphicFramePr>
          <p:cNvPr id="6" name="Table 5">
            <a:extLst>
              <a:ext uri="{FF2B5EF4-FFF2-40B4-BE49-F238E27FC236}">
                <a16:creationId xmlns:a16="http://schemas.microsoft.com/office/drawing/2014/main" id="{FC51474C-3078-8A92-0C10-08CFB3C3F31F}"/>
              </a:ext>
            </a:extLst>
          </p:cNvPr>
          <p:cNvGraphicFramePr>
            <a:graphicFrameLocks noGrp="1"/>
          </p:cNvGraphicFramePr>
          <p:nvPr>
            <p:extLst>
              <p:ext uri="{D42A27DB-BD31-4B8C-83A1-F6EECF244321}">
                <p14:modId xmlns:p14="http://schemas.microsoft.com/office/powerpoint/2010/main" val="3056345490"/>
              </p:ext>
            </p:extLst>
          </p:nvPr>
        </p:nvGraphicFramePr>
        <p:xfrm>
          <a:off x="772211" y="5195531"/>
          <a:ext cx="10515604" cy="1483360"/>
        </p:xfrm>
        <a:graphic>
          <a:graphicData uri="http://schemas.openxmlformats.org/drawingml/2006/table">
            <a:tbl>
              <a:tblPr firstRow="1" bandRow="1">
                <a:tableStyleId>{5C22544A-7EE6-4342-B048-85BDC9FD1C3A}</a:tableStyleId>
              </a:tblPr>
              <a:tblGrid>
                <a:gridCol w="2628901">
                  <a:extLst>
                    <a:ext uri="{9D8B030D-6E8A-4147-A177-3AD203B41FA5}">
                      <a16:colId xmlns:a16="http://schemas.microsoft.com/office/drawing/2014/main" val="394138810"/>
                    </a:ext>
                  </a:extLst>
                </a:gridCol>
                <a:gridCol w="2628901">
                  <a:extLst>
                    <a:ext uri="{9D8B030D-6E8A-4147-A177-3AD203B41FA5}">
                      <a16:colId xmlns:a16="http://schemas.microsoft.com/office/drawing/2014/main" val="2754524098"/>
                    </a:ext>
                  </a:extLst>
                </a:gridCol>
                <a:gridCol w="2628901">
                  <a:extLst>
                    <a:ext uri="{9D8B030D-6E8A-4147-A177-3AD203B41FA5}">
                      <a16:colId xmlns:a16="http://schemas.microsoft.com/office/drawing/2014/main" val="4172618672"/>
                    </a:ext>
                  </a:extLst>
                </a:gridCol>
                <a:gridCol w="2628901">
                  <a:extLst>
                    <a:ext uri="{9D8B030D-6E8A-4147-A177-3AD203B41FA5}">
                      <a16:colId xmlns:a16="http://schemas.microsoft.com/office/drawing/2014/main" val="3163576980"/>
                    </a:ext>
                  </a:extLst>
                </a:gridCol>
              </a:tblGrid>
              <a:tr h="370840">
                <a:tc>
                  <a:txBody>
                    <a:bodyPr/>
                    <a:lstStyle/>
                    <a:p>
                      <a:r>
                        <a:rPr lang="en-IN" dirty="0"/>
                        <a:t>Performance</a:t>
                      </a:r>
                    </a:p>
                  </a:txBody>
                  <a:tcPr/>
                </a:tc>
                <a:tc>
                  <a:txBody>
                    <a:bodyPr/>
                    <a:lstStyle/>
                    <a:p>
                      <a:r>
                        <a:rPr lang="en-IN" dirty="0"/>
                        <a:t>C1</a:t>
                      </a:r>
                    </a:p>
                  </a:txBody>
                  <a:tcPr/>
                </a:tc>
                <a:tc>
                  <a:txBody>
                    <a:bodyPr/>
                    <a:lstStyle/>
                    <a:p>
                      <a:r>
                        <a:rPr lang="en-IN" dirty="0"/>
                        <a:t>C2</a:t>
                      </a:r>
                    </a:p>
                  </a:txBody>
                  <a:tcPr/>
                </a:tc>
                <a:tc>
                  <a:txBody>
                    <a:bodyPr/>
                    <a:lstStyle/>
                    <a:p>
                      <a:r>
                        <a:rPr lang="en-IN" dirty="0"/>
                        <a:t>C3</a:t>
                      </a:r>
                    </a:p>
                  </a:txBody>
                  <a:tcPr/>
                </a:tc>
                <a:extLst>
                  <a:ext uri="{0D108BD9-81ED-4DB2-BD59-A6C34878D82A}">
                    <a16:rowId xmlns:a16="http://schemas.microsoft.com/office/drawing/2014/main" val="587447051"/>
                  </a:ext>
                </a:extLst>
              </a:tr>
              <a:tr h="370840">
                <a:tc>
                  <a:txBody>
                    <a:bodyPr/>
                    <a:lstStyle/>
                    <a:p>
                      <a:r>
                        <a:rPr lang="en-IN" dirty="0"/>
                        <a:t>C1</a:t>
                      </a:r>
                    </a:p>
                  </a:txBody>
                  <a:tcPr/>
                </a:tc>
                <a:tc>
                  <a:txBody>
                    <a:bodyPr/>
                    <a:lstStyle/>
                    <a:p>
                      <a:r>
                        <a:rPr lang="en-IN" dirty="0"/>
                        <a:t>1</a:t>
                      </a:r>
                    </a:p>
                  </a:txBody>
                  <a:tcPr/>
                </a:tc>
                <a:tc>
                  <a:txBody>
                    <a:bodyPr/>
                    <a:lstStyle/>
                    <a:p>
                      <a:r>
                        <a:rPr lang="en-IN" dirty="0"/>
                        <a:t>1/3</a:t>
                      </a:r>
                    </a:p>
                  </a:txBody>
                  <a:tcPr/>
                </a:tc>
                <a:tc>
                  <a:txBody>
                    <a:bodyPr/>
                    <a:lstStyle/>
                    <a:p>
                      <a:r>
                        <a:rPr lang="en-IN" dirty="0"/>
                        <a:t>1/5</a:t>
                      </a:r>
                    </a:p>
                  </a:txBody>
                  <a:tcPr/>
                </a:tc>
                <a:extLst>
                  <a:ext uri="{0D108BD9-81ED-4DB2-BD59-A6C34878D82A}">
                    <a16:rowId xmlns:a16="http://schemas.microsoft.com/office/drawing/2014/main" val="1079047218"/>
                  </a:ext>
                </a:extLst>
              </a:tr>
              <a:tr h="370840">
                <a:tc>
                  <a:txBody>
                    <a:bodyPr/>
                    <a:lstStyle/>
                    <a:p>
                      <a:r>
                        <a:rPr lang="en-IN" dirty="0"/>
                        <a:t>C2</a:t>
                      </a:r>
                    </a:p>
                  </a:txBody>
                  <a:tcPr/>
                </a:tc>
                <a:tc>
                  <a:txBody>
                    <a:bodyPr/>
                    <a:lstStyle/>
                    <a:p>
                      <a:r>
                        <a:rPr lang="en-IN" dirty="0"/>
                        <a:t>3</a:t>
                      </a:r>
                    </a:p>
                  </a:txBody>
                  <a:tcPr/>
                </a:tc>
                <a:tc>
                  <a:txBody>
                    <a:bodyPr/>
                    <a:lstStyle/>
                    <a:p>
                      <a:r>
                        <a:rPr lang="en-IN" dirty="0"/>
                        <a:t>1</a:t>
                      </a:r>
                    </a:p>
                  </a:txBody>
                  <a:tcPr/>
                </a:tc>
                <a:tc>
                  <a:txBody>
                    <a:bodyPr/>
                    <a:lstStyle/>
                    <a:p>
                      <a:r>
                        <a:rPr lang="en-IN" dirty="0"/>
                        <a:t>1/3</a:t>
                      </a:r>
                    </a:p>
                  </a:txBody>
                  <a:tcPr/>
                </a:tc>
                <a:extLst>
                  <a:ext uri="{0D108BD9-81ED-4DB2-BD59-A6C34878D82A}">
                    <a16:rowId xmlns:a16="http://schemas.microsoft.com/office/drawing/2014/main" val="1656943184"/>
                  </a:ext>
                </a:extLst>
              </a:tr>
              <a:tr h="370840">
                <a:tc>
                  <a:txBody>
                    <a:bodyPr/>
                    <a:lstStyle/>
                    <a:p>
                      <a:r>
                        <a:rPr lang="en-IN" dirty="0"/>
                        <a:t>C3</a:t>
                      </a:r>
                    </a:p>
                  </a:txBody>
                  <a:tcPr/>
                </a:tc>
                <a:tc>
                  <a:txBody>
                    <a:bodyPr/>
                    <a:lstStyle/>
                    <a:p>
                      <a:r>
                        <a:rPr lang="en-IN" dirty="0"/>
                        <a:t>5</a:t>
                      </a:r>
                    </a:p>
                  </a:txBody>
                  <a:tcPr/>
                </a:tc>
                <a:tc>
                  <a:txBody>
                    <a:bodyPr/>
                    <a:lstStyle/>
                    <a:p>
                      <a:r>
                        <a:rPr lang="en-IN" dirty="0"/>
                        <a:t>3</a:t>
                      </a:r>
                    </a:p>
                  </a:txBody>
                  <a:tcPr/>
                </a:tc>
                <a:tc>
                  <a:txBody>
                    <a:bodyPr/>
                    <a:lstStyle/>
                    <a:p>
                      <a:r>
                        <a:rPr lang="en-IN" dirty="0"/>
                        <a:t>1</a:t>
                      </a:r>
                    </a:p>
                  </a:txBody>
                  <a:tcPr/>
                </a:tc>
                <a:extLst>
                  <a:ext uri="{0D108BD9-81ED-4DB2-BD59-A6C34878D82A}">
                    <a16:rowId xmlns:a16="http://schemas.microsoft.com/office/drawing/2014/main" val="542281606"/>
                  </a:ext>
                </a:extLst>
              </a:tr>
            </a:tbl>
          </a:graphicData>
        </a:graphic>
      </p:graphicFrame>
      <p:sp>
        <p:nvSpPr>
          <p:cNvPr id="7" name="TextBox 6">
            <a:extLst>
              <a:ext uri="{FF2B5EF4-FFF2-40B4-BE49-F238E27FC236}">
                <a16:creationId xmlns:a16="http://schemas.microsoft.com/office/drawing/2014/main" id="{3F33BD59-9223-D2A4-D2DD-53F6879884AC}"/>
              </a:ext>
            </a:extLst>
          </p:cNvPr>
          <p:cNvSpPr txBox="1"/>
          <p:nvPr/>
        </p:nvSpPr>
        <p:spPr>
          <a:xfrm>
            <a:off x="772211" y="575035"/>
            <a:ext cx="10398552" cy="400110"/>
          </a:xfrm>
          <a:prstGeom prst="rect">
            <a:avLst/>
          </a:prstGeom>
          <a:noFill/>
        </p:spPr>
        <p:txBody>
          <a:bodyPr wrap="square" rtlCol="0">
            <a:spAutoFit/>
          </a:bodyPr>
          <a:lstStyle/>
          <a:p>
            <a:r>
              <a:rPr lang="en-IN" sz="2000" b="1" dirty="0"/>
              <a:t>C1: Basic Sensor Chair     C2: Cushion + Display Chair       C3: Advanced Smart IoT Chair</a:t>
            </a:r>
          </a:p>
        </p:txBody>
      </p:sp>
    </p:spTree>
    <p:extLst>
      <p:ext uri="{BB962C8B-B14F-4D97-AF65-F5344CB8AC3E}">
        <p14:creationId xmlns:p14="http://schemas.microsoft.com/office/powerpoint/2010/main" val="37870339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F25A866-5E0F-242D-2646-B1BF388CC83D}"/>
              </a:ext>
            </a:extLst>
          </p:cNvPr>
          <p:cNvGraphicFramePr>
            <a:graphicFrameLocks noGrp="1"/>
          </p:cNvGraphicFramePr>
          <p:nvPr>
            <p:ph idx="1"/>
            <p:extLst>
              <p:ext uri="{D42A27DB-BD31-4B8C-83A1-F6EECF244321}">
                <p14:modId xmlns:p14="http://schemas.microsoft.com/office/powerpoint/2010/main" val="3263145491"/>
              </p:ext>
            </p:extLst>
          </p:nvPr>
        </p:nvGraphicFramePr>
        <p:xfrm>
          <a:off x="838200" y="1825625"/>
          <a:ext cx="10515600" cy="148336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3828904205"/>
                    </a:ext>
                  </a:extLst>
                </a:gridCol>
                <a:gridCol w="2628900">
                  <a:extLst>
                    <a:ext uri="{9D8B030D-6E8A-4147-A177-3AD203B41FA5}">
                      <a16:colId xmlns:a16="http://schemas.microsoft.com/office/drawing/2014/main" val="3085901801"/>
                    </a:ext>
                  </a:extLst>
                </a:gridCol>
                <a:gridCol w="2628900">
                  <a:extLst>
                    <a:ext uri="{9D8B030D-6E8A-4147-A177-3AD203B41FA5}">
                      <a16:colId xmlns:a16="http://schemas.microsoft.com/office/drawing/2014/main" val="2097493720"/>
                    </a:ext>
                  </a:extLst>
                </a:gridCol>
                <a:gridCol w="2628900">
                  <a:extLst>
                    <a:ext uri="{9D8B030D-6E8A-4147-A177-3AD203B41FA5}">
                      <a16:colId xmlns:a16="http://schemas.microsoft.com/office/drawing/2014/main" val="615451346"/>
                    </a:ext>
                  </a:extLst>
                </a:gridCol>
              </a:tblGrid>
              <a:tr h="370840">
                <a:tc>
                  <a:txBody>
                    <a:bodyPr/>
                    <a:lstStyle/>
                    <a:p>
                      <a:r>
                        <a:rPr lang="en-IN" dirty="0"/>
                        <a:t>Comfort</a:t>
                      </a:r>
                    </a:p>
                  </a:txBody>
                  <a:tcPr/>
                </a:tc>
                <a:tc>
                  <a:txBody>
                    <a:bodyPr/>
                    <a:lstStyle/>
                    <a:p>
                      <a:r>
                        <a:rPr lang="en-IN" dirty="0"/>
                        <a:t>C1</a:t>
                      </a:r>
                    </a:p>
                  </a:txBody>
                  <a:tcPr/>
                </a:tc>
                <a:tc>
                  <a:txBody>
                    <a:bodyPr/>
                    <a:lstStyle/>
                    <a:p>
                      <a:r>
                        <a:rPr lang="en-IN" dirty="0"/>
                        <a:t>C2</a:t>
                      </a:r>
                    </a:p>
                  </a:txBody>
                  <a:tcPr/>
                </a:tc>
                <a:tc>
                  <a:txBody>
                    <a:bodyPr/>
                    <a:lstStyle/>
                    <a:p>
                      <a:r>
                        <a:rPr lang="en-IN" dirty="0"/>
                        <a:t>C3</a:t>
                      </a:r>
                    </a:p>
                  </a:txBody>
                  <a:tcPr/>
                </a:tc>
                <a:extLst>
                  <a:ext uri="{0D108BD9-81ED-4DB2-BD59-A6C34878D82A}">
                    <a16:rowId xmlns:a16="http://schemas.microsoft.com/office/drawing/2014/main" val="3788726635"/>
                  </a:ext>
                </a:extLst>
              </a:tr>
              <a:tr h="370840">
                <a:tc>
                  <a:txBody>
                    <a:bodyPr/>
                    <a:lstStyle/>
                    <a:p>
                      <a:r>
                        <a:rPr lang="en-IN" dirty="0"/>
                        <a:t>C1</a:t>
                      </a:r>
                    </a:p>
                  </a:txBody>
                  <a:tcPr/>
                </a:tc>
                <a:tc>
                  <a:txBody>
                    <a:bodyPr/>
                    <a:lstStyle/>
                    <a:p>
                      <a:r>
                        <a:rPr lang="en-IN" dirty="0"/>
                        <a:t>1</a:t>
                      </a:r>
                    </a:p>
                  </a:txBody>
                  <a:tcPr/>
                </a:tc>
                <a:tc>
                  <a:txBody>
                    <a:bodyPr/>
                    <a:lstStyle/>
                    <a:p>
                      <a:r>
                        <a:rPr lang="en-IN" dirty="0"/>
                        <a:t>1/5</a:t>
                      </a:r>
                    </a:p>
                  </a:txBody>
                  <a:tcPr/>
                </a:tc>
                <a:tc>
                  <a:txBody>
                    <a:bodyPr/>
                    <a:lstStyle/>
                    <a:p>
                      <a:r>
                        <a:rPr lang="en-IN" dirty="0"/>
                        <a:t>1/3</a:t>
                      </a:r>
                    </a:p>
                  </a:txBody>
                  <a:tcPr/>
                </a:tc>
                <a:extLst>
                  <a:ext uri="{0D108BD9-81ED-4DB2-BD59-A6C34878D82A}">
                    <a16:rowId xmlns:a16="http://schemas.microsoft.com/office/drawing/2014/main" val="2885366215"/>
                  </a:ext>
                </a:extLst>
              </a:tr>
              <a:tr h="370840">
                <a:tc>
                  <a:txBody>
                    <a:bodyPr/>
                    <a:lstStyle/>
                    <a:p>
                      <a:r>
                        <a:rPr lang="en-IN" dirty="0"/>
                        <a:t>C2</a:t>
                      </a:r>
                    </a:p>
                  </a:txBody>
                  <a:tcPr/>
                </a:tc>
                <a:tc>
                  <a:txBody>
                    <a:bodyPr/>
                    <a:lstStyle/>
                    <a:p>
                      <a:r>
                        <a:rPr lang="en-IN" dirty="0"/>
                        <a:t>5</a:t>
                      </a:r>
                    </a:p>
                  </a:txBody>
                  <a:tcPr/>
                </a:tc>
                <a:tc>
                  <a:txBody>
                    <a:bodyPr/>
                    <a:lstStyle/>
                    <a:p>
                      <a:r>
                        <a:rPr lang="en-IN" dirty="0"/>
                        <a:t>1</a:t>
                      </a:r>
                    </a:p>
                  </a:txBody>
                  <a:tcPr/>
                </a:tc>
                <a:tc>
                  <a:txBody>
                    <a:bodyPr/>
                    <a:lstStyle/>
                    <a:p>
                      <a:r>
                        <a:rPr lang="en-IN" dirty="0"/>
                        <a:t>3</a:t>
                      </a:r>
                    </a:p>
                  </a:txBody>
                  <a:tcPr/>
                </a:tc>
                <a:extLst>
                  <a:ext uri="{0D108BD9-81ED-4DB2-BD59-A6C34878D82A}">
                    <a16:rowId xmlns:a16="http://schemas.microsoft.com/office/drawing/2014/main" val="1535421818"/>
                  </a:ext>
                </a:extLst>
              </a:tr>
              <a:tr h="370840">
                <a:tc>
                  <a:txBody>
                    <a:bodyPr/>
                    <a:lstStyle/>
                    <a:p>
                      <a:r>
                        <a:rPr lang="en-IN" dirty="0"/>
                        <a:t>C3</a:t>
                      </a:r>
                    </a:p>
                  </a:txBody>
                  <a:tcPr/>
                </a:tc>
                <a:tc>
                  <a:txBody>
                    <a:bodyPr/>
                    <a:lstStyle/>
                    <a:p>
                      <a:r>
                        <a:rPr lang="en-IN" dirty="0"/>
                        <a:t>3</a:t>
                      </a:r>
                    </a:p>
                  </a:txBody>
                  <a:tcPr/>
                </a:tc>
                <a:tc>
                  <a:txBody>
                    <a:bodyPr/>
                    <a:lstStyle/>
                    <a:p>
                      <a:r>
                        <a:rPr lang="en-IN" dirty="0"/>
                        <a:t>1/3</a:t>
                      </a:r>
                    </a:p>
                  </a:txBody>
                  <a:tcPr/>
                </a:tc>
                <a:tc>
                  <a:txBody>
                    <a:bodyPr/>
                    <a:lstStyle/>
                    <a:p>
                      <a:r>
                        <a:rPr lang="en-IN" dirty="0"/>
                        <a:t>1</a:t>
                      </a:r>
                    </a:p>
                  </a:txBody>
                  <a:tcPr/>
                </a:tc>
                <a:extLst>
                  <a:ext uri="{0D108BD9-81ED-4DB2-BD59-A6C34878D82A}">
                    <a16:rowId xmlns:a16="http://schemas.microsoft.com/office/drawing/2014/main" val="3529250122"/>
                  </a:ext>
                </a:extLst>
              </a:tr>
            </a:tbl>
          </a:graphicData>
        </a:graphic>
      </p:graphicFrame>
      <p:graphicFrame>
        <p:nvGraphicFramePr>
          <p:cNvPr id="5" name="Table 4">
            <a:extLst>
              <a:ext uri="{FF2B5EF4-FFF2-40B4-BE49-F238E27FC236}">
                <a16:creationId xmlns:a16="http://schemas.microsoft.com/office/drawing/2014/main" id="{B9552DAA-AEBD-4A1F-7334-9DA330E7D5F5}"/>
              </a:ext>
            </a:extLst>
          </p:cNvPr>
          <p:cNvGraphicFramePr>
            <a:graphicFrameLocks noGrp="1"/>
          </p:cNvGraphicFramePr>
          <p:nvPr>
            <p:extLst>
              <p:ext uri="{D42A27DB-BD31-4B8C-83A1-F6EECF244321}">
                <p14:modId xmlns:p14="http://schemas.microsoft.com/office/powerpoint/2010/main" val="1208735595"/>
              </p:ext>
            </p:extLst>
          </p:nvPr>
        </p:nvGraphicFramePr>
        <p:xfrm>
          <a:off x="838200" y="3849364"/>
          <a:ext cx="10515600" cy="1759584"/>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3713258064"/>
                    </a:ext>
                  </a:extLst>
                </a:gridCol>
                <a:gridCol w="2628900">
                  <a:extLst>
                    <a:ext uri="{9D8B030D-6E8A-4147-A177-3AD203B41FA5}">
                      <a16:colId xmlns:a16="http://schemas.microsoft.com/office/drawing/2014/main" val="3771844633"/>
                    </a:ext>
                  </a:extLst>
                </a:gridCol>
                <a:gridCol w="2628900">
                  <a:extLst>
                    <a:ext uri="{9D8B030D-6E8A-4147-A177-3AD203B41FA5}">
                      <a16:colId xmlns:a16="http://schemas.microsoft.com/office/drawing/2014/main" val="2907462035"/>
                    </a:ext>
                  </a:extLst>
                </a:gridCol>
                <a:gridCol w="2628900">
                  <a:extLst>
                    <a:ext uri="{9D8B030D-6E8A-4147-A177-3AD203B41FA5}">
                      <a16:colId xmlns:a16="http://schemas.microsoft.com/office/drawing/2014/main" val="277801665"/>
                    </a:ext>
                  </a:extLst>
                </a:gridCol>
              </a:tblGrid>
              <a:tr h="439896">
                <a:tc>
                  <a:txBody>
                    <a:bodyPr/>
                    <a:lstStyle/>
                    <a:p>
                      <a:r>
                        <a:rPr lang="en-IN" dirty="0"/>
                        <a:t>Complexity</a:t>
                      </a:r>
                    </a:p>
                  </a:txBody>
                  <a:tcPr/>
                </a:tc>
                <a:tc>
                  <a:txBody>
                    <a:bodyPr/>
                    <a:lstStyle/>
                    <a:p>
                      <a:r>
                        <a:rPr lang="en-IN" dirty="0"/>
                        <a:t>C1</a:t>
                      </a:r>
                    </a:p>
                  </a:txBody>
                  <a:tcPr/>
                </a:tc>
                <a:tc>
                  <a:txBody>
                    <a:bodyPr/>
                    <a:lstStyle/>
                    <a:p>
                      <a:r>
                        <a:rPr lang="en-IN" dirty="0"/>
                        <a:t>C2</a:t>
                      </a:r>
                    </a:p>
                  </a:txBody>
                  <a:tcPr/>
                </a:tc>
                <a:tc>
                  <a:txBody>
                    <a:bodyPr/>
                    <a:lstStyle/>
                    <a:p>
                      <a:r>
                        <a:rPr lang="en-IN" dirty="0"/>
                        <a:t>C3</a:t>
                      </a:r>
                    </a:p>
                  </a:txBody>
                  <a:tcPr/>
                </a:tc>
                <a:extLst>
                  <a:ext uri="{0D108BD9-81ED-4DB2-BD59-A6C34878D82A}">
                    <a16:rowId xmlns:a16="http://schemas.microsoft.com/office/drawing/2014/main" val="1951362593"/>
                  </a:ext>
                </a:extLst>
              </a:tr>
              <a:tr h="439896">
                <a:tc>
                  <a:txBody>
                    <a:bodyPr/>
                    <a:lstStyle/>
                    <a:p>
                      <a:r>
                        <a:rPr lang="en-IN" dirty="0"/>
                        <a:t>C1</a:t>
                      </a:r>
                    </a:p>
                  </a:txBody>
                  <a:tcPr/>
                </a:tc>
                <a:tc>
                  <a:txBody>
                    <a:bodyPr/>
                    <a:lstStyle/>
                    <a:p>
                      <a:r>
                        <a:rPr lang="en-IN" dirty="0"/>
                        <a:t>1</a:t>
                      </a:r>
                    </a:p>
                  </a:txBody>
                  <a:tcPr/>
                </a:tc>
                <a:tc>
                  <a:txBody>
                    <a:bodyPr/>
                    <a:lstStyle/>
                    <a:p>
                      <a:r>
                        <a:rPr lang="en-IN" dirty="0"/>
                        <a:t>3</a:t>
                      </a:r>
                    </a:p>
                  </a:txBody>
                  <a:tcPr/>
                </a:tc>
                <a:tc>
                  <a:txBody>
                    <a:bodyPr/>
                    <a:lstStyle/>
                    <a:p>
                      <a:r>
                        <a:rPr lang="en-IN" dirty="0"/>
                        <a:t>5</a:t>
                      </a:r>
                    </a:p>
                  </a:txBody>
                  <a:tcPr/>
                </a:tc>
                <a:extLst>
                  <a:ext uri="{0D108BD9-81ED-4DB2-BD59-A6C34878D82A}">
                    <a16:rowId xmlns:a16="http://schemas.microsoft.com/office/drawing/2014/main" val="3174287233"/>
                  </a:ext>
                </a:extLst>
              </a:tr>
              <a:tr h="439896">
                <a:tc>
                  <a:txBody>
                    <a:bodyPr/>
                    <a:lstStyle/>
                    <a:p>
                      <a:r>
                        <a:rPr lang="en-IN" dirty="0"/>
                        <a:t>C2</a:t>
                      </a:r>
                    </a:p>
                  </a:txBody>
                  <a:tcPr/>
                </a:tc>
                <a:tc>
                  <a:txBody>
                    <a:bodyPr/>
                    <a:lstStyle/>
                    <a:p>
                      <a:r>
                        <a:rPr lang="en-IN" dirty="0"/>
                        <a:t>1/3</a:t>
                      </a:r>
                    </a:p>
                  </a:txBody>
                  <a:tcPr/>
                </a:tc>
                <a:tc>
                  <a:txBody>
                    <a:bodyPr/>
                    <a:lstStyle/>
                    <a:p>
                      <a:r>
                        <a:rPr lang="en-IN" dirty="0"/>
                        <a:t>1</a:t>
                      </a:r>
                    </a:p>
                  </a:txBody>
                  <a:tcPr/>
                </a:tc>
                <a:tc>
                  <a:txBody>
                    <a:bodyPr/>
                    <a:lstStyle/>
                    <a:p>
                      <a:r>
                        <a:rPr lang="en-IN" dirty="0"/>
                        <a:t>3</a:t>
                      </a:r>
                    </a:p>
                  </a:txBody>
                  <a:tcPr/>
                </a:tc>
                <a:extLst>
                  <a:ext uri="{0D108BD9-81ED-4DB2-BD59-A6C34878D82A}">
                    <a16:rowId xmlns:a16="http://schemas.microsoft.com/office/drawing/2014/main" val="1647325730"/>
                  </a:ext>
                </a:extLst>
              </a:tr>
              <a:tr h="439896">
                <a:tc>
                  <a:txBody>
                    <a:bodyPr/>
                    <a:lstStyle/>
                    <a:p>
                      <a:r>
                        <a:rPr lang="en-IN" dirty="0"/>
                        <a:t>C3</a:t>
                      </a:r>
                    </a:p>
                  </a:txBody>
                  <a:tcPr/>
                </a:tc>
                <a:tc>
                  <a:txBody>
                    <a:bodyPr/>
                    <a:lstStyle/>
                    <a:p>
                      <a:r>
                        <a:rPr lang="en-IN" dirty="0"/>
                        <a:t>1/5</a:t>
                      </a:r>
                    </a:p>
                  </a:txBody>
                  <a:tcPr/>
                </a:tc>
                <a:tc>
                  <a:txBody>
                    <a:bodyPr/>
                    <a:lstStyle/>
                    <a:p>
                      <a:r>
                        <a:rPr lang="en-IN" dirty="0"/>
                        <a:t>1/3</a:t>
                      </a:r>
                    </a:p>
                  </a:txBody>
                  <a:tcPr/>
                </a:tc>
                <a:tc>
                  <a:txBody>
                    <a:bodyPr/>
                    <a:lstStyle/>
                    <a:p>
                      <a:r>
                        <a:rPr lang="en-IN" dirty="0"/>
                        <a:t>1</a:t>
                      </a:r>
                    </a:p>
                  </a:txBody>
                  <a:tcPr/>
                </a:tc>
                <a:extLst>
                  <a:ext uri="{0D108BD9-81ED-4DB2-BD59-A6C34878D82A}">
                    <a16:rowId xmlns:a16="http://schemas.microsoft.com/office/drawing/2014/main" val="304341040"/>
                  </a:ext>
                </a:extLst>
              </a:tr>
            </a:tbl>
          </a:graphicData>
        </a:graphic>
      </p:graphicFrame>
    </p:spTree>
    <p:extLst>
      <p:ext uri="{BB962C8B-B14F-4D97-AF65-F5344CB8AC3E}">
        <p14:creationId xmlns:p14="http://schemas.microsoft.com/office/powerpoint/2010/main" val="41751720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3B9D12D-EC05-44C9-7D82-D0AFEF60CBA0}"/>
              </a:ext>
            </a:extLst>
          </p:cNvPr>
          <p:cNvGraphicFramePr>
            <a:graphicFrameLocks noGrp="1"/>
          </p:cNvGraphicFramePr>
          <p:nvPr>
            <p:ph idx="1"/>
            <p:extLst>
              <p:ext uri="{D42A27DB-BD31-4B8C-83A1-F6EECF244321}">
                <p14:modId xmlns:p14="http://schemas.microsoft.com/office/powerpoint/2010/main" val="1653399028"/>
              </p:ext>
            </p:extLst>
          </p:nvPr>
        </p:nvGraphicFramePr>
        <p:xfrm>
          <a:off x="838200" y="949008"/>
          <a:ext cx="9955500" cy="1483360"/>
        </p:xfrm>
        <a:graphic>
          <a:graphicData uri="http://schemas.openxmlformats.org/drawingml/2006/table">
            <a:tbl>
              <a:tblPr firstRow="1" bandRow="1">
                <a:tableStyleId>{5C22544A-7EE6-4342-B048-85BDC9FD1C3A}</a:tableStyleId>
              </a:tblPr>
              <a:tblGrid>
                <a:gridCol w="1991100">
                  <a:extLst>
                    <a:ext uri="{9D8B030D-6E8A-4147-A177-3AD203B41FA5}">
                      <a16:colId xmlns:a16="http://schemas.microsoft.com/office/drawing/2014/main" val="3457549235"/>
                    </a:ext>
                  </a:extLst>
                </a:gridCol>
                <a:gridCol w="1991100">
                  <a:extLst>
                    <a:ext uri="{9D8B030D-6E8A-4147-A177-3AD203B41FA5}">
                      <a16:colId xmlns:a16="http://schemas.microsoft.com/office/drawing/2014/main" val="253875769"/>
                    </a:ext>
                  </a:extLst>
                </a:gridCol>
                <a:gridCol w="1991100">
                  <a:extLst>
                    <a:ext uri="{9D8B030D-6E8A-4147-A177-3AD203B41FA5}">
                      <a16:colId xmlns:a16="http://schemas.microsoft.com/office/drawing/2014/main" val="2566103429"/>
                    </a:ext>
                  </a:extLst>
                </a:gridCol>
                <a:gridCol w="1991100">
                  <a:extLst>
                    <a:ext uri="{9D8B030D-6E8A-4147-A177-3AD203B41FA5}">
                      <a16:colId xmlns:a16="http://schemas.microsoft.com/office/drawing/2014/main" val="3219600466"/>
                    </a:ext>
                  </a:extLst>
                </a:gridCol>
                <a:gridCol w="1991100">
                  <a:extLst>
                    <a:ext uri="{9D8B030D-6E8A-4147-A177-3AD203B41FA5}">
                      <a16:colId xmlns:a16="http://schemas.microsoft.com/office/drawing/2014/main" val="3035161156"/>
                    </a:ext>
                  </a:extLst>
                </a:gridCol>
              </a:tblGrid>
              <a:tr h="370840">
                <a:tc>
                  <a:txBody>
                    <a:bodyPr/>
                    <a:lstStyle/>
                    <a:p>
                      <a:r>
                        <a:rPr lang="en-IN" dirty="0"/>
                        <a:t>Cost</a:t>
                      </a:r>
                    </a:p>
                  </a:txBody>
                  <a:tcPr/>
                </a:tc>
                <a:tc>
                  <a:txBody>
                    <a:bodyPr/>
                    <a:lstStyle/>
                    <a:p>
                      <a:r>
                        <a:rPr lang="en-IN" dirty="0"/>
                        <a:t>C1</a:t>
                      </a:r>
                    </a:p>
                  </a:txBody>
                  <a:tcPr/>
                </a:tc>
                <a:tc>
                  <a:txBody>
                    <a:bodyPr/>
                    <a:lstStyle/>
                    <a:p>
                      <a:r>
                        <a:rPr lang="en-IN" dirty="0"/>
                        <a:t>C2</a:t>
                      </a:r>
                    </a:p>
                  </a:txBody>
                  <a:tcPr/>
                </a:tc>
                <a:tc>
                  <a:txBody>
                    <a:bodyPr/>
                    <a:lstStyle/>
                    <a:p>
                      <a:r>
                        <a:rPr lang="en-IN" dirty="0"/>
                        <a:t>C3</a:t>
                      </a:r>
                    </a:p>
                  </a:txBody>
                  <a:tcPr/>
                </a:tc>
                <a:tc>
                  <a:txBody>
                    <a:bodyPr/>
                    <a:lstStyle/>
                    <a:p>
                      <a:r>
                        <a:rPr lang="en-IN" dirty="0"/>
                        <a:t>Priority</a:t>
                      </a:r>
                    </a:p>
                  </a:txBody>
                  <a:tcPr/>
                </a:tc>
                <a:extLst>
                  <a:ext uri="{0D108BD9-81ED-4DB2-BD59-A6C34878D82A}">
                    <a16:rowId xmlns:a16="http://schemas.microsoft.com/office/drawing/2014/main" val="1438241"/>
                  </a:ext>
                </a:extLst>
              </a:tr>
              <a:tr h="370840">
                <a:tc>
                  <a:txBody>
                    <a:bodyPr/>
                    <a:lstStyle/>
                    <a:p>
                      <a:r>
                        <a:rPr lang="en-IN" dirty="0"/>
                        <a:t>C1</a:t>
                      </a:r>
                    </a:p>
                  </a:txBody>
                  <a:tcPr/>
                </a:tc>
                <a:tc>
                  <a:txBody>
                    <a:bodyPr/>
                    <a:lstStyle/>
                    <a:p>
                      <a:r>
                        <a:rPr lang="en-IN" dirty="0"/>
                        <a:t>0.652</a:t>
                      </a:r>
                    </a:p>
                  </a:txBody>
                  <a:tcPr/>
                </a:tc>
                <a:tc>
                  <a:txBody>
                    <a:bodyPr/>
                    <a:lstStyle/>
                    <a:p>
                      <a:r>
                        <a:rPr lang="en-IN" dirty="0"/>
                        <a:t>0.692</a:t>
                      </a:r>
                    </a:p>
                  </a:txBody>
                  <a:tcPr/>
                </a:tc>
                <a:tc>
                  <a:txBody>
                    <a:bodyPr/>
                    <a:lstStyle/>
                    <a:p>
                      <a:r>
                        <a:rPr lang="en-IN" dirty="0"/>
                        <a:t>0.555</a:t>
                      </a:r>
                    </a:p>
                  </a:txBody>
                  <a:tcPr/>
                </a:tc>
                <a:tc>
                  <a:txBody>
                    <a:bodyPr/>
                    <a:lstStyle/>
                    <a:p>
                      <a:r>
                        <a:rPr lang="en-IN" dirty="0"/>
                        <a:t>0.633</a:t>
                      </a:r>
                    </a:p>
                  </a:txBody>
                  <a:tcPr/>
                </a:tc>
                <a:extLst>
                  <a:ext uri="{0D108BD9-81ED-4DB2-BD59-A6C34878D82A}">
                    <a16:rowId xmlns:a16="http://schemas.microsoft.com/office/drawing/2014/main" val="2195796827"/>
                  </a:ext>
                </a:extLst>
              </a:tr>
              <a:tr h="370840">
                <a:tc>
                  <a:txBody>
                    <a:bodyPr/>
                    <a:lstStyle/>
                    <a:p>
                      <a:r>
                        <a:rPr lang="en-IN" dirty="0"/>
                        <a:t>C2</a:t>
                      </a:r>
                    </a:p>
                  </a:txBody>
                  <a:tcPr/>
                </a:tc>
                <a:tc>
                  <a:txBody>
                    <a:bodyPr/>
                    <a:lstStyle/>
                    <a:p>
                      <a:r>
                        <a:rPr lang="en-IN" dirty="0"/>
                        <a:t>0.217</a:t>
                      </a:r>
                    </a:p>
                  </a:txBody>
                  <a:tcPr/>
                </a:tc>
                <a:tc>
                  <a:txBody>
                    <a:bodyPr/>
                    <a:lstStyle/>
                    <a:p>
                      <a:r>
                        <a:rPr lang="en-IN" dirty="0"/>
                        <a:t>0.230</a:t>
                      </a:r>
                    </a:p>
                  </a:txBody>
                  <a:tcPr/>
                </a:tc>
                <a:tc>
                  <a:txBody>
                    <a:bodyPr/>
                    <a:lstStyle/>
                    <a:p>
                      <a:r>
                        <a:rPr lang="en-IN" dirty="0"/>
                        <a:t>0.333</a:t>
                      </a:r>
                    </a:p>
                  </a:txBody>
                  <a:tcPr/>
                </a:tc>
                <a:tc>
                  <a:txBody>
                    <a:bodyPr/>
                    <a:lstStyle/>
                    <a:p>
                      <a:r>
                        <a:rPr lang="en-IN" dirty="0"/>
                        <a:t>0.260</a:t>
                      </a:r>
                    </a:p>
                  </a:txBody>
                  <a:tcPr/>
                </a:tc>
                <a:extLst>
                  <a:ext uri="{0D108BD9-81ED-4DB2-BD59-A6C34878D82A}">
                    <a16:rowId xmlns:a16="http://schemas.microsoft.com/office/drawing/2014/main" val="2900426363"/>
                  </a:ext>
                </a:extLst>
              </a:tr>
              <a:tr h="370840">
                <a:tc>
                  <a:txBody>
                    <a:bodyPr/>
                    <a:lstStyle/>
                    <a:p>
                      <a:r>
                        <a:rPr lang="en-IN" dirty="0"/>
                        <a:t>C3</a:t>
                      </a:r>
                    </a:p>
                  </a:txBody>
                  <a:tcPr/>
                </a:tc>
                <a:tc>
                  <a:txBody>
                    <a:bodyPr/>
                    <a:lstStyle/>
                    <a:p>
                      <a:r>
                        <a:rPr lang="en-IN" dirty="0"/>
                        <a:t>0.130</a:t>
                      </a:r>
                    </a:p>
                  </a:txBody>
                  <a:tcPr/>
                </a:tc>
                <a:tc>
                  <a:txBody>
                    <a:bodyPr/>
                    <a:lstStyle/>
                    <a:p>
                      <a:r>
                        <a:rPr lang="en-IN" dirty="0"/>
                        <a:t>0.076</a:t>
                      </a:r>
                    </a:p>
                  </a:txBody>
                  <a:tcPr/>
                </a:tc>
                <a:tc>
                  <a:txBody>
                    <a:bodyPr/>
                    <a:lstStyle/>
                    <a:p>
                      <a:r>
                        <a:rPr lang="en-IN" dirty="0"/>
                        <a:t>0.111</a:t>
                      </a:r>
                    </a:p>
                  </a:txBody>
                  <a:tcPr/>
                </a:tc>
                <a:tc>
                  <a:txBody>
                    <a:bodyPr/>
                    <a:lstStyle/>
                    <a:p>
                      <a:r>
                        <a:rPr lang="en-IN" dirty="0"/>
                        <a:t>0.105</a:t>
                      </a:r>
                    </a:p>
                  </a:txBody>
                  <a:tcPr/>
                </a:tc>
                <a:extLst>
                  <a:ext uri="{0D108BD9-81ED-4DB2-BD59-A6C34878D82A}">
                    <a16:rowId xmlns:a16="http://schemas.microsoft.com/office/drawing/2014/main" val="1871963984"/>
                  </a:ext>
                </a:extLst>
              </a:tr>
            </a:tbl>
          </a:graphicData>
        </a:graphic>
      </p:graphicFrame>
      <p:graphicFrame>
        <p:nvGraphicFramePr>
          <p:cNvPr id="6" name="Table 5">
            <a:extLst>
              <a:ext uri="{FF2B5EF4-FFF2-40B4-BE49-F238E27FC236}">
                <a16:creationId xmlns:a16="http://schemas.microsoft.com/office/drawing/2014/main" id="{C2D213A7-3F9F-15F3-29F7-1EFFEC6C74BD}"/>
              </a:ext>
            </a:extLst>
          </p:cNvPr>
          <p:cNvGraphicFramePr>
            <a:graphicFrameLocks noGrp="1"/>
          </p:cNvGraphicFramePr>
          <p:nvPr>
            <p:extLst>
              <p:ext uri="{D42A27DB-BD31-4B8C-83A1-F6EECF244321}">
                <p14:modId xmlns:p14="http://schemas.microsoft.com/office/powerpoint/2010/main" val="40442392"/>
              </p:ext>
            </p:extLst>
          </p:nvPr>
        </p:nvGraphicFramePr>
        <p:xfrm>
          <a:off x="838199" y="4935538"/>
          <a:ext cx="9606700" cy="1483360"/>
        </p:xfrm>
        <a:graphic>
          <a:graphicData uri="http://schemas.openxmlformats.org/drawingml/2006/table">
            <a:tbl>
              <a:tblPr firstRow="1" bandRow="1">
                <a:tableStyleId>{5C22544A-7EE6-4342-B048-85BDC9FD1C3A}</a:tableStyleId>
              </a:tblPr>
              <a:tblGrid>
                <a:gridCol w="1921340">
                  <a:extLst>
                    <a:ext uri="{9D8B030D-6E8A-4147-A177-3AD203B41FA5}">
                      <a16:colId xmlns:a16="http://schemas.microsoft.com/office/drawing/2014/main" val="3094575107"/>
                    </a:ext>
                  </a:extLst>
                </a:gridCol>
                <a:gridCol w="1921340">
                  <a:extLst>
                    <a:ext uri="{9D8B030D-6E8A-4147-A177-3AD203B41FA5}">
                      <a16:colId xmlns:a16="http://schemas.microsoft.com/office/drawing/2014/main" val="579343531"/>
                    </a:ext>
                  </a:extLst>
                </a:gridCol>
                <a:gridCol w="1921340">
                  <a:extLst>
                    <a:ext uri="{9D8B030D-6E8A-4147-A177-3AD203B41FA5}">
                      <a16:colId xmlns:a16="http://schemas.microsoft.com/office/drawing/2014/main" val="1180873050"/>
                    </a:ext>
                  </a:extLst>
                </a:gridCol>
                <a:gridCol w="1921340">
                  <a:extLst>
                    <a:ext uri="{9D8B030D-6E8A-4147-A177-3AD203B41FA5}">
                      <a16:colId xmlns:a16="http://schemas.microsoft.com/office/drawing/2014/main" val="3111882724"/>
                    </a:ext>
                  </a:extLst>
                </a:gridCol>
                <a:gridCol w="1921340">
                  <a:extLst>
                    <a:ext uri="{9D8B030D-6E8A-4147-A177-3AD203B41FA5}">
                      <a16:colId xmlns:a16="http://schemas.microsoft.com/office/drawing/2014/main" val="2988803208"/>
                    </a:ext>
                  </a:extLst>
                </a:gridCol>
              </a:tblGrid>
              <a:tr h="370840">
                <a:tc>
                  <a:txBody>
                    <a:bodyPr/>
                    <a:lstStyle/>
                    <a:p>
                      <a:r>
                        <a:rPr lang="en-IN" dirty="0"/>
                        <a:t>Performance</a:t>
                      </a:r>
                    </a:p>
                  </a:txBody>
                  <a:tcPr/>
                </a:tc>
                <a:tc>
                  <a:txBody>
                    <a:bodyPr/>
                    <a:lstStyle/>
                    <a:p>
                      <a:r>
                        <a:rPr lang="en-IN" dirty="0"/>
                        <a:t>C1</a:t>
                      </a:r>
                    </a:p>
                  </a:txBody>
                  <a:tcPr/>
                </a:tc>
                <a:tc>
                  <a:txBody>
                    <a:bodyPr/>
                    <a:lstStyle/>
                    <a:p>
                      <a:r>
                        <a:rPr lang="en-IN" dirty="0"/>
                        <a:t>C2</a:t>
                      </a:r>
                    </a:p>
                  </a:txBody>
                  <a:tcPr/>
                </a:tc>
                <a:tc>
                  <a:txBody>
                    <a:bodyPr/>
                    <a:lstStyle/>
                    <a:p>
                      <a:r>
                        <a:rPr lang="en-IN" dirty="0"/>
                        <a:t>C3</a:t>
                      </a:r>
                    </a:p>
                  </a:txBody>
                  <a:tcPr/>
                </a:tc>
                <a:tc>
                  <a:txBody>
                    <a:bodyPr/>
                    <a:lstStyle/>
                    <a:p>
                      <a:r>
                        <a:rPr lang="en-IN" dirty="0"/>
                        <a:t>Priority</a:t>
                      </a:r>
                    </a:p>
                  </a:txBody>
                  <a:tcPr/>
                </a:tc>
                <a:extLst>
                  <a:ext uri="{0D108BD9-81ED-4DB2-BD59-A6C34878D82A}">
                    <a16:rowId xmlns:a16="http://schemas.microsoft.com/office/drawing/2014/main" val="443786116"/>
                  </a:ext>
                </a:extLst>
              </a:tr>
              <a:tr h="370840">
                <a:tc>
                  <a:txBody>
                    <a:bodyPr/>
                    <a:lstStyle/>
                    <a:p>
                      <a:r>
                        <a:rPr lang="en-IN" dirty="0"/>
                        <a:t>C1</a:t>
                      </a:r>
                    </a:p>
                  </a:txBody>
                  <a:tcPr/>
                </a:tc>
                <a:tc>
                  <a:txBody>
                    <a:bodyPr/>
                    <a:lstStyle/>
                    <a:p>
                      <a:r>
                        <a:rPr lang="en-IN" dirty="0"/>
                        <a:t>0.111</a:t>
                      </a:r>
                    </a:p>
                  </a:txBody>
                  <a:tcPr/>
                </a:tc>
                <a:tc>
                  <a:txBody>
                    <a:bodyPr/>
                    <a:lstStyle/>
                    <a:p>
                      <a:r>
                        <a:rPr lang="en-IN" dirty="0"/>
                        <a:t>0.076</a:t>
                      </a:r>
                    </a:p>
                  </a:txBody>
                  <a:tcPr/>
                </a:tc>
                <a:tc>
                  <a:txBody>
                    <a:bodyPr/>
                    <a:lstStyle/>
                    <a:p>
                      <a:r>
                        <a:rPr lang="en-IN" dirty="0"/>
                        <a:t>0.375</a:t>
                      </a:r>
                    </a:p>
                  </a:txBody>
                  <a:tcPr/>
                </a:tc>
                <a:tc>
                  <a:txBody>
                    <a:bodyPr/>
                    <a:lstStyle/>
                    <a:p>
                      <a:r>
                        <a:rPr lang="en-IN" dirty="0"/>
                        <a:t>0.187</a:t>
                      </a:r>
                    </a:p>
                  </a:txBody>
                  <a:tcPr/>
                </a:tc>
                <a:extLst>
                  <a:ext uri="{0D108BD9-81ED-4DB2-BD59-A6C34878D82A}">
                    <a16:rowId xmlns:a16="http://schemas.microsoft.com/office/drawing/2014/main" val="1473003761"/>
                  </a:ext>
                </a:extLst>
              </a:tr>
              <a:tr h="370840">
                <a:tc>
                  <a:txBody>
                    <a:bodyPr/>
                    <a:lstStyle/>
                    <a:p>
                      <a:r>
                        <a:rPr lang="en-IN" dirty="0"/>
                        <a:t>C2</a:t>
                      </a:r>
                    </a:p>
                  </a:txBody>
                  <a:tcPr/>
                </a:tc>
                <a:tc>
                  <a:txBody>
                    <a:bodyPr/>
                    <a:lstStyle/>
                    <a:p>
                      <a:r>
                        <a:rPr lang="en-IN" dirty="0"/>
                        <a:t>0.333</a:t>
                      </a:r>
                    </a:p>
                  </a:txBody>
                  <a:tcPr/>
                </a:tc>
                <a:tc>
                  <a:txBody>
                    <a:bodyPr/>
                    <a:lstStyle/>
                    <a:p>
                      <a:r>
                        <a:rPr lang="en-IN" dirty="0"/>
                        <a:t>0.230</a:t>
                      </a:r>
                    </a:p>
                  </a:txBody>
                  <a:tcPr/>
                </a:tc>
                <a:tc>
                  <a:txBody>
                    <a:bodyPr/>
                    <a:lstStyle/>
                    <a:p>
                      <a:r>
                        <a:rPr lang="en-IN" dirty="0"/>
                        <a:t>0.848</a:t>
                      </a:r>
                    </a:p>
                  </a:txBody>
                  <a:tcPr/>
                </a:tc>
                <a:tc>
                  <a:txBody>
                    <a:bodyPr/>
                    <a:lstStyle/>
                    <a:p>
                      <a:r>
                        <a:rPr lang="en-IN" dirty="0"/>
                        <a:t>0.470</a:t>
                      </a:r>
                    </a:p>
                  </a:txBody>
                  <a:tcPr/>
                </a:tc>
                <a:extLst>
                  <a:ext uri="{0D108BD9-81ED-4DB2-BD59-A6C34878D82A}">
                    <a16:rowId xmlns:a16="http://schemas.microsoft.com/office/drawing/2014/main" val="3004996545"/>
                  </a:ext>
                </a:extLst>
              </a:tr>
              <a:tr h="370840">
                <a:tc>
                  <a:txBody>
                    <a:bodyPr/>
                    <a:lstStyle/>
                    <a:p>
                      <a:r>
                        <a:rPr lang="en-IN" dirty="0"/>
                        <a:t>C3</a:t>
                      </a:r>
                    </a:p>
                  </a:txBody>
                  <a:tcPr/>
                </a:tc>
                <a:tc>
                  <a:txBody>
                    <a:bodyPr/>
                    <a:lstStyle/>
                    <a:p>
                      <a:r>
                        <a:rPr lang="en-IN" dirty="0"/>
                        <a:t>0.555</a:t>
                      </a:r>
                    </a:p>
                  </a:txBody>
                  <a:tcPr/>
                </a:tc>
                <a:tc>
                  <a:txBody>
                    <a:bodyPr/>
                    <a:lstStyle/>
                    <a:p>
                      <a:r>
                        <a:rPr lang="en-IN" dirty="0"/>
                        <a:t>0.692</a:t>
                      </a:r>
                    </a:p>
                  </a:txBody>
                  <a:tcPr/>
                </a:tc>
                <a:tc>
                  <a:txBody>
                    <a:bodyPr/>
                    <a:lstStyle/>
                    <a:p>
                      <a:r>
                        <a:rPr lang="en-IN" dirty="0"/>
                        <a:t>0.652</a:t>
                      </a:r>
                    </a:p>
                  </a:txBody>
                  <a:tcPr/>
                </a:tc>
                <a:tc>
                  <a:txBody>
                    <a:bodyPr/>
                    <a:lstStyle/>
                    <a:p>
                      <a:r>
                        <a:rPr lang="en-IN" dirty="0"/>
                        <a:t>0.633</a:t>
                      </a:r>
                    </a:p>
                  </a:txBody>
                  <a:tcPr/>
                </a:tc>
                <a:extLst>
                  <a:ext uri="{0D108BD9-81ED-4DB2-BD59-A6C34878D82A}">
                    <a16:rowId xmlns:a16="http://schemas.microsoft.com/office/drawing/2014/main" val="2587698518"/>
                  </a:ext>
                </a:extLst>
              </a:tr>
            </a:tbl>
          </a:graphicData>
        </a:graphic>
      </p:graphicFrame>
      <p:graphicFrame>
        <p:nvGraphicFramePr>
          <p:cNvPr id="7" name="Content Placeholder 3">
            <a:extLst>
              <a:ext uri="{FF2B5EF4-FFF2-40B4-BE49-F238E27FC236}">
                <a16:creationId xmlns:a16="http://schemas.microsoft.com/office/drawing/2014/main" id="{59FA2511-DB71-5E04-1622-BAB8B5FEDF9F}"/>
              </a:ext>
            </a:extLst>
          </p:cNvPr>
          <p:cNvGraphicFramePr>
            <a:graphicFrameLocks/>
          </p:cNvGraphicFramePr>
          <p:nvPr>
            <p:extLst>
              <p:ext uri="{D42A27DB-BD31-4B8C-83A1-F6EECF244321}">
                <p14:modId xmlns:p14="http://schemas.microsoft.com/office/powerpoint/2010/main" val="1651430035"/>
              </p:ext>
            </p:extLst>
          </p:nvPr>
        </p:nvGraphicFramePr>
        <p:xfrm>
          <a:off x="838200" y="2826513"/>
          <a:ext cx="9955500" cy="1483360"/>
        </p:xfrm>
        <a:graphic>
          <a:graphicData uri="http://schemas.openxmlformats.org/drawingml/2006/table">
            <a:tbl>
              <a:tblPr firstRow="1" bandRow="1">
                <a:tableStyleId>{5C22544A-7EE6-4342-B048-85BDC9FD1C3A}</a:tableStyleId>
              </a:tblPr>
              <a:tblGrid>
                <a:gridCol w="1991100">
                  <a:extLst>
                    <a:ext uri="{9D8B030D-6E8A-4147-A177-3AD203B41FA5}">
                      <a16:colId xmlns:a16="http://schemas.microsoft.com/office/drawing/2014/main" val="3457549235"/>
                    </a:ext>
                  </a:extLst>
                </a:gridCol>
                <a:gridCol w="1991100">
                  <a:extLst>
                    <a:ext uri="{9D8B030D-6E8A-4147-A177-3AD203B41FA5}">
                      <a16:colId xmlns:a16="http://schemas.microsoft.com/office/drawing/2014/main" val="253875769"/>
                    </a:ext>
                  </a:extLst>
                </a:gridCol>
                <a:gridCol w="1991100">
                  <a:extLst>
                    <a:ext uri="{9D8B030D-6E8A-4147-A177-3AD203B41FA5}">
                      <a16:colId xmlns:a16="http://schemas.microsoft.com/office/drawing/2014/main" val="2566103429"/>
                    </a:ext>
                  </a:extLst>
                </a:gridCol>
                <a:gridCol w="1991100">
                  <a:extLst>
                    <a:ext uri="{9D8B030D-6E8A-4147-A177-3AD203B41FA5}">
                      <a16:colId xmlns:a16="http://schemas.microsoft.com/office/drawing/2014/main" val="3219600466"/>
                    </a:ext>
                  </a:extLst>
                </a:gridCol>
                <a:gridCol w="1991100">
                  <a:extLst>
                    <a:ext uri="{9D8B030D-6E8A-4147-A177-3AD203B41FA5}">
                      <a16:colId xmlns:a16="http://schemas.microsoft.com/office/drawing/2014/main" val="3035161156"/>
                    </a:ext>
                  </a:extLst>
                </a:gridCol>
              </a:tblGrid>
              <a:tr h="370840">
                <a:tc>
                  <a:txBody>
                    <a:bodyPr/>
                    <a:lstStyle/>
                    <a:p>
                      <a:r>
                        <a:rPr lang="en-IN" dirty="0"/>
                        <a:t>fabrication</a:t>
                      </a:r>
                    </a:p>
                  </a:txBody>
                  <a:tcPr/>
                </a:tc>
                <a:tc>
                  <a:txBody>
                    <a:bodyPr/>
                    <a:lstStyle/>
                    <a:p>
                      <a:r>
                        <a:rPr lang="en-IN" dirty="0"/>
                        <a:t>C1</a:t>
                      </a:r>
                    </a:p>
                  </a:txBody>
                  <a:tcPr/>
                </a:tc>
                <a:tc>
                  <a:txBody>
                    <a:bodyPr/>
                    <a:lstStyle/>
                    <a:p>
                      <a:r>
                        <a:rPr lang="en-IN" dirty="0"/>
                        <a:t>C2</a:t>
                      </a:r>
                    </a:p>
                  </a:txBody>
                  <a:tcPr/>
                </a:tc>
                <a:tc>
                  <a:txBody>
                    <a:bodyPr/>
                    <a:lstStyle/>
                    <a:p>
                      <a:r>
                        <a:rPr lang="en-IN" dirty="0"/>
                        <a:t>C3</a:t>
                      </a:r>
                    </a:p>
                  </a:txBody>
                  <a:tcPr/>
                </a:tc>
                <a:tc>
                  <a:txBody>
                    <a:bodyPr/>
                    <a:lstStyle/>
                    <a:p>
                      <a:r>
                        <a:rPr lang="en-IN" dirty="0"/>
                        <a:t>Priority</a:t>
                      </a:r>
                    </a:p>
                  </a:txBody>
                  <a:tcPr/>
                </a:tc>
                <a:extLst>
                  <a:ext uri="{0D108BD9-81ED-4DB2-BD59-A6C34878D82A}">
                    <a16:rowId xmlns:a16="http://schemas.microsoft.com/office/drawing/2014/main" val="1438241"/>
                  </a:ext>
                </a:extLst>
              </a:tr>
              <a:tr h="370840">
                <a:tc>
                  <a:txBody>
                    <a:bodyPr/>
                    <a:lstStyle/>
                    <a:p>
                      <a:r>
                        <a:rPr lang="en-IN" dirty="0"/>
                        <a:t>C1</a:t>
                      </a:r>
                    </a:p>
                  </a:txBody>
                  <a:tcPr/>
                </a:tc>
                <a:tc>
                  <a:txBody>
                    <a:bodyPr/>
                    <a:lstStyle/>
                    <a:p>
                      <a:r>
                        <a:rPr lang="en-IN" dirty="0"/>
                        <a:t>0.689</a:t>
                      </a:r>
                    </a:p>
                  </a:txBody>
                  <a:tcPr/>
                </a:tc>
                <a:tc>
                  <a:txBody>
                    <a:bodyPr/>
                    <a:lstStyle/>
                    <a:p>
                      <a:r>
                        <a:rPr lang="en-IN" dirty="0"/>
                        <a:t>0.750</a:t>
                      </a:r>
                    </a:p>
                  </a:txBody>
                  <a:tcPr/>
                </a:tc>
                <a:tc>
                  <a:txBody>
                    <a:bodyPr/>
                    <a:lstStyle/>
                    <a:p>
                      <a:r>
                        <a:rPr lang="en-IN" dirty="0"/>
                        <a:t>0.555</a:t>
                      </a:r>
                    </a:p>
                  </a:txBody>
                  <a:tcPr/>
                </a:tc>
                <a:tc>
                  <a:txBody>
                    <a:bodyPr/>
                    <a:lstStyle/>
                    <a:p>
                      <a:r>
                        <a:rPr lang="en-IN" dirty="0"/>
                        <a:t>0.664</a:t>
                      </a:r>
                    </a:p>
                  </a:txBody>
                  <a:tcPr/>
                </a:tc>
                <a:extLst>
                  <a:ext uri="{0D108BD9-81ED-4DB2-BD59-A6C34878D82A}">
                    <a16:rowId xmlns:a16="http://schemas.microsoft.com/office/drawing/2014/main" val="2195796827"/>
                  </a:ext>
                </a:extLst>
              </a:tr>
              <a:tr h="370840">
                <a:tc>
                  <a:txBody>
                    <a:bodyPr/>
                    <a:lstStyle/>
                    <a:p>
                      <a:r>
                        <a:rPr lang="en-IN" dirty="0"/>
                        <a:t>C2</a:t>
                      </a:r>
                    </a:p>
                  </a:txBody>
                  <a:tcPr/>
                </a:tc>
                <a:tc>
                  <a:txBody>
                    <a:bodyPr/>
                    <a:lstStyle/>
                    <a:p>
                      <a:r>
                        <a:rPr lang="en-IN" dirty="0"/>
                        <a:t>0.172</a:t>
                      </a:r>
                    </a:p>
                  </a:txBody>
                  <a:tcPr/>
                </a:tc>
                <a:tc>
                  <a:txBody>
                    <a:bodyPr/>
                    <a:lstStyle/>
                    <a:p>
                      <a:r>
                        <a:rPr lang="en-IN" dirty="0"/>
                        <a:t>0.187</a:t>
                      </a:r>
                    </a:p>
                  </a:txBody>
                  <a:tcPr/>
                </a:tc>
                <a:tc>
                  <a:txBody>
                    <a:bodyPr/>
                    <a:lstStyle/>
                    <a:p>
                      <a:r>
                        <a:rPr lang="en-IN" dirty="0"/>
                        <a:t>0.333</a:t>
                      </a:r>
                    </a:p>
                  </a:txBody>
                  <a:tcPr/>
                </a:tc>
                <a:tc>
                  <a:txBody>
                    <a:bodyPr/>
                    <a:lstStyle/>
                    <a:p>
                      <a:r>
                        <a:rPr lang="en-IN" dirty="0"/>
                        <a:t>0.230</a:t>
                      </a:r>
                    </a:p>
                  </a:txBody>
                  <a:tcPr/>
                </a:tc>
                <a:extLst>
                  <a:ext uri="{0D108BD9-81ED-4DB2-BD59-A6C34878D82A}">
                    <a16:rowId xmlns:a16="http://schemas.microsoft.com/office/drawing/2014/main" val="2900426363"/>
                  </a:ext>
                </a:extLst>
              </a:tr>
              <a:tr h="370840">
                <a:tc>
                  <a:txBody>
                    <a:bodyPr/>
                    <a:lstStyle/>
                    <a:p>
                      <a:r>
                        <a:rPr lang="en-IN" dirty="0"/>
                        <a:t>C3</a:t>
                      </a:r>
                    </a:p>
                  </a:txBody>
                  <a:tcPr/>
                </a:tc>
                <a:tc>
                  <a:txBody>
                    <a:bodyPr/>
                    <a:lstStyle/>
                    <a:p>
                      <a:r>
                        <a:rPr lang="en-IN" dirty="0"/>
                        <a:t>0.137</a:t>
                      </a:r>
                    </a:p>
                  </a:txBody>
                  <a:tcPr/>
                </a:tc>
                <a:tc>
                  <a:txBody>
                    <a:bodyPr/>
                    <a:lstStyle/>
                    <a:p>
                      <a:r>
                        <a:rPr lang="en-IN" dirty="0"/>
                        <a:t>0.062</a:t>
                      </a:r>
                    </a:p>
                  </a:txBody>
                  <a:tcPr/>
                </a:tc>
                <a:tc>
                  <a:txBody>
                    <a:bodyPr/>
                    <a:lstStyle/>
                    <a:p>
                      <a:r>
                        <a:rPr lang="en-IN" dirty="0"/>
                        <a:t>0.111</a:t>
                      </a:r>
                    </a:p>
                  </a:txBody>
                  <a:tcPr/>
                </a:tc>
                <a:tc>
                  <a:txBody>
                    <a:bodyPr/>
                    <a:lstStyle/>
                    <a:p>
                      <a:r>
                        <a:rPr lang="en-IN" dirty="0"/>
                        <a:t>0.103</a:t>
                      </a:r>
                    </a:p>
                  </a:txBody>
                  <a:tcPr/>
                </a:tc>
                <a:extLst>
                  <a:ext uri="{0D108BD9-81ED-4DB2-BD59-A6C34878D82A}">
                    <a16:rowId xmlns:a16="http://schemas.microsoft.com/office/drawing/2014/main" val="1871963984"/>
                  </a:ext>
                </a:extLst>
              </a:tr>
            </a:tbl>
          </a:graphicData>
        </a:graphic>
      </p:graphicFrame>
    </p:spTree>
    <p:extLst>
      <p:ext uri="{BB962C8B-B14F-4D97-AF65-F5344CB8AC3E}">
        <p14:creationId xmlns:p14="http://schemas.microsoft.com/office/powerpoint/2010/main" val="27168306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4D2D31C8-BF4A-62BB-8876-2B80E404BBA6}"/>
              </a:ext>
            </a:extLst>
          </p:cNvPr>
          <p:cNvGraphicFramePr>
            <a:graphicFrameLocks noGrp="1"/>
          </p:cNvGraphicFramePr>
          <p:nvPr>
            <p:ph idx="1"/>
            <p:extLst>
              <p:ext uri="{D42A27DB-BD31-4B8C-83A1-F6EECF244321}">
                <p14:modId xmlns:p14="http://schemas.microsoft.com/office/powerpoint/2010/main" val="164664094"/>
              </p:ext>
            </p:extLst>
          </p:nvPr>
        </p:nvGraphicFramePr>
        <p:xfrm>
          <a:off x="424206" y="1872759"/>
          <a:ext cx="10543097" cy="1483360"/>
        </p:xfrm>
        <a:graphic>
          <a:graphicData uri="http://schemas.openxmlformats.org/drawingml/2006/table">
            <a:tbl>
              <a:tblPr firstRow="1" bandRow="1">
                <a:tableStyleId>{5C22544A-7EE6-4342-B048-85BDC9FD1C3A}</a:tableStyleId>
              </a:tblPr>
              <a:tblGrid>
                <a:gridCol w="2126225">
                  <a:extLst>
                    <a:ext uri="{9D8B030D-6E8A-4147-A177-3AD203B41FA5}">
                      <a16:colId xmlns:a16="http://schemas.microsoft.com/office/drawing/2014/main" val="2472436558"/>
                    </a:ext>
                  </a:extLst>
                </a:gridCol>
                <a:gridCol w="2104218">
                  <a:extLst>
                    <a:ext uri="{9D8B030D-6E8A-4147-A177-3AD203B41FA5}">
                      <a16:colId xmlns:a16="http://schemas.microsoft.com/office/drawing/2014/main" val="2228025992"/>
                    </a:ext>
                  </a:extLst>
                </a:gridCol>
                <a:gridCol w="2104218">
                  <a:extLst>
                    <a:ext uri="{9D8B030D-6E8A-4147-A177-3AD203B41FA5}">
                      <a16:colId xmlns:a16="http://schemas.microsoft.com/office/drawing/2014/main" val="120420283"/>
                    </a:ext>
                  </a:extLst>
                </a:gridCol>
                <a:gridCol w="2104218">
                  <a:extLst>
                    <a:ext uri="{9D8B030D-6E8A-4147-A177-3AD203B41FA5}">
                      <a16:colId xmlns:a16="http://schemas.microsoft.com/office/drawing/2014/main" val="2594816711"/>
                    </a:ext>
                  </a:extLst>
                </a:gridCol>
                <a:gridCol w="2104218">
                  <a:extLst>
                    <a:ext uri="{9D8B030D-6E8A-4147-A177-3AD203B41FA5}">
                      <a16:colId xmlns:a16="http://schemas.microsoft.com/office/drawing/2014/main" val="2364681801"/>
                    </a:ext>
                  </a:extLst>
                </a:gridCol>
              </a:tblGrid>
              <a:tr h="370840">
                <a:tc>
                  <a:txBody>
                    <a:bodyPr/>
                    <a:lstStyle/>
                    <a:p>
                      <a:r>
                        <a:rPr lang="en-IN" dirty="0"/>
                        <a:t>Comfort</a:t>
                      </a:r>
                    </a:p>
                  </a:txBody>
                  <a:tcPr/>
                </a:tc>
                <a:tc>
                  <a:txBody>
                    <a:bodyPr/>
                    <a:lstStyle/>
                    <a:p>
                      <a:r>
                        <a:rPr lang="en-IN" dirty="0"/>
                        <a:t>C1</a:t>
                      </a:r>
                    </a:p>
                  </a:txBody>
                  <a:tcPr/>
                </a:tc>
                <a:tc>
                  <a:txBody>
                    <a:bodyPr/>
                    <a:lstStyle/>
                    <a:p>
                      <a:r>
                        <a:rPr lang="en-IN" dirty="0"/>
                        <a:t>C2</a:t>
                      </a:r>
                    </a:p>
                  </a:txBody>
                  <a:tcPr/>
                </a:tc>
                <a:tc>
                  <a:txBody>
                    <a:bodyPr/>
                    <a:lstStyle/>
                    <a:p>
                      <a:r>
                        <a:rPr lang="en-IN" dirty="0"/>
                        <a:t>C3</a:t>
                      </a:r>
                    </a:p>
                  </a:txBody>
                  <a:tcPr/>
                </a:tc>
                <a:tc>
                  <a:txBody>
                    <a:bodyPr/>
                    <a:lstStyle/>
                    <a:p>
                      <a:r>
                        <a:rPr lang="en-IN" dirty="0"/>
                        <a:t>Priority</a:t>
                      </a:r>
                    </a:p>
                  </a:txBody>
                  <a:tcPr/>
                </a:tc>
                <a:extLst>
                  <a:ext uri="{0D108BD9-81ED-4DB2-BD59-A6C34878D82A}">
                    <a16:rowId xmlns:a16="http://schemas.microsoft.com/office/drawing/2014/main" val="3830451989"/>
                  </a:ext>
                </a:extLst>
              </a:tr>
              <a:tr h="370840">
                <a:tc>
                  <a:txBody>
                    <a:bodyPr/>
                    <a:lstStyle/>
                    <a:p>
                      <a:r>
                        <a:rPr lang="en-IN" dirty="0"/>
                        <a:t>C1</a:t>
                      </a:r>
                    </a:p>
                  </a:txBody>
                  <a:tcPr/>
                </a:tc>
                <a:tc>
                  <a:txBody>
                    <a:bodyPr/>
                    <a:lstStyle/>
                    <a:p>
                      <a:r>
                        <a:rPr lang="en-IN" dirty="0"/>
                        <a:t>0.111</a:t>
                      </a:r>
                    </a:p>
                  </a:txBody>
                  <a:tcPr/>
                </a:tc>
                <a:tc>
                  <a:txBody>
                    <a:bodyPr/>
                    <a:lstStyle/>
                    <a:p>
                      <a:r>
                        <a:rPr lang="en-IN" dirty="0"/>
                        <a:t>0.130</a:t>
                      </a:r>
                    </a:p>
                  </a:txBody>
                  <a:tcPr/>
                </a:tc>
                <a:tc>
                  <a:txBody>
                    <a:bodyPr/>
                    <a:lstStyle/>
                    <a:p>
                      <a:r>
                        <a:rPr lang="en-IN" dirty="0"/>
                        <a:t>0.076</a:t>
                      </a:r>
                    </a:p>
                  </a:txBody>
                  <a:tcPr/>
                </a:tc>
                <a:tc>
                  <a:txBody>
                    <a:bodyPr/>
                    <a:lstStyle/>
                    <a:p>
                      <a:r>
                        <a:rPr lang="en-IN" dirty="0"/>
                        <a:t>0.105</a:t>
                      </a:r>
                    </a:p>
                  </a:txBody>
                  <a:tcPr/>
                </a:tc>
                <a:extLst>
                  <a:ext uri="{0D108BD9-81ED-4DB2-BD59-A6C34878D82A}">
                    <a16:rowId xmlns:a16="http://schemas.microsoft.com/office/drawing/2014/main" val="1698548035"/>
                  </a:ext>
                </a:extLst>
              </a:tr>
              <a:tr h="370840">
                <a:tc>
                  <a:txBody>
                    <a:bodyPr/>
                    <a:lstStyle/>
                    <a:p>
                      <a:r>
                        <a:rPr lang="en-IN" dirty="0"/>
                        <a:t>C2</a:t>
                      </a:r>
                    </a:p>
                  </a:txBody>
                  <a:tcPr/>
                </a:tc>
                <a:tc>
                  <a:txBody>
                    <a:bodyPr/>
                    <a:lstStyle/>
                    <a:p>
                      <a:r>
                        <a:rPr lang="en-IN" dirty="0"/>
                        <a:t>0.555</a:t>
                      </a:r>
                    </a:p>
                  </a:txBody>
                  <a:tcPr/>
                </a:tc>
                <a:tc>
                  <a:txBody>
                    <a:bodyPr/>
                    <a:lstStyle/>
                    <a:p>
                      <a:r>
                        <a:rPr lang="en-IN" dirty="0"/>
                        <a:t>0.652</a:t>
                      </a:r>
                    </a:p>
                  </a:txBody>
                  <a:tcPr/>
                </a:tc>
                <a:tc>
                  <a:txBody>
                    <a:bodyPr/>
                    <a:lstStyle/>
                    <a:p>
                      <a:r>
                        <a:rPr lang="en-IN" dirty="0"/>
                        <a:t>0.692</a:t>
                      </a:r>
                    </a:p>
                  </a:txBody>
                  <a:tcPr/>
                </a:tc>
                <a:tc>
                  <a:txBody>
                    <a:bodyPr/>
                    <a:lstStyle/>
                    <a:p>
                      <a:r>
                        <a:rPr lang="en-IN" dirty="0"/>
                        <a:t>0.633</a:t>
                      </a:r>
                    </a:p>
                  </a:txBody>
                  <a:tcPr/>
                </a:tc>
                <a:extLst>
                  <a:ext uri="{0D108BD9-81ED-4DB2-BD59-A6C34878D82A}">
                    <a16:rowId xmlns:a16="http://schemas.microsoft.com/office/drawing/2014/main" val="1338985350"/>
                  </a:ext>
                </a:extLst>
              </a:tr>
              <a:tr h="370840">
                <a:tc>
                  <a:txBody>
                    <a:bodyPr/>
                    <a:lstStyle/>
                    <a:p>
                      <a:r>
                        <a:rPr lang="en-IN" dirty="0"/>
                        <a:t>C3</a:t>
                      </a:r>
                    </a:p>
                  </a:txBody>
                  <a:tcPr/>
                </a:tc>
                <a:tc>
                  <a:txBody>
                    <a:bodyPr/>
                    <a:lstStyle/>
                    <a:p>
                      <a:r>
                        <a:rPr lang="en-IN" dirty="0"/>
                        <a:t>0.333</a:t>
                      </a:r>
                    </a:p>
                  </a:txBody>
                  <a:tcPr/>
                </a:tc>
                <a:tc>
                  <a:txBody>
                    <a:bodyPr/>
                    <a:lstStyle/>
                    <a:p>
                      <a:r>
                        <a:rPr lang="en-IN" dirty="0"/>
                        <a:t>0.217</a:t>
                      </a:r>
                    </a:p>
                  </a:txBody>
                  <a:tcPr/>
                </a:tc>
                <a:tc>
                  <a:txBody>
                    <a:bodyPr/>
                    <a:lstStyle/>
                    <a:p>
                      <a:r>
                        <a:rPr lang="en-IN" dirty="0"/>
                        <a:t>0.230</a:t>
                      </a:r>
                    </a:p>
                  </a:txBody>
                  <a:tcPr/>
                </a:tc>
                <a:tc>
                  <a:txBody>
                    <a:bodyPr/>
                    <a:lstStyle/>
                    <a:p>
                      <a:r>
                        <a:rPr lang="en-IN" dirty="0"/>
                        <a:t>0.390</a:t>
                      </a:r>
                    </a:p>
                  </a:txBody>
                  <a:tcPr/>
                </a:tc>
                <a:extLst>
                  <a:ext uri="{0D108BD9-81ED-4DB2-BD59-A6C34878D82A}">
                    <a16:rowId xmlns:a16="http://schemas.microsoft.com/office/drawing/2014/main" val="3009658640"/>
                  </a:ext>
                </a:extLst>
              </a:tr>
            </a:tbl>
          </a:graphicData>
        </a:graphic>
      </p:graphicFrame>
      <p:graphicFrame>
        <p:nvGraphicFramePr>
          <p:cNvPr id="6" name="Content Placeholder 3">
            <a:extLst>
              <a:ext uri="{FF2B5EF4-FFF2-40B4-BE49-F238E27FC236}">
                <a16:creationId xmlns:a16="http://schemas.microsoft.com/office/drawing/2014/main" id="{30D80070-F165-6052-2D72-6C7A7273C7D3}"/>
              </a:ext>
            </a:extLst>
          </p:cNvPr>
          <p:cNvGraphicFramePr>
            <a:graphicFrameLocks/>
          </p:cNvGraphicFramePr>
          <p:nvPr>
            <p:extLst>
              <p:ext uri="{D42A27DB-BD31-4B8C-83A1-F6EECF244321}">
                <p14:modId xmlns:p14="http://schemas.microsoft.com/office/powerpoint/2010/main" val="1915719109"/>
              </p:ext>
            </p:extLst>
          </p:nvPr>
        </p:nvGraphicFramePr>
        <p:xfrm>
          <a:off x="424206" y="4155617"/>
          <a:ext cx="10515600" cy="148336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472436558"/>
                    </a:ext>
                  </a:extLst>
                </a:gridCol>
                <a:gridCol w="2103120">
                  <a:extLst>
                    <a:ext uri="{9D8B030D-6E8A-4147-A177-3AD203B41FA5}">
                      <a16:colId xmlns:a16="http://schemas.microsoft.com/office/drawing/2014/main" val="2228025992"/>
                    </a:ext>
                  </a:extLst>
                </a:gridCol>
                <a:gridCol w="2103120">
                  <a:extLst>
                    <a:ext uri="{9D8B030D-6E8A-4147-A177-3AD203B41FA5}">
                      <a16:colId xmlns:a16="http://schemas.microsoft.com/office/drawing/2014/main" val="120420283"/>
                    </a:ext>
                  </a:extLst>
                </a:gridCol>
                <a:gridCol w="2103120">
                  <a:extLst>
                    <a:ext uri="{9D8B030D-6E8A-4147-A177-3AD203B41FA5}">
                      <a16:colId xmlns:a16="http://schemas.microsoft.com/office/drawing/2014/main" val="2594816711"/>
                    </a:ext>
                  </a:extLst>
                </a:gridCol>
                <a:gridCol w="2103120">
                  <a:extLst>
                    <a:ext uri="{9D8B030D-6E8A-4147-A177-3AD203B41FA5}">
                      <a16:colId xmlns:a16="http://schemas.microsoft.com/office/drawing/2014/main" val="1521069960"/>
                    </a:ext>
                  </a:extLst>
                </a:gridCol>
              </a:tblGrid>
              <a:tr h="370840">
                <a:tc>
                  <a:txBody>
                    <a:bodyPr/>
                    <a:lstStyle/>
                    <a:p>
                      <a:r>
                        <a:rPr lang="en-IN" dirty="0"/>
                        <a:t>Complexity</a:t>
                      </a:r>
                    </a:p>
                  </a:txBody>
                  <a:tcPr/>
                </a:tc>
                <a:tc>
                  <a:txBody>
                    <a:bodyPr/>
                    <a:lstStyle/>
                    <a:p>
                      <a:r>
                        <a:rPr lang="en-IN" dirty="0"/>
                        <a:t>C1</a:t>
                      </a:r>
                    </a:p>
                  </a:txBody>
                  <a:tcPr/>
                </a:tc>
                <a:tc>
                  <a:txBody>
                    <a:bodyPr/>
                    <a:lstStyle/>
                    <a:p>
                      <a:r>
                        <a:rPr lang="en-IN" dirty="0"/>
                        <a:t>C2</a:t>
                      </a:r>
                    </a:p>
                  </a:txBody>
                  <a:tcPr/>
                </a:tc>
                <a:tc>
                  <a:txBody>
                    <a:bodyPr/>
                    <a:lstStyle/>
                    <a:p>
                      <a:r>
                        <a:rPr lang="en-IN" dirty="0"/>
                        <a:t>C3</a:t>
                      </a:r>
                    </a:p>
                  </a:txBody>
                  <a:tcPr/>
                </a:tc>
                <a:tc>
                  <a:txBody>
                    <a:bodyPr/>
                    <a:lstStyle/>
                    <a:p>
                      <a:r>
                        <a:rPr lang="en-IN" dirty="0"/>
                        <a:t>Priority</a:t>
                      </a:r>
                    </a:p>
                  </a:txBody>
                  <a:tcPr/>
                </a:tc>
                <a:extLst>
                  <a:ext uri="{0D108BD9-81ED-4DB2-BD59-A6C34878D82A}">
                    <a16:rowId xmlns:a16="http://schemas.microsoft.com/office/drawing/2014/main" val="3830451989"/>
                  </a:ext>
                </a:extLst>
              </a:tr>
              <a:tr h="370840">
                <a:tc>
                  <a:txBody>
                    <a:bodyPr/>
                    <a:lstStyle/>
                    <a:p>
                      <a:r>
                        <a:rPr lang="en-IN" dirty="0"/>
                        <a:t>C1</a:t>
                      </a:r>
                    </a:p>
                  </a:txBody>
                  <a:tcPr/>
                </a:tc>
                <a:tc>
                  <a:txBody>
                    <a:bodyPr/>
                    <a:lstStyle/>
                    <a:p>
                      <a:r>
                        <a:rPr lang="en-IN" dirty="0"/>
                        <a:t>0.652</a:t>
                      </a:r>
                    </a:p>
                  </a:txBody>
                  <a:tcPr/>
                </a:tc>
                <a:tc>
                  <a:txBody>
                    <a:bodyPr/>
                    <a:lstStyle/>
                    <a:p>
                      <a:r>
                        <a:rPr lang="en-IN" dirty="0"/>
                        <a:t>0.692</a:t>
                      </a:r>
                    </a:p>
                  </a:txBody>
                  <a:tcPr/>
                </a:tc>
                <a:tc>
                  <a:txBody>
                    <a:bodyPr/>
                    <a:lstStyle/>
                    <a:p>
                      <a:r>
                        <a:rPr lang="en-IN" dirty="0"/>
                        <a:t>0.555</a:t>
                      </a:r>
                    </a:p>
                  </a:txBody>
                  <a:tcPr/>
                </a:tc>
                <a:tc>
                  <a:txBody>
                    <a:bodyPr/>
                    <a:lstStyle/>
                    <a:p>
                      <a:r>
                        <a:rPr lang="en-IN" dirty="0"/>
                        <a:t>0.633</a:t>
                      </a:r>
                    </a:p>
                  </a:txBody>
                  <a:tcPr/>
                </a:tc>
                <a:extLst>
                  <a:ext uri="{0D108BD9-81ED-4DB2-BD59-A6C34878D82A}">
                    <a16:rowId xmlns:a16="http://schemas.microsoft.com/office/drawing/2014/main" val="1698548035"/>
                  </a:ext>
                </a:extLst>
              </a:tr>
              <a:tr h="370840">
                <a:tc>
                  <a:txBody>
                    <a:bodyPr/>
                    <a:lstStyle/>
                    <a:p>
                      <a:r>
                        <a:rPr lang="en-IN" dirty="0"/>
                        <a:t>C2</a:t>
                      </a:r>
                    </a:p>
                  </a:txBody>
                  <a:tcPr/>
                </a:tc>
                <a:tc>
                  <a:txBody>
                    <a:bodyPr/>
                    <a:lstStyle/>
                    <a:p>
                      <a:r>
                        <a:rPr lang="en-IN" dirty="0"/>
                        <a:t>0.217</a:t>
                      </a:r>
                    </a:p>
                  </a:txBody>
                  <a:tcPr/>
                </a:tc>
                <a:tc>
                  <a:txBody>
                    <a:bodyPr/>
                    <a:lstStyle/>
                    <a:p>
                      <a:r>
                        <a:rPr lang="en-IN" dirty="0"/>
                        <a:t>0.230</a:t>
                      </a:r>
                    </a:p>
                  </a:txBody>
                  <a:tcPr/>
                </a:tc>
                <a:tc>
                  <a:txBody>
                    <a:bodyPr/>
                    <a:lstStyle/>
                    <a:p>
                      <a:r>
                        <a:rPr lang="en-IN" dirty="0"/>
                        <a:t>0.333</a:t>
                      </a:r>
                    </a:p>
                  </a:txBody>
                  <a:tcPr/>
                </a:tc>
                <a:tc>
                  <a:txBody>
                    <a:bodyPr/>
                    <a:lstStyle/>
                    <a:p>
                      <a:r>
                        <a:rPr lang="en-IN" dirty="0"/>
                        <a:t>0.390</a:t>
                      </a:r>
                    </a:p>
                  </a:txBody>
                  <a:tcPr/>
                </a:tc>
                <a:extLst>
                  <a:ext uri="{0D108BD9-81ED-4DB2-BD59-A6C34878D82A}">
                    <a16:rowId xmlns:a16="http://schemas.microsoft.com/office/drawing/2014/main" val="1338985350"/>
                  </a:ext>
                </a:extLst>
              </a:tr>
              <a:tr h="370840">
                <a:tc>
                  <a:txBody>
                    <a:bodyPr/>
                    <a:lstStyle/>
                    <a:p>
                      <a:r>
                        <a:rPr lang="en-IN" dirty="0"/>
                        <a:t>C3</a:t>
                      </a:r>
                    </a:p>
                  </a:txBody>
                  <a:tcPr/>
                </a:tc>
                <a:tc>
                  <a:txBody>
                    <a:bodyPr/>
                    <a:lstStyle/>
                    <a:p>
                      <a:r>
                        <a:rPr lang="en-IN" dirty="0"/>
                        <a:t>0.130</a:t>
                      </a:r>
                    </a:p>
                  </a:txBody>
                  <a:tcPr/>
                </a:tc>
                <a:tc>
                  <a:txBody>
                    <a:bodyPr/>
                    <a:lstStyle/>
                    <a:p>
                      <a:r>
                        <a:rPr lang="en-IN" dirty="0"/>
                        <a:t>0.076</a:t>
                      </a:r>
                    </a:p>
                  </a:txBody>
                  <a:tcPr/>
                </a:tc>
                <a:tc>
                  <a:txBody>
                    <a:bodyPr/>
                    <a:lstStyle/>
                    <a:p>
                      <a:r>
                        <a:rPr lang="en-IN" dirty="0"/>
                        <a:t>0.111</a:t>
                      </a:r>
                    </a:p>
                  </a:txBody>
                  <a:tcPr/>
                </a:tc>
                <a:tc>
                  <a:txBody>
                    <a:bodyPr/>
                    <a:lstStyle/>
                    <a:p>
                      <a:r>
                        <a:rPr lang="en-IN" dirty="0"/>
                        <a:t>0.105</a:t>
                      </a:r>
                    </a:p>
                  </a:txBody>
                  <a:tcPr/>
                </a:tc>
                <a:extLst>
                  <a:ext uri="{0D108BD9-81ED-4DB2-BD59-A6C34878D82A}">
                    <a16:rowId xmlns:a16="http://schemas.microsoft.com/office/drawing/2014/main" val="3009658640"/>
                  </a:ext>
                </a:extLst>
              </a:tr>
            </a:tbl>
          </a:graphicData>
        </a:graphic>
      </p:graphicFrame>
    </p:spTree>
    <p:extLst>
      <p:ext uri="{BB962C8B-B14F-4D97-AF65-F5344CB8AC3E}">
        <p14:creationId xmlns:p14="http://schemas.microsoft.com/office/powerpoint/2010/main" val="35730301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BF58EB5-0E86-3FF4-5CAF-63CBA5F580B4}"/>
              </a:ext>
            </a:extLst>
          </p:cNvPr>
          <p:cNvGraphicFramePr>
            <a:graphicFrameLocks noGrp="1"/>
          </p:cNvGraphicFramePr>
          <p:nvPr>
            <p:extLst>
              <p:ext uri="{D42A27DB-BD31-4B8C-83A1-F6EECF244321}">
                <p14:modId xmlns:p14="http://schemas.microsoft.com/office/powerpoint/2010/main" val="195885947"/>
              </p:ext>
            </p:extLst>
          </p:nvPr>
        </p:nvGraphicFramePr>
        <p:xfrm>
          <a:off x="3852420" y="267830"/>
          <a:ext cx="8128000" cy="259588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778193506"/>
                    </a:ext>
                  </a:extLst>
                </a:gridCol>
                <a:gridCol w="2032000">
                  <a:extLst>
                    <a:ext uri="{9D8B030D-6E8A-4147-A177-3AD203B41FA5}">
                      <a16:colId xmlns:a16="http://schemas.microsoft.com/office/drawing/2014/main" val="1756054352"/>
                    </a:ext>
                  </a:extLst>
                </a:gridCol>
                <a:gridCol w="2032000">
                  <a:extLst>
                    <a:ext uri="{9D8B030D-6E8A-4147-A177-3AD203B41FA5}">
                      <a16:colId xmlns:a16="http://schemas.microsoft.com/office/drawing/2014/main" val="2298657"/>
                    </a:ext>
                  </a:extLst>
                </a:gridCol>
                <a:gridCol w="2032000">
                  <a:extLst>
                    <a:ext uri="{9D8B030D-6E8A-4147-A177-3AD203B41FA5}">
                      <a16:colId xmlns:a16="http://schemas.microsoft.com/office/drawing/2014/main" val="775849912"/>
                    </a:ext>
                  </a:extLst>
                </a:gridCol>
              </a:tblGrid>
              <a:tr h="370840">
                <a:tc>
                  <a:txBody>
                    <a:bodyPr/>
                    <a:lstStyle/>
                    <a:p>
                      <a:r>
                        <a:rPr lang="en-IN" dirty="0"/>
                        <a:t>Criteria</a:t>
                      </a:r>
                    </a:p>
                  </a:txBody>
                  <a:tcPr/>
                </a:tc>
                <a:tc>
                  <a:txBody>
                    <a:bodyPr/>
                    <a:lstStyle/>
                    <a:p>
                      <a:r>
                        <a:rPr lang="en-IN" dirty="0"/>
                        <a:t>C1</a:t>
                      </a:r>
                    </a:p>
                  </a:txBody>
                  <a:tcPr/>
                </a:tc>
                <a:tc>
                  <a:txBody>
                    <a:bodyPr/>
                    <a:lstStyle/>
                    <a:p>
                      <a:r>
                        <a:rPr lang="en-IN" dirty="0"/>
                        <a:t>C2</a:t>
                      </a:r>
                    </a:p>
                  </a:txBody>
                  <a:tcPr/>
                </a:tc>
                <a:tc>
                  <a:txBody>
                    <a:bodyPr/>
                    <a:lstStyle/>
                    <a:p>
                      <a:r>
                        <a:rPr lang="en-IN" dirty="0"/>
                        <a:t>C3</a:t>
                      </a:r>
                    </a:p>
                  </a:txBody>
                  <a:tcPr/>
                </a:tc>
                <a:extLst>
                  <a:ext uri="{0D108BD9-81ED-4DB2-BD59-A6C34878D82A}">
                    <a16:rowId xmlns:a16="http://schemas.microsoft.com/office/drawing/2014/main" val="2614839990"/>
                  </a:ext>
                </a:extLst>
              </a:tr>
              <a:tr h="370840">
                <a:tc>
                  <a:txBody>
                    <a:bodyPr/>
                    <a:lstStyle/>
                    <a:p>
                      <a:r>
                        <a:rPr lang="en-IN" dirty="0"/>
                        <a:t>Cost</a:t>
                      </a:r>
                    </a:p>
                  </a:txBody>
                  <a:tcPr/>
                </a:tc>
                <a:tc>
                  <a:txBody>
                    <a:bodyPr/>
                    <a:lstStyle/>
                    <a:p>
                      <a:r>
                        <a:rPr lang="en-IN" dirty="0"/>
                        <a:t>0.298</a:t>
                      </a:r>
                    </a:p>
                  </a:txBody>
                  <a:tcPr/>
                </a:tc>
                <a:tc>
                  <a:txBody>
                    <a:bodyPr/>
                    <a:lstStyle/>
                    <a:p>
                      <a:r>
                        <a:rPr lang="en-IN" dirty="0"/>
                        <a:t>0.108</a:t>
                      </a:r>
                    </a:p>
                  </a:txBody>
                  <a:tcPr/>
                </a:tc>
                <a:tc>
                  <a:txBody>
                    <a:bodyPr/>
                    <a:lstStyle/>
                    <a:p>
                      <a:r>
                        <a:rPr lang="en-IN" dirty="0"/>
                        <a:t>0.043</a:t>
                      </a:r>
                    </a:p>
                  </a:txBody>
                  <a:tcPr/>
                </a:tc>
                <a:extLst>
                  <a:ext uri="{0D108BD9-81ED-4DB2-BD59-A6C34878D82A}">
                    <a16:rowId xmlns:a16="http://schemas.microsoft.com/office/drawing/2014/main" val="3701216006"/>
                  </a:ext>
                </a:extLst>
              </a:tr>
              <a:tr h="370840">
                <a:tc>
                  <a:txBody>
                    <a:bodyPr/>
                    <a:lstStyle/>
                    <a:p>
                      <a:r>
                        <a:rPr lang="en-IN" dirty="0"/>
                        <a:t>Fabrication</a:t>
                      </a:r>
                    </a:p>
                  </a:txBody>
                  <a:tcPr/>
                </a:tc>
                <a:tc>
                  <a:txBody>
                    <a:bodyPr/>
                    <a:lstStyle/>
                    <a:p>
                      <a:r>
                        <a:rPr lang="en-IN" dirty="0"/>
                        <a:t>0.160</a:t>
                      </a:r>
                    </a:p>
                  </a:txBody>
                  <a:tcPr/>
                </a:tc>
                <a:tc>
                  <a:txBody>
                    <a:bodyPr/>
                    <a:lstStyle/>
                    <a:p>
                      <a:r>
                        <a:rPr lang="en-IN" dirty="0"/>
                        <a:t>0.055</a:t>
                      </a:r>
                    </a:p>
                  </a:txBody>
                  <a:tcPr/>
                </a:tc>
                <a:tc>
                  <a:txBody>
                    <a:bodyPr/>
                    <a:lstStyle/>
                    <a:p>
                      <a:r>
                        <a:rPr lang="en-IN" dirty="0"/>
                        <a:t>0.024</a:t>
                      </a:r>
                    </a:p>
                  </a:txBody>
                  <a:tcPr/>
                </a:tc>
                <a:extLst>
                  <a:ext uri="{0D108BD9-81ED-4DB2-BD59-A6C34878D82A}">
                    <a16:rowId xmlns:a16="http://schemas.microsoft.com/office/drawing/2014/main" val="2610015352"/>
                  </a:ext>
                </a:extLst>
              </a:tr>
              <a:tr h="370840">
                <a:tc>
                  <a:txBody>
                    <a:bodyPr/>
                    <a:lstStyle/>
                    <a:p>
                      <a:r>
                        <a:rPr lang="en-IN" dirty="0"/>
                        <a:t>Performance</a:t>
                      </a:r>
                    </a:p>
                  </a:txBody>
                  <a:tcPr/>
                </a:tc>
                <a:tc>
                  <a:txBody>
                    <a:bodyPr/>
                    <a:lstStyle/>
                    <a:p>
                      <a:r>
                        <a:rPr lang="en-IN" dirty="0"/>
                        <a:t>0.029</a:t>
                      </a:r>
                    </a:p>
                  </a:txBody>
                  <a:tcPr/>
                </a:tc>
                <a:tc>
                  <a:txBody>
                    <a:bodyPr/>
                    <a:lstStyle/>
                    <a:p>
                      <a:r>
                        <a:rPr lang="en-IN" dirty="0"/>
                        <a:t>0.074</a:t>
                      </a:r>
                    </a:p>
                  </a:txBody>
                  <a:tcPr/>
                </a:tc>
                <a:tc>
                  <a:txBody>
                    <a:bodyPr/>
                    <a:lstStyle/>
                    <a:p>
                      <a:r>
                        <a:rPr lang="en-IN" dirty="0"/>
                        <a:t>0.100</a:t>
                      </a:r>
                    </a:p>
                  </a:txBody>
                  <a:tcPr/>
                </a:tc>
                <a:extLst>
                  <a:ext uri="{0D108BD9-81ED-4DB2-BD59-A6C34878D82A}">
                    <a16:rowId xmlns:a16="http://schemas.microsoft.com/office/drawing/2014/main" val="3102347979"/>
                  </a:ext>
                </a:extLst>
              </a:tr>
              <a:tr h="370840">
                <a:tc>
                  <a:txBody>
                    <a:bodyPr/>
                    <a:lstStyle/>
                    <a:p>
                      <a:r>
                        <a:rPr lang="en-IN" dirty="0"/>
                        <a:t>Comfort</a:t>
                      </a:r>
                    </a:p>
                  </a:txBody>
                  <a:tcPr/>
                </a:tc>
                <a:tc>
                  <a:txBody>
                    <a:bodyPr/>
                    <a:lstStyle/>
                    <a:p>
                      <a:r>
                        <a:rPr lang="en-IN" dirty="0"/>
                        <a:t>0.012</a:t>
                      </a:r>
                    </a:p>
                  </a:txBody>
                  <a:tcPr/>
                </a:tc>
                <a:tc>
                  <a:txBody>
                    <a:bodyPr/>
                    <a:lstStyle/>
                    <a:p>
                      <a:r>
                        <a:rPr lang="en-IN" dirty="0"/>
                        <a:t>0.076</a:t>
                      </a:r>
                    </a:p>
                  </a:txBody>
                  <a:tcPr/>
                </a:tc>
                <a:tc>
                  <a:txBody>
                    <a:bodyPr/>
                    <a:lstStyle/>
                    <a:p>
                      <a:r>
                        <a:rPr lang="en-IN" dirty="0"/>
                        <a:t>0.047</a:t>
                      </a:r>
                    </a:p>
                  </a:txBody>
                  <a:tcPr/>
                </a:tc>
                <a:extLst>
                  <a:ext uri="{0D108BD9-81ED-4DB2-BD59-A6C34878D82A}">
                    <a16:rowId xmlns:a16="http://schemas.microsoft.com/office/drawing/2014/main" val="950144102"/>
                  </a:ext>
                </a:extLst>
              </a:tr>
              <a:tr h="370840">
                <a:tc>
                  <a:txBody>
                    <a:bodyPr/>
                    <a:lstStyle/>
                    <a:p>
                      <a:r>
                        <a:rPr lang="en-IN" dirty="0"/>
                        <a:t>Complexity</a:t>
                      </a:r>
                    </a:p>
                  </a:txBody>
                  <a:tcPr/>
                </a:tc>
                <a:tc>
                  <a:txBody>
                    <a:bodyPr/>
                    <a:lstStyle/>
                    <a:p>
                      <a:r>
                        <a:rPr lang="en-IN" dirty="0"/>
                        <a:t>0.040</a:t>
                      </a:r>
                    </a:p>
                  </a:txBody>
                  <a:tcPr/>
                </a:tc>
                <a:tc>
                  <a:txBody>
                    <a:bodyPr/>
                    <a:lstStyle/>
                    <a:p>
                      <a:r>
                        <a:rPr lang="en-IN" dirty="0"/>
                        <a:t>0.024</a:t>
                      </a:r>
                    </a:p>
                  </a:txBody>
                  <a:tcPr/>
                </a:tc>
                <a:tc>
                  <a:txBody>
                    <a:bodyPr/>
                    <a:lstStyle/>
                    <a:p>
                      <a:r>
                        <a:rPr lang="en-IN" dirty="0"/>
                        <a:t>0.006</a:t>
                      </a:r>
                    </a:p>
                  </a:txBody>
                  <a:tcPr/>
                </a:tc>
                <a:extLst>
                  <a:ext uri="{0D108BD9-81ED-4DB2-BD59-A6C34878D82A}">
                    <a16:rowId xmlns:a16="http://schemas.microsoft.com/office/drawing/2014/main" val="744625852"/>
                  </a:ext>
                </a:extLst>
              </a:tr>
              <a:tr h="370840">
                <a:tc>
                  <a:txBody>
                    <a:bodyPr/>
                    <a:lstStyle/>
                    <a:p>
                      <a:endParaRPr lang="en-IN" dirty="0"/>
                    </a:p>
                  </a:txBody>
                  <a:tcPr/>
                </a:tc>
                <a:tc>
                  <a:txBody>
                    <a:bodyPr/>
                    <a:lstStyle/>
                    <a:p>
                      <a:r>
                        <a:rPr lang="en-IN" dirty="0"/>
                        <a:t>0.539</a:t>
                      </a:r>
                    </a:p>
                  </a:txBody>
                  <a:tcPr/>
                </a:tc>
                <a:tc>
                  <a:txBody>
                    <a:bodyPr/>
                    <a:lstStyle/>
                    <a:p>
                      <a:r>
                        <a:rPr lang="en-IN" dirty="0"/>
                        <a:t>0.337</a:t>
                      </a:r>
                    </a:p>
                  </a:txBody>
                  <a:tcPr/>
                </a:tc>
                <a:tc>
                  <a:txBody>
                    <a:bodyPr/>
                    <a:lstStyle/>
                    <a:p>
                      <a:r>
                        <a:rPr lang="en-IN" dirty="0"/>
                        <a:t>0.222</a:t>
                      </a:r>
                    </a:p>
                  </a:txBody>
                  <a:tcPr/>
                </a:tc>
                <a:extLst>
                  <a:ext uri="{0D108BD9-81ED-4DB2-BD59-A6C34878D82A}">
                    <a16:rowId xmlns:a16="http://schemas.microsoft.com/office/drawing/2014/main" val="2553549368"/>
                  </a:ext>
                </a:extLst>
              </a:tr>
            </a:tbl>
          </a:graphicData>
        </a:graphic>
      </p:graphicFrame>
      <p:sp>
        <p:nvSpPr>
          <p:cNvPr id="11" name="Rectangle 5">
            <a:extLst>
              <a:ext uri="{FF2B5EF4-FFF2-40B4-BE49-F238E27FC236}">
                <a16:creationId xmlns:a16="http://schemas.microsoft.com/office/drawing/2014/main" id="{82AA0F5F-97D2-724E-80E1-94270D10E1E2}"/>
              </a:ext>
            </a:extLst>
          </p:cNvPr>
          <p:cNvSpPr>
            <a:spLocks noChangeArrowheads="1"/>
          </p:cNvSpPr>
          <p:nvPr/>
        </p:nvSpPr>
        <p:spPr bwMode="auto">
          <a:xfrm>
            <a:off x="1741119" y="4492289"/>
            <a:ext cx="936456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15" name="Rectangle: Rounded Corners 14">
            <a:extLst>
              <a:ext uri="{FF2B5EF4-FFF2-40B4-BE49-F238E27FC236}">
                <a16:creationId xmlns:a16="http://schemas.microsoft.com/office/drawing/2014/main" id="{EB2532F9-DE5E-D34B-DB2B-DDB4A8A0F516}"/>
              </a:ext>
            </a:extLst>
          </p:cNvPr>
          <p:cNvSpPr/>
          <p:nvPr/>
        </p:nvSpPr>
        <p:spPr>
          <a:xfrm>
            <a:off x="3695307" y="3108489"/>
            <a:ext cx="8411066" cy="3749511"/>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1">
                  <a:lumMod val="60000"/>
                  <a:lumOff val="40000"/>
                </a:schemeClr>
              </a:solidFill>
            </a:endParaRPr>
          </a:p>
        </p:txBody>
      </p:sp>
      <p:sp>
        <p:nvSpPr>
          <p:cNvPr id="16" name="Rectangle 7">
            <a:extLst>
              <a:ext uri="{FF2B5EF4-FFF2-40B4-BE49-F238E27FC236}">
                <a16:creationId xmlns:a16="http://schemas.microsoft.com/office/drawing/2014/main" id="{1B8494BF-5470-4080-E6A9-2D3CC6B5942A}"/>
              </a:ext>
            </a:extLst>
          </p:cNvPr>
          <p:cNvSpPr>
            <a:spLocks noChangeArrowheads="1"/>
          </p:cNvSpPr>
          <p:nvPr/>
        </p:nvSpPr>
        <p:spPr bwMode="auto">
          <a:xfrm>
            <a:off x="3852420" y="3275084"/>
            <a:ext cx="7551173"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chemeClr val="tx1"/>
                </a:solidFill>
                <a:effectLst/>
                <a:latin typeface="Arial" panose="020B0604020202020204" pitchFamily="34" charset="0"/>
              </a:rPr>
              <a:t> From the AHP analysis,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chemeClr val="tx1"/>
                </a:solidFill>
                <a:effectLst/>
                <a:latin typeface="Arial" panose="020B0604020202020204" pitchFamily="34" charset="0"/>
              </a:rPr>
              <a:t>Concept-1 (Basic Sensor Based Smart Health Monitoring Chair) has obtained the highest priority among all design alternatives. It is preferred due to its low cost, simple fabrication process, and adequate functional performance suitable for a student prototype.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chemeClr val="tx1"/>
                </a:solidFill>
                <a:effectLst/>
                <a:latin typeface="Arial" panose="020B0604020202020204" pitchFamily="34" charset="0"/>
              </a:rPr>
              <a:t> Although Concept-2 and Concept-3 offer improved comfort and advanced smart features, they involve higher complexity and cost.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chemeClr val="tx1"/>
                </a:solidFill>
                <a:effectLst/>
                <a:latin typeface="Arial" panose="020B0604020202020204" pitchFamily="34" charset="0"/>
              </a:rPr>
              <a:t> Therefore, Concept-1 is selected as the final design for the Smart Health Monitoring Chair project.</a:t>
            </a:r>
          </a:p>
        </p:txBody>
      </p:sp>
      <p:sp>
        <p:nvSpPr>
          <p:cNvPr id="18" name="Oval 17">
            <a:extLst>
              <a:ext uri="{FF2B5EF4-FFF2-40B4-BE49-F238E27FC236}">
                <a16:creationId xmlns:a16="http://schemas.microsoft.com/office/drawing/2014/main" id="{348B1DAF-3235-BBFD-61E2-A5B43CEFADBC}"/>
              </a:ext>
            </a:extLst>
          </p:cNvPr>
          <p:cNvSpPr/>
          <p:nvPr/>
        </p:nvSpPr>
        <p:spPr>
          <a:xfrm>
            <a:off x="-27193" y="239653"/>
            <a:ext cx="3176833" cy="3035431"/>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accent2"/>
                </a:solidFill>
              </a:rPr>
              <a:t>Final Priority Vector</a:t>
            </a:r>
          </a:p>
        </p:txBody>
      </p:sp>
    </p:spTree>
    <p:extLst>
      <p:ext uri="{BB962C8B-B14F-4D97-AF65-F5344CB8AC3E}">
        <p14:creationId xmlns:p14="http://schemas.microsoft.com/office/powerpoint/2010/main" val="21917024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B87C1-B5B9-510F-C65F-C44E93C7C158}"/>
              </a:ext>
            </a:extLst>
          </p:cNvPr>
          <p:cNvSpPr>
            <a:spLocks noGrp="1"/>
          </p:cNvSpPr>
          <p:nvPr>
            <p:ph type="title"/>
          </p:nvPr>
        </p:nvSpPr>
        <p:spPr/>
        <p:txBody>
          <a:bodyPr/>
          <a:lstStyle/>
          <a:p>
            <a:r>
              <a:rPr lang="en-IN" b="1" u="sng" dirty="0"/>
              <a:t>DESIGN FOR MANUFACTURING</a:t>
            </a:r>
          </a:p>
        </p:txBody>
      </p:sp>
      <p:sp>
        <p:nvSpPr>
          <p:cNvPr id="4" name="Rectangle: Rounded Corners 3">
            <a:extLst>
              <a:ext uri="{FF2B5EF4-FFF2-40B4-BE49-F238E27FC236}">
                <a16:creationId xmlns:a16="http://schemas.microsoft.com/office/drawing/2014/main" id="{474A3878-A6D9-5512-03DA-20ADC62C5472}"/>
              </a:ext>
            </a:extLst>
          </p:cNvPr>
          <p:cNvSpPr/>
          <p:nvPr/>
        </p:nvSpPr>
        <p:spPr>
          <a:xfrm>
            <a:off x="205590" y="2545237"/>
            <a:ext cx="3301181" cy="2510786"/>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DFM is applied through:</a:t>
            </a:r>
          </a:p>
          <a:p>
            <a:pPr marL="285750" indent="-285750">
              <a:buFont typeface="Arial" panose="020B0604020202020204" pitchFamily="34" charset="0"/>
              <a:buChar char="•"/>
            </a:pPr>
            <a:r>
              <a:rPr lang="en-US" dirty="0">
                <a:solidFill>
                  <a:schemeClr val="tx1"/>
                </a:solidFill>
              </a:rPr>
              <a:t>Component selection </a:t>
            </a:r>
          </a:p>
          <a:p>
            <a:pPr marL="285750" indent="-285750">
              <a:buFont typeface="Arial" panose="020B0604020202020204" pitchFamily="34" charset="0"/>
              <a:buChar char="•"/>
            </a:pPr>
            <a:r>
              <a:rPr lang="en-US" dirty="0">
                <a:solidFill>
                  <a:schemeClr val="tx1"/>
                </a:solidFill>
              </a:rPr>
              <a:t>Ease of integration </a:t>
            </a:r>
          </a:p>
        </p:txBody>
      </p:sp>
      <p:sp>
        <p:nvSpPr>
          <p:cNvPr id="3" name="Rectangle: Rounded Corners 2">
            <a:extLst>
              <a:ext uri="{FF2B5EF4-FFF2-40B4-BE49-F238E27FC236}">
                <a16:creationId xmlns:a16="http://schemas.microsoft.com/office/drawing/2014/main" id="{A3793784-0252-3828-E76D-92CE39DDA84D}"/>
              </a:ext>
            </a:extLst>
          </p:cNvPr>
          <p:cNvSpPr/>
          <p:nvPr/>
        </p:nvSpPr>
        <p:spPr>
          <a:xfrm>
            <a:off x="5033913" y="2168165"/>
            <a:ext cx="6319887" cy="3544479"/>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dirty="0">
                <a:solidFill>
                  <a:schemeClr val="tx1"/>
                </a:solidFill>
              </a:rPr>
              <a:t>Selected components:</a:t>
            </a:r>
          </a:p>
          <a:p>
            <a:pPr marL="285750" indent="-285750">
              <a:buFont typeface="Arial" panose="020B0604020202020204" pitchFamily="34" charset="0"/>
              <a:buChar char="•"/>
            </a:pPr>
            <a:r>
              <a:rPr lang="en-IN" dirty="0">
                <a:solidFill>
                  <a:schemeClr val="tx1"/>
                </a:solidFill>
              </a:rPr>
              <a:t>ESP32 microcontroller </a:t>
            </a:r>
          </a:p>
          <a:p>
            <a:pPr marL="285750" indent="-285750">
              <a:buFont typeface="Arial" panose="020B0604020202020204" pitchFamily="34" charset="0"/>
              <a:buChar char="•"/>
            </a:pPr>
            <a:r>
              <a:rPr lang="en-IN" dirty="0">
                <a:solidFill>
                  <a:schemeClr val="tx1"/>
                </a:solidFill>
              </a:rPr>
              <a:t>MAX30100 sensor </a:t>
            </a:r>
          </a:p>
          <a:p>
            <a:pPr marL="285750" indent="-285750">
              <a:buFont typeface="Arial" panose="020B0604020202020204" pitchFamily="34" charset="0"/>
              <a:buChar char="•"/>
            </a:pPr>
            <a:r>
              <a:rPr lang="en-IN" dirty="0">
                <a:solidFill>
                  <a:schemeClr val="tx1"/>
                </a:solidFill>
              </a:rPr>
              <a:t>FSR406 force sensor </a:t>
            </a:r>
          </a:p>
          <a:p>
            <a:pPr marL="285750" indent="-285750">
              <a:buFont typeface="Arial" panose="020B0604020202020204" pitchFamily="34" charset="0"/>
              <a:buChar char="•"/>
            </a:pPr>
            <a:r>
              <a:rPr lang="en-IN" dirty="0">
                <a:solidFill>
                  <a:schemeClr val="tx1"/>
                </a:solidFill>
              </a:rPr>
              <a:t>Ultrasonic sensor (HC-SR04) </a:t>
            </a:r>
          </a:p>
          <a:p>
            <a:pPr marL="285750" indent="-285750">
              <a:buFont typeface="Arial" panose="020B0604020202020204" pitchFamily="34" charset="0"/>
              <a:buChar char="•"/>
            </a:pPr>
            <a:r>
              <a:rPr lang="en-IN" dirty="0">
                <a:solidFill>
                  <a:schemeClr val="tx1"/>
                </a:solidFill>
              </a:rPr>
              <a:t>OLED display </a:t>
            </a:r>
          </a:p>
          <a:p>
            <a:pPr marL="285750" indent="-285750">
              <a:buFont typeface="Arial" panose="020B0604020202020204" pitchFamily="34" charset="0"/>
              <a:buChar char="•"/>
            </a:pPr>
            <a:r>
              <a:rPr lang="en-IN" dirty="0">
                <a:solidFill>
                  <a:schemeClr val="tx1"/>
                </a:solidFill>
              </a:rPr>
              <a:t>LM2596 converter</a:t>
            </a:r>
          </a:p>
        </p:txBody>
      </p:sp>
    </p:spTree>
    <p:extLst>
      <p:ext uri="{BB962C8B-B14F-4D97-AF65-F5344CB8AC3E}">
        <p14:creationId xmlns:p14="http://schemas.microsoft.com/office/powerpoint/2010/main" val="33539591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p:nvPr/>
        </p:nvSpPr>
        <p:spPr>
          <a:xfrm>
            <a:off x="5702833" y="970067"/>
            <a:ext cx="3000800" cy="5367600"/>
          </a:xfrm>
          <a:prstGeom prst="roundRect">
            <a:avLst>
              <a:gd name="adj" fmla="val 16667"/>
            </a:avLst>
          </a:prstGeom>
          <a:solidFill>
            <a:srgbClr val="0B5394"/>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GB" sz="2267" b="1">
                <a:solidFill>
                  <a:schemeClr val="dk1"/>
                </a:solidFill>
              </a:rPr>
              <a:t>ESP32 microcontroller</a:t>
            </a:r>
            <a:endParaRPr sz="2267" b="1">
              <a:solidFill>
                <a:schemeClr val="dk1"/>
              </a:solidFill>
            </a:endParaRPr>
          </a:p>
        </p:txBody>
      </p:sp>
      <p:sp>
        <p:nvSpPr>
          <p:cNvPr id="61" name="Google Shape;61;p14"/>
          <p:cNvSpPr/>
          <p:nvPr/>
        </p:nvSpPr>
        <p:spPr>
          <a:xfrm>
            <a:off x="2198867" y="771867"/>
            <a:ext cx="2526800" cy="1200400"/>
          </a:xfrm>
          <a:prstGeom prst="roundRect">
            <a:avLst>
              <a:gd name="adj" fmla="val 16667"/>
            </a:avLst>
          </a:prstGeom>
          <a:solidFill>
            <a:srgbClr val="DD7E6B"/>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GB" sz="2267" b="1"/>
              <a:t>LM2596 dc-dc buck convertor </a:t>
            </a:r>
            <a:endParaRPr sz="2267" b="1"/>
          </a:p>
        </p:txBody>
      </p:sp>
      <p:sp>
        <p:nvSpPr>
          <p:cNvPr id="62" name="Google Shape;62;p14"/>
          <p:cNvSpPr/>
          <p:nvPr/>
        </p:nvSpPr>
        <p:spPr>
          <a:xfrm>
            <a:off x="279200" y="501267"/>
            <a:ext cx="1558800" cy="1741600"/>
          </a:xfrm>
          <a:prstGeom prst="roundRect">
            <a:avLst>
              <a:gd name="adj" fmla="val 16667"/>
            </a:avLst>
          </a:prstGeom>
          <a:solidFill>
            <a:srgbClr val="DD7E6B"/>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GB" sz="2267" b="1"/>
              <a:t>12v dc adaptor</a:t>
            </a:r>
            <a:endParaRPr sz="2267" b="1"/>
          </a:p>
        </p:txBody>
      </p:sp>
      <p:sp>
        <p:nvSpPr>
          <p:cNvPr id="63" name="Google Shape;63;p14"/>
          <p:cNvSpPr/>
          <p:nvPr/>
        </p:nvSpPr>
        <p:spPr>
          <a:xfrm>
            <a:off x="9204500" y="501267"/>
            <a:ext cx="2526800" cy="1669200"/>
          </a:xfrm>
          <a:prstGeom prst="roundRect">
            <a:avLst>
              <a:gd name="adj" fmla="val 16667"/>
            </a:avLst>
          </a:prstGeom>
          <a:solidFill>
            <a:srgbClr val="B4A7D6"/>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GB" sz="3600" b="1">
                <a:solidFill>
                  <a:schemeClr val="dk1"/>
                </a:solidFill>
              </a:rPr>
              <a:t>OLED</a:t>
            </a:r>
            <a:endParaRPr sz="3600" b="1">
              <a:solidFill>
                <a:schemeClr val="dk1"/>
              </a:solidFill>
            </a:endParaRPr>
          </a:p>
          <a:p>
            <a:pPr algn="ctr"/>
            <a:r>
              <a:rPr lang="en-GB" sz="3600" b="1">
                <a:solidFill>
                  <a:schemeClr val="dk1"/>
                </a:solidFill>
              </a:rPr>
              <a:t>display</a:t>
            </a:r>
            <a:endParaRPr sz="3600" b="1">
              <a:solidFill>
                <a:schemeClr val="dk1"/>
              </a:solidFill>
            </a:endParaRPr>
          </a:p>
        </p:txBody>
      </p:sp>
      <p:sp>
        <p:nvSpPr>
          <p:cNvPr id="64" name="Google Shape;64;p14"/>
          <p:cNvSpPr/>
          <p:nvPr/>
        </p:nvSpPr>
        <p:spPr>
          <a:xfrm>
            <a:off x="9434300" y="2978667"/>
            <a:ext cx="2067200" cy="3612800"/>
          </a:xfrm>
          <a:prstGeom prst="roundRect">
            <a:avLst>
              <a:gd name="adj" fmla="val 16667"/>
            </a:avLst>
          </a:prstGeom>
          <a:solidFill>
            <a:srgbClr val="C27BA0"/>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GB" sz="3067" b="1">
                <a:solidFill>
                  <a:schemeClr val="dk1"/>
                </a:solidFill>
              </a:rPr>
              <a:t>Alert </a:t>
            </a:r>
            <a:r>
              <a:rPr lang="en-GB" sz="2667" b="1">
                <a:solidFill>
                  <a:schemeClr val="dk1"/>
                </a:solidFill>
              </a:rPr>
              <a:t>unit </a:t>
            </a:r>
            <a:br>
              <a:rPr lang="en-GB" sz="3067" b="1"/>
            </a:br>
            <a:br>
              <a:rPr lang="en-GB" sz="2267" b="1"/>
            </a:br>
            <a:r>
              <a:rPr lang="en-GB" sz="2267" b="1"/>
              <a:t>Transistor with Buzzer </a:t>
            </a:r>
            <a:br>
              <a:rPr lang="en-GB" sz="2267" b="1"/>
            </a:br>
            <a:br>
              <a:rPr lang="en-GB" sz="2267" b="1"/>
            </a:br>
            <a:r>
              <a:rPr lang="en-GB" sz="2267" b="1"/>
              <a:t>Green led</a:t>
            </a:r>
            <a:br>
              <a:rPr lang="en-GB" sz="2267" b="1"/>
            </a:br>
            <a:br>
              <a:rPr lang="en-GB" sz="2267" b="1"/>
            </a:br>
            <a:r>
              <a:rPr lang="en-GB" sz="2267" b="1"/>
              <a:t>Red led</a:t>
            </a:r>
            <a:endParaRPr sz="2267" b="1"/>
          </a:p>
        </p:txBody>
      </p:sp>
      <p:sp>
        <p:nvSpPr>
          <p:cNvPr id="65" name="Google Shape;65;p14"/>
          <p:cNvSpPr/>
          <p:nvPr/>
        </p:nvSpPr>
        <p:spPr>
          <a:xfrm>
            <a:off x="1058600" y="3403133"/>
            <a:ext cx="2526800" cy="1457747"/>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GB" sz="2400" dirty="0"/>
              <a:t>MAX30100 sensor </a:t>
            </a:r>
            <a:br>
              <a:rPr lang="en-GB" sz="2400" dirty="0"/>
            </a:br>
            <a:r>
              <a:rPr lang="en-GB" sz="2400" dirty="0"/>
              <a:t>Heart beat &amp; SPO2</a:t>
            </a:r>
            <a:endParaRPr sz="2400" dirty="0"/>
          </a:p>
        </p:txBody>
      </p:sp>
      <p:sp>
        <p:nvSpPr>
          <p:cNvPr id="66" name="Google Shape;66;p14"/>
          <p:cNvSpPr/>
          <p:nvPr/>
        </p:nvSpPr>
        <p:spPr>
          <a:xfrm>
            <a:off x="1206366" y="4960447"/>
            <a:ext cx="2332000" cy="8040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GB" sz="2400" dirty="0"/>
              <a:t>FRS406 </a:t>
            </a:r>
            <a:br>
              <a:rPr lang="en-GB" sz="2400" dirty="0"/>
            </a:br>
            <a:r>
              <a:rPr lang="en-GB" sz="2400" dirty="0"/>
              <a:t>Force sensor </a:t>
            </a:r>
            <a:endParaRPr sz="2400" dirty="0"/>
          </a:p>
        </p:txBody>
      </p:sp>
      <p:sp>
        <p:nvSpPr>
          <p:cNvPr id="67" name="Google Shape;67;p14"/>
          <p:cNvSpPr/>
          <p:nvPr/>
        </p:nvSpPr>
        <p:spPr>
          <a:xfrm>
            <a:off x="1058600" y="5784333"/>
            <a:ext cx="2526800" cy="6036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GB" sz="2400" dirty="0"/>
              <a:t>Ultrasonic sensor</a:t>
            </a:r>
            <a:endParaRPr sz="2400" dirty="0"/>
          </a:p>
        </p:txBody>
      </p:sp>
      <p:sp>
        <p:nvSpPr>
          <p:cNvPr id="68" name="Google Shape;68;p14"/>
          <p:cNvSpPr/>
          <p:nvPr/>
        </p:nvSpPr>
        <p:spPr>
          <a:xfrm>
            <a:off x="870567" y="2631900"/>
            <a:ext cx="3068000" cy="3855600"/>
          </a:xfrm>
          <a:prstGeom prst="rect">
            <a:avLst/>
          </a:prstGeom>
          <a:noFill/>
          <a:ln w="7620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solidFill>
                <a:schemeClr val="dk1"/>
              </a:solidFill>
            </a:endParaRPr>
          </a:p>
        </p:txBody>
      </p:sp>
      <p:sp>
        <p:nvSpPr>
          <p:cNvPr id="69" name="Google Shape;69;p14"/>
          <p:cNvSpPr txBox="1"/>
          <p:nvPr/>
        </p:nvSpPr>
        <p:spPr>
          <a:xfrm>
            <a:off x="1141167" y="2677473"/>
            <a:ext cx="2526800" cy="656614"/>
          </a:xfrm>
          <a:prstGeom prst="rect">
            <a:avLst/>
          </a:prstGeom>
          <a:solidFill>
            <a:srgbClr val="9900FF"/>
          </a:solidFill>
          <a:ln w="9525" cap="flat" cmpd="sng">
            <a:solidFill>
              <a:schemeClr val="lt1"/>
            </a:solidFill>
            <a:prstDash val="solid"/>
            <a:round/>
            <a:headEnd type="none" w="sm" len="sm"/>
            <a:tailEnd type="none" w="sm" len="sm"/>
          </a:ln>
        </p:spPr>
        <p:txBody>
          <a:bodyPr spcFirstLastPara="1" wrap="square" lIns="121900" tIns="121900" rIns="121900" bIns="121900" anchor="t" anchorCtr="0">
            <a:spAutoFit/>
          </a:bodyPr>
          <a:lstStyle/>
          <a:p>
            <a:pPr algn="ctr"/>
            <a:r>
              <a:rPr lang="en-GB" sz="2667" b="1" dirty="0">
                <a:solidFill>
                  <a:schemeClr val="dk1"/>
                </a:solidFill>
              </a:rPr>
              <a:t>Sensor unit </a:t>
            </a:r>
            <a:endParaRPr sz="2667" b="1" dirty="0">
              <a:solidFill>
                <a:schemeClr val="dk1"/>
              </a:solidFill>
            </a:endParaRPr>
          </a:p>
        </p:txBody>
      </p:sp>
      <p:cxnSp>
        <p:nvCxnSpPr>
          <p:cNvPr id="70" name="Google Shape;70;p14"/>
          <p:cNvCxnSpPr>
            <a:stCxn id="62" idx="3"/>
            <a:endCxn id="61" idx="1"/>
          </p:cNvCxnSpPr>
          <p:nvPr/>
        </p:nvCxnSpPr>
        <p:spPr>
          <a:xfrm>
            <a:off x="1838000" y="1372067"/>
            <a:ext cx="360800" cy="0"/>
          </a:xfrm>
          <a:prstGeom prst="straightConnector1">
            <a:avLst/>
          </a:prstGeom>
          <a:noFill/>
          <a:ln w="28575" cap="flat" cmpd="sng">
            <a:solidFill>
              <a:schemeClr val="dk1"/>
            </a:solidFill>
            <a:prstDash val="solid"/>
            <a:round/>
            <a:headEnd type="none" w="med" len="med"/>
            <a:tailEnd type="triangle" w="med" len="med"/>
          </a:ln>
        </p:spPr>
      </p:cxnSp>
      <p:cxnSp>
        <p:nvCxnSpPr>
          <p:cNvPr id="71" name="Google Shape;71;p14"/>
          <p:cNvCxnSpPr>
            <a:stCxn id="61" idx="3"/>
          </p:cNvCxnSpPr>
          <p:nvPr/>
        </p:nvCxnSpPr>
        <p:spPr>
          <a:xfrm>
            <a:off x="4725667" y="1372067"/>
            <a:ext cx="1000400" cy="10800"/>
          </a:xfrm>
          <a:prstGeom prst="straightConnector1">
            <a:avLst/>
          </a:prstGeom>
          <a:noFill/>
          <a:ln w="38100" cap="flat" cmpd="sng">
            <a:solidFill>
              <a:schemeClr val="dk1"/>
            </a:solidFill>
            <a:prstDash val="solid"/>
            <a:round/>
            <a:headEnd type="none" w="med" len="med"/>
            <a:tailEnd type="triangle" w="med" len="med"/>
          </a:ln>
        </p:spPr>
      </p:cxnSp>
      <p:cxnSp>
        <p:nvCxnSpPr>
          <p:cNvPr id="72" name="Google Shape;72;p14"/>
          <p:cNvCxnSpPr>
            <a:stCxn id="60" idx="0"/>
            <a:endCxn id="63" idx="1"/>
          </p:cNvCxnSpPr>
          <p:nvPr/>
        </p:nvCxnSpPr>
        <p:spPr>
          <a:xfrm rot="-5400000" flipH="1">
            <a:off x="8020833" y="152467"/>
            <a:ext cx="366000" cy="2001200"/>
          </a:xfrm>
          <a:prstGeom prst="bentConnector4">
            <a:avLst>
              <a:gd name="adj1" fmla="val -86749"/>
              <a:gd name="adj2" fmla="val 87489"/>
            </a:avLst>
          </a:prstGeom>
          <a:noFill/>
          <a:ln w="38100" cap="flat" cmpd="sng">
            <a:solidFill>
              <a:schemeClr val="dk1"/>
            </a:solidFill>
            <a:prstDash val="solid"/>
            <a:round/>
            <a:headEnd type="none" w="med" len="med"/>
            <a:tailEnd type="triangle" w="med" len="med"/>
          </a:ln>
        </p:spPr>
      </p:cxnSp>
      <p:cxnSp>
        <p:nvCxnSpPr>
          <p:cNvPr id="73" name="Google Shape;73;p14"/>
          <p:cNvCxnSpPr>
            <a:stCxn id="60" idx="3"/>
            <a:endCxn id="64" idx="1"/>
          </p:cNvCxnSpPr>
          <p:nvPr/>
        </p:nvCxnSpPr>
        <p:spPr>
          <a:xfrm>
            <a:off x="8703633" y="3653867"/>
            <a:ext cx="730800" cy="1131200"/>
          </a:xfrm>
          <a:prstGeom prst="bentConnector3">
            <a:avLst>
              <a:gd name="adj1" fmla="val 49991"/>
            </a:avLst>
          </a:prstGeom>
          <a:noFill/>
          <a:ln w="38100" cap="flat" cmpd="sng">
            <a:solidFill>
              <a:schemeClr val="dk1"/>
            </a:solidFill>
            <a:prstDash val="solid"/>
            <a:round/>
            <a:headEnd type="none" w="med" len="med"/>
            <a:tailEnd type="triangle" w="med" len="med"/>
          </a:ln>
        </p:spPr>
      </p:cxnSp>
      <p:cxnSp>
        <p:nvCxnSpPr>
          <p:cNvPr id="74" name="Google Shape;74;p14"/>
          <p:cNvCxnSpPr>
            <a:endCxn id="60" idx="1"/>
          </p:cNvCxnSpPr>
          <p:nvPr/>
        </p:nvCxnSpPr>
        <p:spPr>
          <a:xfrm rot="10800000" flipH="1">
            <a:off x="3938433" y="3653867"/>
            <a:ext cx="1764400" cy="906000"/>
          </a:xfrm>
          <a:prstGeom prst="bentConnector3">
            <a:avLst>
              <a:gd name="adj1" fmla="val 50000"/>
            </a:avLst>
          </a:prstGeom>
          <a:noFill/>
          <a:ln w="76200" cap="flat" cmpd="sng">
            <a:solidFill>
              <a:schemeClr val="dk1"/>
            </a:solidFill>
            <a:prstDash val="solid"/>
            <a:round/>
            <a:headEnd type="none" w="med" len="med"/>
            <a:tailEnd type="triangle" w="med" len="med"/>
          </a:ln>
        </p:spPr>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1"/>
          <p:cNvSpPr txBox="1">
            <a:spLocks noGrp="1"/>
          </p:cNvSpPr>
          <p:nvPr>
            <p:ph type="title"/>
          </p:nvPr>
        </p:nvSpPr>
        <p:spPr>
          <a:xfrm>
            <a:off x="354000" y="320467"/>
            <a:ext cx="5393600" cy="1976400"/>
          </a:xfrm>
          <a:prstGeom prst="rect">
            <a:avLst/>
          </a:prstGeom>
        </p:spPr>
        <p:txBody>
          <a:bodyPr spcFirstLastPara="1" vert="horz" wrap="square" lIns="121900" tIns="121900" rIns="121900" bIns="121900" rtlCol="0" anchor="b" anchorCtr="0">
            <a:normAutofit/>
          </a:bodyPr>
          <a:lstStyle/>
          <a:p>
            <a:r>
              <a:rPr lang="en-GB"/>
              <a:t>Ultrasonic sensor HC-SR04</a:t>
            </a:r>
            <a:endParaRPr/>
          </a:p>
        </p:txBody>
      </p:sp>
      <p:pic>
        <p:nvPicPr>
          <p:cNvPr id="124" name="Google Shape;124;p21"/>
          <p:cNvPicPr preferRelativeResize="0"/>
          <p:nvPr/>
        </p:nvPicPr>
        <p:blipFill>
          <a:blip r:embed="rId3">
            <a:alphaModFix/>
          </a:blip>
          <a:stretch>
            <a:fillRect/>
          </a:stretch>
        </p:blipFill>
        <p:spPr>
          <a:xfrm>
            <a:off x="573667" y="2468167"/>
            <a:ext cx="4954267" cy="2540245"/>
          </a:xfrm>
          <a:prstGeom prst="rect">
            <a:avLst/>
          </a:prstGeom>
          <a:noFill/>
          <a:ln>
            <a:noFill/>
          </a:ln>
        </p:spPr>
      </p:pic>
      <p:pic>
        <p:nvPicPr>
          <p:cNvPr id="125" name="Google Shape;125;p21"/>
          <p:cNvPicPr preferRelativeResize="0"/>
          <p:nvPr/>
        </p:nvPicPr>
        <p:blipFill>
          <a:blip r:embed="rId4">
            <a:alphaModFix/>
          </a:blip>
          <a:stretch>
            <a:fillRect/>
          </a:stretch>
        </p:blipFill>
        <p:spPr>
          <a:xfrm>
            <a:off x="6677800" y="589367"/>
            <a:ext cx="5037667" cy="5555567"/>
          </a:xfrm>
          <a:prstGeom prst="rect">
            <a:avLst/>
          </a:prstGeom>
          <a:noFill/>
          <a:ln>
            <a:noFill/>
          </a:ln>
        </p:spPr>
      </p:pic>
      <p:sp>
        <p:nvSpPr>
          <p:cNvPr id="126" name="Google Shape;126;p21"/>
          <p:cNvSpPr txBox="1"/>
          <p:nvPr/>
        </p:nvSpPr>
        <p:spPr>
          <a:xfrm>
            <a:off x="1050800" y="5279067"/>
            <a:ext cx="4000000" cy="1200416"/>
          </a:xfrm>
          <a:prstGeom prst="rect">
            <a:avLst/>
          </a:prstGeom>
          <a:noFill/>
          <a:ln>
            <a:noFill/>
          </a:ln>
        </p:spPr>
        <p:txBody>
          <a:bodyPr spcFirstLastPara="1" wrap="square" lIns="121900" tIns="121900" rIns="121900" bIns="121900" anchor="t" anchorCtr="0">
            <a:spAutoFit/>
          </a:bodyPr>
          <a:lstStyle/>
          <a:p>
            <a:pPr>
              <a:lnSpc>
                <a:spcPct val="95000"/>
              </a:lnSpc>
            </a:pPr>
            <a:r>
              <a:rPr lang="en-GB" sz="1860" b="1">
                <a:solidFill>
                  <a:srgbClr val="FFFF00"/>
                </a:solidFill>
              </a:rPr>
              <a:t>Ultrasonic TRIG → GPIO 5</a:t>
            </a:r>
            <a:endParaRPr sz="1860" b="1">
              <a:solidFill>
                <a:srgbClr val="FFFF00"/>
              </a:solidFill>
            </a:endParaRPr>
          </a:p>
          <a:p>
            <a:pPr>
              <a:lnSpc>
                <a:spcPct val="95000"/>
              </a:lnSpc>
              <a:spcBef>
                <a:spcPts val="1600"/>
              </a:spcBef>
              <a:spcAft>
                <a:spcPts val="1600"/>
              </a:spcAft>
            </a:pPr>
            <a:r>
              <a:rPr lang="en-GB" sz="1860" b="1">
                <a:solidFill>
                  <a:srgbClr val="FFFF00"/>
                </a:solidFill>
              </a:rPr>
              <a:t>Ultrasonic ECHO → GPIO 18</a:t>
            </a:r>
            <a:endParaRPr sz="24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0"/>
          <p:cNvSpPr txBox="1">
            <a:spLocks noGrp="1"/>
          </p:cNvSpPr>
          <p:nvPr>
            <p:ph type="title"/>
          </p:nvPr>
        </p:nvSpPr>
        <p:spPr>
          <a:xfrm>
            <a:off x="226400" y="-558200"/>
            <a:ext cx="5393600" cy="1976400"/>
          </a:xfrm>
          <a:prstGeom prst="rect">
            <a:avLst/>
          </a:prstGeom>
        </p:spPr>
        <p:txBody>
          <a:bodyPr spcFirstLastPara="1" vert="horz" wrap="square" lIns="121900" tIns="121900" rIns="121900" bIns="121900" rtlCol="0" anchor="b" anchorCtr="0">
            <a:normAutofit/>
          </a:bodyPr>
          <a:lstStyle/>
          <a:p>
            <a:r>
              <a:rPr lang="en-GB"/>
              <a:t>Force sensor</a:t>
            </a:r>
            <a:endParaRPr/>
          </a:p>
        </p:txBody>
      </p:sp>
      <p:pic>
        <p:nvPicPr>
          <p:cNvPr id="116" name="Google Shape;116;p20"/>
          <p:cNvPicPr preferRelativeResize="0"/>
          <p:nvPr/>
        </p:nvPicPr>
        <p:blipFill>
          <a:blip r:embed="rId3">
            <a:alphaModFix/>
          </a:blip>
          <a:stretch>
            <a:fillRect/>
          </a:stretch>
        </p:blipFill>
        <p:spPr>
          <a:xfrm>
            <a:off x="6753284" y="457100"/>
            <a:ext cx="4526235" cy="4526235"/>
          </a:xfrm>
          <a:prstGeom prst="rect">
            <a:avLst/>
          </a:prstGeom>
          <a:noFill/>
          <a:ln>
            <a:noFill/>
          </a:ln>
        </p:spPr>
      </p:pic>
      <p:pic>
        <p:nvPicPr>
          <p:cNvPr id="117" name="Google Shape;117;p20"/>
          <p:cNvPicPr preferRelativeResize="0"/>
          <p:nvPr/>
        </p:nvPicPr>
        <p:blipFill>
          <a:blip r:embed="rId4">
            <a:alphaModFix/>
          </a:blip>
          <a:stretch>
            <a:fillRect/>
          </a:stretch>
        </p:blipFill>
        <p:spPr>
          <a:xfrm>
            <a:off x="660085" y="1646867"/>
            <a:ext cx="4526233" cy="4235872"/>
          </a:xfrm>
          <a:prstGeom prst="rect">
            <a:avLst/>
          </a:prstGeom>
          <a:noFill/>
          <a:ln>
            <a:noFill/>
          </a:ln>
        </p:spPr>
      </p:pic>
      <p:sp>
        <p:nvSpPr>
          <p:cNvPr id="118" name="Google Shape;118;p20"/>
          <p:cNvSpPr txBox="1"/>
          <p:nvPr/>
        </p:nvSpPr>
        <p:spPr>
          <a:xfrm>
            <a:off x="6753200" y="5645934"/>
            <a:ext cx="4526400" cy="762348"/>
          </a:xfrm>
          <a:prstGeom prst="rect">
            <a:avLst/>
          </a:prstGeom>
          <a:noFill/>
          <a:ln>
            <a:noFill/>
          </a:ln>
        </p:spPr>
        <p:txBody>
          <a:bodyPr spcFirstLastPara="1" wrap="square" lIns="121900" tIns="121900" rIns="121900" bIns="121900" anchor="t" anchorCtr="0">
            <a:spAutoFit/>
          </a:bodyPr>
          <a:lstStyle/>
          <a:p>
            <a:pPr>
              <a:lnSpc>
                <a:spcPct val="95000"/>
              </a:lnSpc>
              <a:spcAft>
                <a:spcPts val="1600"/>
              </a:spcAft>
            </a:pPr>
            <a:r>
              <a:rPr lang="en-GB" sz="2127" b="1">
                <a:solidFill>
                  <a:srgbClr val="FF00FF"/>
                </a:solidFill>
              </a:rPr>
              <a:t>FSR Sensor      → GPIO 34</a:t>
            </a:r>
            <a:endParaRPr sz="2127" b="1">
              <a:solidFill>
                <a:srgbClr val="FF00FF"/>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2"/>
          <p:cNvSpPr txBox="1">
            <a:spLocks noGrp="1"/>
          </p:cNvSpPr>
          <p:nvPr>
            <p:ph type="title"/>
          </p:nvPr>
        </p:nvSpPr>
        <p:spPr>
          <a:xfrm>
            <a:off x="354000" y="368333"/>
            <a:ext cx="5393600" cy="1976400"/>
          </a:xfrm>
          <a:prstGeom prst="rect">
            <a:avLst/>
          </a:prstGeom>
        </p:spPr>
        <p:txBody>
          <a:bodyPr spcFirstLastPara="1" vert="horz" wrap="square" lIns="121900" tIns="121900" rIns="121900" bIns="121900" rtlCol="0" anchor="b" anchorCtr="0">
            <a:normAutofit/>
          </a:bodyPr>
          <a:lstStyle/>
          <a:p>
            <a:r>
              <a:rPr lang="en-GB"/>
              <a:t>OLED display module</a:t>
            </a:r>
            <a:endParaRPr/>
          </a:p>
        </p:txBody>
      </p:sp>
      <p:pic>
        <p:nvPicPr>
          <p:cNvPr id="132" name="Google Shape;132;p22"/>
          <p:cNvPicPr preferRelativeResize="0"/>
          <p:nvPr/>
        </p:nvPicPr>
        <p:blipFill>
          <a:blip r:embed="rId3">
            <a:alphaModFix/>
          </a:blip>
          <a:stretch>
            <a:fillRect/>
          </a:stretch>
        </p:blipFill>
        <p:spPr>
          <a:xfrm>
            <a:off x="354001" y="2636167"/>
            <a:ext cx="5563300" cy="2615600"/>
          </a:xfrm>
          <a:prstGeom prst="rect">
            <a:avLst/>
          </a:prstGeom>
          <a:noFill/>
          <a:ln>
            <a:noFill/>
          </a:ln>
        </p:spPr>
      </p:pic>
      <p:pic>
        <p:nvPicPr>
          <p:cNvPr id="133" name="Google Shape;133;p22"/>
          <p:cNvPicPr preferRelativeResize="0"/>
          <p:nvPr/>
        </p:nvPicPr>
        <p:blipFill>
          <a:blip r:embed="rId4">
            <a:alphaModFix/>
          </a:blip>
          <a:stretch>
            <a:fillRect/>
          </a:stretch>
        </p:blipFill>
        <p:spPr>
          <a:xfrm>
            <a:off x="6120500" y="203201"/>
            <a:ext cx="5868301" cy="6057601"/>
          </a:xfrm>
          <a:prstGeom prst="rect">
            <a:avLst/>
          </a:prstGeom>
          <a:noFill/>
          <a:ln>
            <a:noFill/>
          </a:ln>
        </p:spPr>
      </p:pic>
      <p:sp>
        <p:nvSpPr>
          <p:cNvPr id="134" name="Google Shape;134;p22"/>
          <p:cNvSpPr txBox="1"/>
          <p:nvPr/>
        </p:nvSpPr>
        <p:spPr>
          <a:xfrm>
            <a:off x="1050800" y="5543200"/>
            <a:ext cx="4000000" cy="1239273"/>
          </a:xfrm>
          <a:prstGeom prst="rect">
            <a:avLst/>
          </a:prstGeom>
          <a:noFill/>
          <a:ln>
            <a:noFill/>
          </a:ln>
        </p:spPr>
        <p:txBody>
          <a:bodyPr spcFirstLastPara="1" wrap="square" lIns="121900" tIns="121900" rIns="121900" bIns="121900" anchor="t" anchorCtr="0">
            <a:spAutoFit/>
          </a:bodyPr>
          <a:lstStyle/>
          <a:p>
            <a:pPr>
              <a:lnSpc>
                <a:spcPct val="95000"/>
              </a:lnSpc>
            </a:pPr>
            <a:r>
              <a:rPr lang="en-GB" sz="1993" b="1">
                <a:solidFill>
                  <a:srgbClr val="FFFF00"/>
                </a:solidFill>
              </a:rPr>
              <a:t>OLED SDA        → GPIO 16</a:t>
            </a:r>
            <a:endParaRPr sz="1993" b="1">
              <a:solidFill>
                <a:srgbClr val="FFFF00"/>
              </a:solidFill>
            </a:endParaRPr>
          </a:p>
          <a:p>
            <a:pPr>
              <a:lnSpc>
                <a:spcPct val="95000"/>
              </a:lnSpc>
              <a:spcBef>
                <a:spcPts val="1600"/>
              </a:spcBef>
              <a:spcAft>
                <a:spcPts val="1600"/>
              </a:spcAft>
            </a:pPr>
            <a:r>
              <a:rPr lang="en-GB" sz="1993" b="1">
                <a:solidFill>
                  <a:srgbClr val="FFFF00"/>
                </a:solidFill>
              </a:rPr>
              <a:t>OLED SCL        → GPIO 17</a:t>
            </a:r>
            <a:endParaRPr sz="2400">
              <a:solidFill>
                <a:srgbClr val="FFFF0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9"/>
          <p:cNvSpPr txBox="1">
            <a:spLocks noGrp="1"/>
          </p:cNvSpPr>
          <p:nvPr>
            <p:ph type="title"/>
          </p:nvPr>
        </p:nvSpPr>
        <p:spPr>
          <a:xfrm>
            <a:off x="354000" y="400200"/>
            <a:ext cx="5393600" cy="1976400"/>
          </a:xfrm>
          <a:prstGeom prst="rect">
            <a:avLst/>
          </a:prstGeom>
        </p:spPr>
        <p:txBody>
          <a:bodyPr spcFirstLastPara="1" vert="horz" wrap="square" lIns="121900" tIns="121900" rIns="121900" bIns="121900" rtlCol="0" anchor="b" anchorCtr="0">
            <a:noAutofit/>
          </a:bodyPr>
          <a:lstStyle/>
          <a:p>
            <a:pPr>
              <a:buSzPts val="990"/>
            </a:pPr>
            <a:r>
              <a:rPr lang="en-GB" sz="1707" u="sng">
                <a:solidFill>
                  <a:schemeClr val="hlink"/>
                </a:solidFill>
                <a:hlinkClick r:id="rId3"/>
              </a:rPr>
              <a:t>https://lastminuteengineers.com/max30100-pulse-oximeter-heart-rate-sensor-arduino-tutorial/</a:t>
            </a:r>
            <a:endParaRPr sz="1707"/>
          </a:p>
          <a:p>
            <a:pPr>
              <a:buSzPts val="990"/>
            </a:pPr>
            <a:endParaRPr sz="1707"/>
          </a:p>
          <a:p>
            <a:pPr>
              <a:buSzPts val="990"/>
            </a:pPr>
            <a:endParaRPr sz="1707"/>
          </a:p>
          <a:p>
            <a:pPr>
              <a:buSzPts val="990"/>
            </a:pPr>
            <a:r>
              <a:rPr lang="en-GB" sz="1707"/>
              <a:t>For more details</a:t>
            </a:r>
            <a:endParaRPr sz="1707"/>
          </a:p>
        </p:txBody>
      </p:sp>
      <p:sp>
        <p:nvSpPr>
          <p:cNvPr id="106" name="Google Shape;106;p19"/>
          <p:cNvSpPr txBox="1">
            <a:spLocks noGrp="1"/>
          </p:cNvSpPr>
          <p:nvPr>
            <p:ph type="subTitle" idx="1"/>
          </p:nvPr>
        </p:nvSpPr>
        <p:spPr>
          <a:xfrm>
            <a:off x="290200" y="5675000"/>
            <a:ext cx="5393600" cy="1646800"/>
          </a:xfrm>
          <a:prstGeom prst="rect">
            <a:avLst/>
          </a:prstGeom>
        </p:spPr>
        <p:txBody>
          <a:bodyPr spcFirstLastPara="1" vert="horz" wrap="square" lIns="121900" tIns="121900" rIns="121900" bIns="121900" rtlCol="0" anchor="t" anchorCtr="0">
            <a:normAutofit/>
          </a:bodyPr>
          <a:lstStyle/>
          <a:p>
            <a:pPr marL="0" indent="0" algn="l">
              <a:lnSpc>
                <a:spcPct val="130000"/>
              </a:lnSpc>
              <a:spcBef>
                <a:spcPts val="2400"/>
              </a:spcBef>
            </a:pPr>
            <a:r>
              <a:rPr lang="en-GB" sz="2267" dirty="0">
                <a:solidFill>
                  <a:schemeClr val="lt1"/>
                </a:solidFill>
                <a:highlight>
                  <a:srgbClr val="FFFFFF"/>
                </a:highlight>
              </a:rPr>
              <a:t>MAX30100 Pulse Oximeter and Heart Rate Sensor</a:t>
            </a:r>
            <a:endParaRPr sz="2267" dirty="0">
              <a:solidFill>
                <a:schemeClr val="lt1"/>
              </a:solidFill>
              <a:highlight>
                <a:srgbClr val="FFFFFF"/>
              </a:highlight>
            </a:endParaRPr>
          </a:p>
          <a:p>
            <a:pPr marL="0" indent="0">
              <a:spcBef>
                <a:spcPts val="533"/>
              </a:spcBef>
            </a:pPr>
            <a:endParaRPr dirty="0">
              <a:solidFill>
                <a:schemeClr val="lt1"/>
              </a:solidFill>
            </a:endParaRPr>
          </a:p>
        </p:txBody>
      </p:sp>
      <p:pic>
        <p:nvPicPr>
          <p:cNvPr id="107" name="Google Shape;107;p19"/>
          <p:cNvPicPr preferRelativeResize="0"/>
          <p:nvPr/>
        </p:nvPicPr>
        <p:blipFill rotWithShape="1">
          <a:blip r:embed="rId4">
            <a:alphaModFix/>
          </a:blip>
          <a:srcRect l="178120" t="-22470" r="-178120" b="22470"/>
          <a:stretch/>
        </p:blipFill>
        <p:spPr>
          <a:xfrm>
            <a:off x="7196467" y="1178700"/>
            <a:ext cx="3895067" cy="2981133"/>
          </a:xfrm>
          <a:prstGeom prst="rect">
            <a:avLst/>
          </a:prstGeom>
          <a:noFill/>
          <a:ln>
            <a:noFill/>
          </a:ln>
        </p:spPr>
      </p:pic>
      <p:pic>
        <p:nvPicPr>
          <p:cNvPr id="108" name="Google Shape;108;p19"/>
          <p:cNvPicPr preferRelativeResize="0"/>
          <p:nvPr/>
        </p:nvPicPr>
        <p:blipFill>
          <a:blip r:embed="rId5">
            <a:alphaModFix/>
          </a:blip>
          <a:stretch>
            <a:fillRect/>
          </a:stretch>
        </p:blipFill>
        <p:spPr>
          <a:xfrm>
            <a:off x="6789201" y="588600"/>
            <a:ext cx="4709601" cy="3979800"/>
          </a:xfrm>
          <a:prstGeom prst="rect">
            <a:avLst/>
          </a:prstGeom>
          <a:noFill/>
          <a:ln>
            <a:noFill/>
          </a:ln>
        </p:spPr>
      </p:pic>
      <p:pic>
        <p:nvPicPr>
          <p:cNvPr id="109" name="Google Shape;109;p19"/>
          <p:cNvPicPr preferRelativeResize="0"/>
          <p:nvPr/>
        </p:nvPicPr>
        <p:blipFill>
          <a:blip r:embed="rId4">
            <a:alphaModFix/>
          </a:blip>
          <a:stretch>
            <a:fillRect/>
          </a:stretch>
        </p:blipFill>
        <p:spPr>
          <a:xfrm>
            <a:off x="1161501" y="2643600"/>
            <a:ext cx="3778599" cy="2892000"/>
          </a:xfrm>
          <a:prstGeom prst="rect">
            <a:avLst/>
          </a:prstGeom>
          <a:noFill/>
          <a:ln>
            <a:noFill/>
          </a:ln>
        </p:spPr>
      </p:pic>
      <p:sp>
        <p:nvSpPr>
          <p:cNvPr id="110" name="Google Shape;110;p19"/>
          <p:cNvSpPr txBox="1"/>
          <p:nvPr/>
        </p:nvSpPr>
        <p:spPr>
          <a:xfrm>
            <a:off x="7144000" y="5263134"/>
            <a:ext cx="4000000" cy="1200416"/>
          </a:xfrm>
          <a:prstGeom prst="rect">
            <a:avLst/>
          </a:prstGeom>
          <a:noFill/>
          <a:ln>
            <a:noFill/>
          </a:ln>
        </p:spPr>
        <p:txBody>
          <a:bodyPr spcFirstLastPara="1" wrap="square" lIns="121900" tIns="121900" rIns="121900" bIns="121900" anchor="t" anchorCtr="0">
            <a:spAutoFit/>
          </a:bodyPr>
          <a:lstStyle/>
          <a:p>
            <a:pPr>
              <a:lnSpc>
                <a:spcPct val="95000"/>
              </a:lnSpc>
            </a:pPr>
            <a:r>
              <a:rPr lang="en-GB" sz="1860" b="1" dirty="0">
                <a:solidFill>
                  <a:srgbClr val="00FFFF"/>
                </a:solidFill>
              </a:rPr>
              <a:t>MAX30100 SDA    → GPIO 21</a:t>
            </a:r>
            <a:endParaRPr sz="1860" b="1" dirty="0">
              <a:solidFill>
                <a:srgbClr val="00FFFF"/>
              </a:solidFill>
            </a:endParaRPr>
          </a:p>
          <a:p>
            <a:pPr>
              <a:lnSpc>
                <a:spcPct val="95000"/>
              </a:lnSpc>
              <a:spcBef>
                <a:spcPts val="1600"/>
              </a:spcBef>
              <a:spcAft>
                <a:spcPts val="1600"/>
              </a:spcAft>
            </a:pPr>
            <a:r>
              <a:rPr lang="en-GB" sz="1860" b="1" dirty="0">
                <a:solidFill>
                  <a:srgbClr val="00FFFF"/>
                </a:solidFill>
              </a:rPr>
              <a:t>MAX30100 SCL    → GPIO 22</a:t>
            </a:r>
            <a:endParaRPr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3"/>
          <p:cNvSpPr txBox="1">
            <a:spLocks noGrp="1"/>
          </p:cNvSpPr>
          <p:nvPr>
            <p:ph type="title"/>
          </p:nvPr>
        </p:nvSpPr>
        <p:spPr>
          <a:xfrm>
            <a:off x="354000" y="575667"/>
            <a:ext cx="5393600" cy="1976400"/>
          </a:xfrm>
          <a:prstGeom prst="rect">
            <a:avLst/>
          </a:prstGeom>
        </p:spPr>
        <p:txBody>
          <a:bodyPr spcFirstLastPara="1" vert="horz" wrap="square" lIns="121900" tIns="121900" rIns="121900" bIns="121900" rtlCol="0" anchor="b" anchorCtr="0">
            <a:normAutofit/>
          </a:bodyPr>
          <a:lstStyle/>
          <a:p>
            <a:r>
              <a:rPr lang="en-GB"/>
              <a:t>Buzzer</a:t>
            </a:r>
            <a:endParaRPr/>
          </a:p>
        </p:txBody>
      </p:sp>
      <p:sp>
        <p:nvSpPr>
          <p:cNvPr id="140" name="Google Shape;140;p23"/>
          <p:cNvSpPr txBox="1">
            <a:spLocks noGrp="1"/>
          </p:cNvSpPr>
          <p:nvPr>
            <p:ph type="subTitle" idx="1"/>
          </p:nvPr>
        </p:nvSpPr>
        <p:spPr>
          <a:xfrm>
            <a:off x="593233" y="4215867"/>
            <a:ext cx="5393600" cy="1646800"/>
          </a:xfrm>
          <a:prstGeom prst="rect">
            <a:avLst/>
          </a:prstGeom>
        </p:spPr>
        <p:txBody>
          <a:bodyPr spcFirstLastPara="1" vert="horz" wrap="square" lIns="121900" tIns="121900" rIns="121900" bIns="121900" rtlCol="0" anchor="t" anchorCtr="0">
            <a:normAutofit/>
          </a:bodyPr>
          <a:lstStyle/>
          <a:p>
            <a:pPr marL="0" indent="0" algn="l">
              <a:lnSpc>
                <a:spcPct val="115000"/>
              </a:lnSpc>
              <a:spcAft>
                <a:spcPts val="1600"/>
              </a:spcAft>
              <a:buClr>
                <a:srgbClr val="000000"/>
              </a:buClr>
              <a:buSzPts val="1018"/>
            </a:pPr>
            <a:r>
              <a:rPr lang="en-GB" sz="2487" b="1">
                <a:solidFill>
                  <a:srgbClr val="FF0000"/>
                </a:solidFill>
              </a:rPr>
              <a:t>BUZZER   → GPIO 23 + GND</a:t>
            </a:r>
            <a:endParaRPr>
              <a:solidFill>
                <a:srgbClr val="FF0000"/>
              </a:solidFill>
            </a:endParaRPr>
          </a:p>
        </p:txBody>
      </p:sp>
      <p:pic>
        <p:nvPicPr>
          <p:cNvPr id="141" name="Google Shape;141;p23"/>
          <p:cNvPicPr preferRelativeResize="0"/>
          <p:nvPr/>
        </p:nvPicPr>
        <p:blipFill>
          <a:blip r:embed="rId3">
            <a:alphaModFix/>
          </a:blip>
          <a:stretch>
            <a:fillRect/>
          </a:stretch>
        </p:blipFill>
        <p:spPr>
          <a:xfrm>
            <a:off x="6604900" y="1044368"/>
            <a:ext cx="5006667" cy="4510433"/>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6"/>
          <p:cNvSpPr txBox="1">
            <a:spLocks noGrp="1"/>
          </p:cNvSpPr>
          <p:nvPr>
            <p:ph type="title"/>
          </p:nvPr>
        </p:nvSpPr>
        <p:spPr>
          <a:xfrm>
            <a:off x="417767" y="751100"/>
            <a:ext cx="5393600" cy="1976400"/>
          </a:xfrm>
          <a:prstGeom prst="rect">
            <a:avLst/>
          </a:prstGeom>
        </p:spPr>
        <p:txBody>
          <a:bodyPr spcFirstLastPara="1" vert="horz" wrap="square" lIns="121900" tIns="121900" rIns="121900" bIns="121900" rtlCol="0" anchor="b" anchorCtr="0">
            <a:normAutofit/>
          </a:bodyPr>
          <a:lstStyle/>
          <a:p>
            <a:r>
              <a:rPr lang="en-GB"/>
              <a:t>12v Adaptor with </a:t>
            </a:r>
            <a:r>
              <a:rPr lang="en-GB" b="1">
                <a:solidFill>
                  <a:srgbClr val="FF0000"/>
                </a:solidFill>
              </a:rPr>
              <a:t>dc jack</a:t>
            </a:r>
            <a:r>
              <a:rPr lang="en-GB" b="1"/>
              <a:t> </a:t>
            </a:r>
            <a:endParaRPr b="1"/>
          </a:p>
        </p:txBody>
      </p:sp>
      <p:pic>
        <p:nvPicPr>
          <p:cNvPr id="161" name="Google Shape;161;p26"/>
          <p:cNvPicPr preferRelativeResize="0"/>
          <p:nvPr/>
        </p:nvPicPr>
        <p:blipFill>
          <a:blip r:embed="rId3">
            <a:alphaModFix/>
          </a:blip>
          <a:stretch>
            <a:fillRect/>
          </a:stretch>
        </p:blipFill>
        <p:spPr>
          <a:xfrm>
            <a:off x="5950800" y="203200"/>
            <a:ext cx="6038000" cy="6038000"/>
          </a:xfrm>
          <a:prstGeom prst="rect">
            <a:avLst/>
          </a:prstGeom>
          <a:noFill/>
          <a:ln>
            <a:noFill/>
          </a:ln>
        </p:spPr>
      </p:pic>
      <p:pic>
        <p:nvPicPr>
          <p:cNvPr id="162" name="Google Shape;162;p26"/>
          <p:cNvPicPr preferRelativeResize="0"/>
          <p:nvPr/>
        </p:nvPicPr>
        <p:blipFill>
          <a:blip r:embed="rId4">
            <a:alphaModFix/>
          </a:blip>
          <a:stretch>
            <a:fillRect/>
          </a:stretch>
        </p:blipFill>
        <p:spPr>
          <a:xfrm>
            <a:off x="1526967" y="3871701"/>
            <a:ext cx="2843605" cy="2830967"/>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5"/>
          <p:cNvSpPr txBox="1">
            <a:spLocks noGrp="1"/>
          </p:cNvSpPr>
          <p:nvPr>
            <p:ph type="title"/>
          </p:nvPr>
        </p:nvSpPr>
        <p:spPr>
          <a:xfrm>
            <a:off x="417800" y="304533"/>
            <a:ext cx="5393600" cy="1976400"/>
          </a:xfrm>
          <a:prstGeom prst="rect">
            <a:avLst/>
          </a:prstGeom>
        </p:spPr>
        <p:txBody>
          <a:bodyPr spcFirstLastPara="1" vert="horz" wrap="square" lIns="121900" tIns="121900" rIns="121900" bIns="121900" rtlCol="0" anchor="b" anchorCtr="0">
            <a:normAutofit/>
          </a:bodyPr>
          <a:lstStyle/>
          <a:p>
            <a:r>
              <a:rPr lang="en-GB"/>
              <a:t>Dc supply convertor</a:t>
            </a:r>
            <a:endParaRPr/>
          </a:p>
        </p:txBody>
      </p:sp>
      <p:sp>
        <p:nvSpPr>
          <p:cNvPr id="154" name="Google Shape;154;p25"/>
          <p:cNvSpPr txBox="1">
            <a:spLocks noGrp="1"/>
          </p:cNvSpPr>
          <p:nvPr>
            <p:ph type="subTitle" idx="1"/>
          </p:nvPr>
        </p:nvSpPr>
        <p:spPr>
          <a:xfrm>
            <a:off x="417800" y="2429633"/>
            <a:ext cx="5393600" cy="1646800"/>
          </a:xfrm>
          <a:prstGeom prst="rect">
            <a:avLst/>
          </a:prstGeom>
        </p:spPr>
        <p:txBody>
          <a:bodyPr spcFirstLastPara="1" vert="horz" wrap="square" lIns="121900" tIns="121900" rIns="121900" bIns="121900" rtlCol="0" anchor="t" anchorCtr="0">
            <a:normAutofit/>
          </a:bodyPr>
          <a:lstStyle/>
          <a:p>
            <a:pPr marL="0" indent="0"/>
            <a:r>
              <a:rPr lang="en-GB" sz="2267" b="1">
                <a:solidFill>
                  <a:srgbClr val="FFFF00"/>
                </a:solidFill>
              </a:rPr>
              <a:t>LM2596 dc-dc buck convertor </a:t>
            </a:r>
            <a:endParaRPr sz="2267" b="1">
              <a:solidFill>
                <a:srgbClr val="FFFF00"/>
              </a:solidFill>
            </a:endParaRPr>
          </a:p>
          <a:p>
            <a:pPr marL="0" indent="0"/>
            <a:endParaRPr sz="2267" b="1">
              <a:solidFill>
                <a:srgbClr val="FFFF00"/>
              </a:solidFill>
            </a:endParaRPr>
          </a:p>
          <a:p>
            <a:pPr marL="0" indent="0"/>
            <a:r>
              <a:rPr lang="en-GB" b="1">
                <a:solidFill>
                  <a:srgbClr val="00FFFF"/>
                </a:solidFill>
              </a:rPr>
              <a:t>12v dc to 5v dc</a:t>
            </a:r>
            <a:endParaRPr b="1">
              <a:solidFill>
                <a:srgbClr val="00FFFF"/>
              </a:solidFill>
            </a:endParaRPr>
          </a:p>
        </p:txBody>
      </p:sp>
      <p:pic>
        <p:nvPicPr>
          <p:cNvPr id="155" name="Google Shape;155;p25"/>
          <p:cNvPicPr preferRelativeResize="0"/>
          <p:nvPr/>
        </p:nvPicPr>
        <p:blipFill>
          <a:blip r:embed="rId3">
            <a:alphaModFix/>
          </a:blip>
          <a:stretch>
            <a:fillRect/>
          </a:stretch>
        </p:blipFill>
        <p:spPr>
          <a:xfrm>
            <a:off x="6096000" y="2005433"/>
            <a:ext cx="5974200" cy="3410272"/>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4"/>
          <p:cNvSpPr txBox="1">
            <a:spLocks noGrp="1"/>
          </p:cNvSpPr>
          <p:nvPr>
            <p:ph type="title"/>
          </p:nvPr>
        </p:nvSpPr>
        <p:spPr>
          <a:xfrm>
            <a:off x="354000" y="671333"/>
            <a:ext cx="5393600" cy="1976400"/>
          </a:xfrm>
          <a:prstGeom prst="rect">
            <a:avLst/>
          </a:prstGeom>
        </p:spPr>
        <p:txBody>
          <a:bodyPr spcFirstLastPara="1" vert="horz" wrap="square" lIns="121900" tIns="121900" rIns="121900" bIns="121900" rtlCol="0" anchor="b" anchorCtr="0">
            <a:normAutofit/>
          </a:bodyPr>
          <a:lstStyle/>
          <a:p>
            <a:r>
              <a:rPr lang="en-GB"/>
              <a:t>Led green and red</a:t>
            </a:r>
            <a:endParaRPr/>
          </a:p>
        </p:txBody>
      </p:sp>
      <p:sp>
        <p:nvSpPr>
          <p:cNvPr id="147" name="Google Shape;147;p24"/>
          <p:cNvSpPr txBox="1">
            <a:spLocks noGrp="1"/>
          </p:cNvSpPr>
          <p:nvPr>
            <p:ph type="subTitle" idx="1"/>
          </p:nvPr>
        </p:nvSpPr>
        <p:spPr>
          <a:xfrm>
            <a:off x="354000" y="3737433"/>
            <a:ext cx="5393600" cy="1646800"/>
          </a:xfrm>
          <a:prstGeom prst="rect">
            <a:avLst/>
          </a:prstGeom>
        </p:spPr>
        <p:txBody>
          <a:bodyPr spcFirstLastPara="1" vert="horz" wrap="square" lIns="121900" tIns="121900" rIns="121900" bIns="121900" rtlCol="0" anchor="t" anchorCtr="0">
            <a:normAutofit/>
          </a:bodyPr>
          <a:lstStyle/>
          <a:p>
            <a:pPr marL="0" indent="0" algn="l">
              <a:lnSpc>
                <a:spcPct val="115000"/>
              </a:lnSpc>
              <a:buClr>
                <a:srgbClr val="000000"/>
              </a:buClr>
              <a:buSzPts val="1018"/>
            </a:pPr>
            <a:r>
              <a:rPr lang="en-GB" sz="2487" b="1">
                <a:solidFill>
                  <a:srgbClr val="6AA84F"/>
                </a:solidFill>
              </a:rPr>
              <a:t>LED1     → GPIO 25 + 220Ω + GND</a:t>
            </a:r>
            <a:endParaRPr sz="2487" b="1">
              <a:solidFill>
                <a:srgbClr val="6AA84F"/>
              </a:solidFill>
            </a:endParaRPr>
          </a:p>
          <a:p>
            <a:pPr marL="0" indent="0" algn="l">
              <a:lnSpc>
                <a:spcPct val="115000"/>
              </a:lnSpc>
              <a:spcBef>
                <a:spcPts val="1600"/>
              </a:spcBef>
              <a:spcAft>
                <a:spcPts val="1600"/>
              </a:spcAft>
              <a:buClr>
                <a:srgbClr val="000000"/>
              </a:buClr>
              <a:buSzPts val="1018"/>
            </a:pPr>
            <a:r>
              <a:rPr lang="en-GB" sz="2487" b="1">
                <a:solidFill>
                  <a:srgbClr val="FF0000"/>
                </a:solidFill>
              </a:rPr>
              <a:t>LED2     → GPIO 26 + 220Ω + GND</a:t>
            </a:r>
            <a:endParaRPr/>
          </a:p>
        </p:txBody>
      </p:sp>
      <p:pic>
        <p:nvPicPr>
          <p:cNvPr id="148" name="Google Shape;148;p24"/>
          <p:cNvPicPr preferRelativeResize="0"/>
          <p:nvPr/>
        </p:nvPicPr>
        <p:blipFill>
          <a:blip r:embed="rId3">
            <a:alphaModFix/>
          </a:blip>
          <a:stretch>
            <a:fillRect/>
          </a:stretch>
        </p:blipFill>
        <p:spPr>
          <a:xfrm>
            <a:off x="6493067" y="1156834"/>
            <a:ext cx="5393600" cy="4039993"/>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5"/>
          <p:cNvSpPr txBox="1">
            <a:spLocks noGrp="1"/>
          </p:cNvSpPr>
          <p:nvPr>
            <p:ph type="title"/>
          </p:nvPr>
        </p:nvSpPr>
        <p:spPr>
          <a:xfrm>
            <a:off x="490000" y="2844168"/>
            <a:ext cx="4861480" cy="1169664"/>
          </a:xfrm>
          <a:prstGeom prst="rect">
            <a:avLst/>
          </a:prstGeom>
        </p:spPr>
        <p:txBody>
          <a:bodyPr spcFirstLastPara="1" vert="horz" wrap="square" lIns="121900" tIns="121900" rIns="121900" bIns="121900" rtlCol="0" anchor="b" anchorCtr="0">
            <a:normAutofit/>
          </a:bodyPr>
          <a:lstStyle/>
          <a:p>
            <a:r>
              <a:rPr lang="en-GB" b="1" dirty="0"/>
              <a:t>Pin connection</a:t>
            </a:r>
            <a:endParaRPr b="1" dirty="0"/>
          </a:p>
        </p:txBody>
      </p:sp>
      <p:sp>
        <p:nvSpPr>
          <p:cNvPr id="80" name="Google Shape;80;p15"/>
          <p:cNvSpPr txBox="1">
            <a:spLocks noGrp="1"/>
          </p:cNvSpPr>
          <p:nvPr>
            <p:ph type="subTitle" idx="1"/>
          </p:nvPr>
        </p:nvSpPr>
        <p:spPr>
          <a:xfrm>
            <a:off x="235669" y="4227627"/>
            <a:ext cx="4946322" cy="740299"/>
          </a:xfrm>
          <a:prstGeom prst="rect">
            <a:avLst/>
          </a:prstGeom>
        </p:spPr>
        <p:txBody>
          <a:bodyPr spcFirstLastPara="1" vert="horz" wrap="square" lIns="121900" tIns="121900" rIns="121900" bIns="121900" rtlCol="0" anchor="t" anchorCtr="0">
            <a:normAutofit/>
          </a:bodyPr>
          <a:lstStyle/>
          <a:p>
            <a:pPr marL="0" indent="0"/>
            <a:r>
              <a:rPr lang="en-GB" dirty="0"/>
              <a:t>With ESP32 microcontroller</a:t>
            </a:r>
            <a:endParaRPr dirty="0"/>
          </a:p>
        </p:txBody>
      </p:sp>
      <p:sp>
        <p:nvSpPr>
          <p:cNvPr id="81" name="Google Shape;81;p15"/>
          <p:cNvSpPr txBox="1">
            <a:spLocks noGrp="1"/>
          </p:cNvSpPr>
          <p:nvPr>
            <p:ph type="body" idx="2"/>
          </p:nvPr>
        </p:nvSpPr>
        <p:spPr>
          <a:xfrm>
            <a:off x="6586000" y="164100"/>
            <a:ext cx="5116000" cy="6363600"/>
          </a:xfrm>
          <a:prstGeom prst="rect">
            <a:avLst/>
          </a:prstGeom>
        </p:spPr>
        <p:txBody>
          <a:bodyPr spcFirstLastPara="1" vert="horz" wrap="square" lIns="121900" tIns="121900" rIns="121900" bIns="121900" rtlCol="0" anchor="ctr" anchorCtr="0">
            <a:noAutofit/>
          </a:bodyPr>
          <a:lstStyle/>
          <a:p>
            <a:pPr marL="0" indent="0">
              <a:lnSpc>
                <a:spcPct val="95000"/>
              </a:lnSpc>
              <a:buSzPts val="853"/>
              <a:buNone/>
            </a:pPr>
            <a:r>
              <a:rPr lang="en-GB" sz="2127" b="1">
                <a:solidFill>
                  <a:srgbClr val="FF00FF"/>
                </a:solidFill>
              </a:rPr>
              <a:t>FSR Sensor      → GPIO 34</a:t>
            </a:r>
            <a:endParaRPr sz="2127" b="1">
              <a:solidFill>
                <a:srgbClr val="FF00FF"/>
              </a:solidFill>
            </a:endParaRPr>
          </a:p>
          <a:p>
            <a:pPr marL="0" indent="0">
              <a:lnSpc>
                <a:spcPct val="95000"/>
              </a:lnSpc>
              <a:spcBef>
                <a:spcPts val="1600"/>
              </a:spcBef>
              <a:buSzPts val="853"/>
              <a:buNone/>
            </a:pPr>
            <a:endParaRPr sz="1860"/>
          </a:p>
          <a:p>
            <a:pPr marL="0" indent="0">
              <a:lnSpc>
                <a:spcPct val="95000"/>
              </a:lnSpc>
              <a:spcBef>
                <a:spcPts val="1600"/>
              </a:spcBef>
              <a:buSzPts val="853"/>
              <a:buNone/>
            </a:pPr>
            <a:r>
              <a:rPr lang="en-GB" sz="1860" b="1">
                <a:solidFill>
                  <a:srgbClr val="FFFF00"/>
                </a:solidFill>
              </a:rPr>
              <a:t>Ultrasonic TRIG → GPIO 5</a:t>
            </a:r>
            <a:endParaRPr sz="1860" b="1">
              <a:solidFill>
                <a:srgbClr val="FFFF00"/>
              </a:solidFill>
            </a:endParaRPr>
          </a:p>
          <a:p>
            <a:pPr marL="0" indent="0">
              <a:lnSpc>
                <a:spcPct val="95000"/>
              </a:lnSpc>
              <a:spcBef>
                <a:spcPts val="1600"/>
              </a:spcBef>
              <a:buSzPts val="853"/>
              <a:buNone/>
            </a:pPr>
            <a:r>
              <a:rPr lang="en-GB" sz="1860" b="1">
                <a:solidFill>
                  <a:srgbClr val="FFFF00"/>
                </a:solidFill>
              </a:rPr>
              <a:t>Ultrasonic ECHO → GPIO 18</a:t>
            </a:r>
            <a:endParaRPr sz="1860" b="1">
              <a:solidFill>
                <a:srgbClr val="FFFF00"/>
              </a:solidFill>
            </a:endParaRPr>
          </a:p>
          <a:p>
            <a:pPr marL="0" indent="0">
              <a:lnSpc>
                <a:spcPct val="95000"/>
              </a:lnSpc>
              <a:spcBef>
                <a:spcPts val="1600"/>
              </a:spcBef>
              <a:buSzPts val="853"/>
              <a:buNone/>
            </a:pPr>
            <a:endParaRPr sz="1860"/>
          </a:p>
          <a:p>
            <a:pPr marL="0" indent="0">
              <a:lnSpc>
                <a:spcPct val="95000"/>
              </a:lnSpc>
              <a:spcBef>
                <a:spcPts val="1600"/>
              </a:spcBef>
              <a:buSzPts val="853"/>
              <a:buNone/>
            </a:pPr>
            <a:r>
              <a:rPr lang="en-GB" sz="1860" b="1">
                <a:solidFill>
                  <a:srgbClr val="6AA84F"/>
                </a:solidFill>
              </a:rPr>
              <a:t>LED1 (Green)    → GPIO 25</a:t>
            </a:r>
            <a:endParaRPr sz="1860" b="1">
              <a:solidFill>
                <a:srgbClr val="6AA84F"/>
              </a:solidFill>
            </a:endParaRPr>
          </a:p>
          <a:p>
            <a:pPr marL="0" indent="0">
              <a:lnSpc>
                <a:spcPct val="95000"/>
              </a:lnSpc>
              <a:spcBef>
                <a:spcPts val="1600"/>
              </a:spcBef>
              <a:buSzPts val="853"/>
              <a:buNone/>
            </a:pPr>
            <a:r>
              <a:rPr lang="en-GB" sz="1860" b="1">
                <a:solidFill>
                  <a:srgbClr val="CC4125"/>
                </a:solidFill>
              </a:rPr>
              <a:t>LED2 (Red)      → GPIO 26</a:t>
            </a:r>
            <a:endParaRPr sz="1860" b="1">
              <a:solidFill>
                <a:srgbClr val="CC4125"/>
              </a:solidFill>
            </a:endParaRPr>
          </a:p>
          <a:p>
            <a:pPr marL="0" indent="0">
              <a:lnSpc>
                <a:spcPct val="95000"/>
              </a:lnSpc>
              <a:spcBef>
                <a:spcPts val="1600"/>
              </a:spcBef>
              <a:buSzPts val="853"/>
              <a:buNone/>
            </a:pPr>
            <a:r>
              <a:rPr lang="en-GB" sz="1860" b="1">
                <a:solidFill>
                  <a:srgbClr val="CC4125"/>
                </a:solidFill>
              </a:rPr>
              <a:t>BUZZER          → GPIO 23</a:t>
            </a:r>
            <a:endParaRPr sz="1860" b="1">
              <a:solidFill>
                <a:srgbClr val="CC4125"/>
              </a:solidFill>
            </a:endParaRPr>
          </a:p>
          <a:p>
            <a:pPr marL="0" indent="0">
              <a:lnSpc>
                <a:spcPct val="95000"/>
              </a:lnSpc>
              <a:spcBef>
                <a:spcPts val="1600"/>
              </a:spcBef>
              <a:buSzPts val="853"/>
              <a:buNone/>
            </a:pPr>
            <a:endParaRPr sz="1860"/>
          </a:p>
          <a:p>
            <a:pPr marL="0" indent="0">
              <a:lnSpc>
                <a:spcPct val="95000"/>
              </a:lnSpc>
              <a:spcBef>
                <a:spcPts val="1600"/>
              </a:spcBef>
              <a:buSzPts val="853"/>
              <a:buNone/>
            </a:pPr>
            <a:r>
              <a:rPr lang="en-GB" sz="1993" b="1">
                <a:solidFill>
                  <a:srgbClr val="0B5394"/>
                </a:solidFill>
              </a:rPr>
              <a:t>OLED SDA        → GPIO 16</a:t>
            </a:r>
            <a:endParaRPr sz="1993" b="1">
              <a:solidFill>
                <a:srgbClr val="0B5394"/>
              </a:solidFill>
            </a:endParaRPr>
          </a:p>
          <a:p>
            <a:pPr marL="0" indent="0">
              <a:lnSpc>
                <a:spcPct val="95000"/>
              </a:lnSpc>
              <a:spcBef>
                <a:spcPts val="1600"/>
              </a:spcBef>
              <a:buSzPts val="853"/>
              <a:buNone/>
            </a:pPr>
            <a:r>
              <a:rPr lang="en-GB" sz="1993" b="1">
                <a:solidFill>
                  <a:srgbClr val="0B5394"/>
                </a:solidFill>
              </a:rPr>
              <a:t>OLED SCL        → GPIO 17</a:t>
            </a:r>
            <a:endParaRPr sz="1993" b="1">
              <a:solidFill>
                <a:srgbClr val="0B5394"/>
              </a:solidFill>
            </a:endParaRPr>
          </a:p>
          <a:p>
            <a:pPr marL="0" indent="0">
              <a:lnSpc>
                <a:spcPct val="95000"/>
              </a:lnSpc>
              <a:spcBef>
                <a:spcPts val="1600"/>
              </a:spcBef>
              <a:buSzPts val="853"/>
              <a:buNone/>
            </a:pPr>
            <a:endParaRPr sz="1860"/>
          </a:p>
          <a:p>
            <a:pPr marL="0" indent="0">
              <a:lnSpc>
                <a:spcPct val="95000"/>
              </a:lnSpc>
              <a:spcBef>
                <a:spcPts val="1600"/>
              </a:spcBef>
              <a:buSzPts val="853"/>
              <a:buNone/>
            </a:pPr>
            <a:r>
              <a:rPr lang="en-GB" sz="1860" b="1">
                <a:solidFill>
                  <a:srgbClr val="00FFFF"/>
                </a:solidFill>
              </a:rPr>
              <a:t>MAX30100 SDA    → GPIO 21</a:t>
            </a:r>
            <a:endParaRPr sz="1860" b="1">
              <a:solidFill>
                <a:srgbClr val="00FFFF"/>
              </a:solidFill>
            </a:endParaRPr>
          </a:p>
          <a:p>
            <a:pPr marL="0" indent="0">
              <a:lnSpc>
                <a:spcPct val="95000"/>
              </a:lnSpc>
              <a:spcBef>
                <a:spcPts val="1600"/>
              </a:spcBef>
              <a:spcAft>
                <a:spcPts val="1600"/>
              </a:spcAft>
              <a:buSzPts val="853"/>
              <a:buNone/>
            </a:pPr>
            <a:r>
              <a:rPr lang="en-GB" sz="1860" b="1">
                <a:solidFill>
                  <a:srgbClr val="00FFFF"/>
                </a:solidFill>
              </a:rPr>
              <a:t>MAX30100 SCL    → GPIO 22</a:t>
            </a:r>
            <a:endParaRPr sz="1860" b="1">
              <a:solidFill>
                <a:srgbClr val="00FFFF"/>
              </a:solidFill>
            </a:endParaRPr>
          </a:p>
        </p:txBody>
      </p:sp>
      <p:sp>
        <p:nvSpPr>
          <p:cNvPr id="82" name="Google Shape;82;p15"/>
          <p:cNvSpPr txBox="1"/>
          <p:nvPr/>
        </p:nvSpPr>
        <p:spPr>
          <a:xfrm>
            <a:off x="94269" y="5384233"/>
            <a:ext cx="4402316" cy="984845"/>
          </a:xfrm>
          <a:prstGeom prst="rect">
            <a:avLst/>
          </a:prstGeom>
          <a:noFill/>
          <a:ln>
            <a:noFill/>
          </a:ln>
        </p:spPr>
        <p:txBody>
          <a:bodyPr spcFirstLastPara="1" wrap="square" lIns="121900" tIns="121900" rIns="121900" bIns="121900" anchor="t" anchorCtr="0">
            <a:spAutoFit/>
          </a:bodyPr>
          <a:lstStyle/>
          <a:p>
            <a:r>
              <a:rPr lang="en-GB" sz="2400" dirty="0"/>
              <a:t>LED1     → GPIO 25 + 220Ω + GND</a:t>
            </a:r>
            <a:endParaRPr sz="2400" dirty="0"/>
          </a:p>
          <a:p>
            <a:r>
              <a:rPr lang="en-GB" sz="2400" dirty="0"/>
              <a:t>LED2     → GPIO 26 + 220Ω + GND</a:t>
            </a:r>
            <a:endParaRPr sz="2400" dirty="0"/>
          </a:p>
        </p:txBody>
      </p:sp>
      <p:sp>
        <p:nvSpPr>
          <p:cNvPr id="2" name="Rectangle: Rounded Corners 1">
            <a:extLst>
              <a:ext uri="{FF2B5EF4-FFF2-40B4-BE49-F238E27FC236}">
                <a16:creationId xmlns:a16="http://schemas.microsoft.com/office/drawing/2014/main" id="{49B51614-8DDC-85F1-D044-3384DFA86B00}"/>
              </a:ext>
            </a:extLst>
          </p:cNvPr>
          <p:cNvSpPr/>
          <p:nvPr/>
        </p:nvSpPr>
        <p:spPr>
          <a:xfrm>
            <a:off x="45565" y="0"/>
            <a:ext cx="5750350" cy="2946745"/>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EASE OF INTEGRATION</a:t>
            </a:r>
          </a:p>
          <a:p>
            <a:endParaRPr lang="en-US" b="1" dirty="0">
              <a:solidFill>
                <a:schemeClr val="tx1"/>
              </a:solidFill>
            </a:endParaRPr>
          </a:p>
          <a:p>
            <a:pPr marL="285750" indent="-285750">
              <a:buFont typeface="Arial" panose="020B0604020202020204" pitchFamily="34" charset="0"/>
              <a:buChar char="•"/>
            </a:pPr>
            <a:r>
              <a:rPr lang="en-US" dirty="0">
                <a:solidFill>
                  <a:schemeClr val="tx1"/>
                </a:solidFill>
              </a:rPr>
              <a:t>All components are: </a:t>
            </a:r>
          </a:p>
          <a:p>
            <a:pPr lvl="1"/>
            <a:r>
              <a:rPr lang="en-US" dirty="0">
                <a:solidFill>
                  <a:schemeClr val="tx1"/>
                </a:solidFill>
              </a:rPr>
              <a:t>Compatible with ESP32 </a:t>
            </a:r>
          </a:p>
          <a:p>
            <a:pPr lvl="1"/>
            <a:r>
              <a:rPr lang="en-US" dirty="0">
                <a:solidFill>
                  <a:schemeClr val="tx1"/>
                </a:solidFill>
              </a:rPr>
              <a:t>Operate at 3.3V / 5V </a:t>
            </a:r>
          </a:p>
          <a:p>
            <a:pPr lvl="1"/>
            <a:endParaRPr lang="en-US" dirty="0">
              <a:solidFill>
                <a:schemeClr val="tx1"/>
              </a:solidFill>
            </a:endParaRPr>
          </a:p>
          <a:p>
            <a:pPr marL="285750" indent="-285750">
              <a:buFont typeface="Arial" panose="020B0604020202020204" pitchFamily="34" charset="0"/>
              <a:buChar char="•"/>
            </a:pPr>
            <a:r>
              <a:rPr lang="en-US" dirty="0">
                <a:solidFill>
                  <a:schemeClr val="tx1"/>
                </a:solidFill>
              </a:rPr>
              <a:t>Standard communication: </a:t>
            </a:r>
          </a:p>
          <a:p>
            <a:pPr lvl="1"/>
            <a:r>
              <a:rPr lang="en-US" dirty="0">
                <a:solidFill>
                  <a:schemeClr val="tx1"/>
                </a:solidFill>
              </a:rPr>
              <a:t>I2C (OLED, MAX30100) </a:t>
            </a:r>
          </a:p>
          <a:p>
            <a:pPr lvl="1"/>
            <a:r>
              <a:rPr lang="en-US" dirty="0">
                <a:solidFill>
                  <a:schemeClr val="tx1"/>
                </a:solidFill>
              </a:rPr>
              <a:t>Digital pins (Ultrasonic, LEDs)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6"/>
          <p:cNvSpPr txBox="1">
            <a:spLocks noGrp="1"/>
          </p:cNvSpPr>
          <p:nvPr>
            <p:ph type="title"/>
          </p:nvPr>
        </p:nvSpPr>
        <p:spPr>
          <a:xfrm>
            <a:off x="212401" y="141401"/>
            <a:ext cx="5393600" cy="1188517"/>
          </a:xfrm>
          <a:prstGeom prst="rect">
            <a:avLst/>
          </a:prstGeom>
        </p:spPr>
        <p:txBody>
          <a:bodyPr spcFirstLastPara="1" vert="horz" wrap="square" lIns="121900" tIns="121900" rIns="121900" bIns="121900" rtlCol="0" anchor="b" anchorCtr="0">
            <a:normAutofit/>
          </a:bodyPr>
          <a:lstStyle/>
          <a:p>
            <a:r>
              <a:rPr lang="en-GB" dirty="0"/>
              <a:t>Supply</a:t>
            </a:r>
            <a:endParaRPr dirty="0"/>
          </a:p>
        </p:txBody>
      </p:sp>
      <p:sp>
        <p:nvSpPr>
          <p:cNvPr id="88" name="Google Shape;88;p16"/>
          <p:cNvSpPr txBox="1">
            <a:spLocks noGrp="1"/>
          </p:cNvSpPr>
          <p:nvPr>
            <p:ph type="subTitle" idx="1"/>
          </p:nvPr>
        </p:nvSpPr>
        <p:spPr>
          <a:xfrm>
            <a:off x="137183" y="1329918"/>
            <a:ext cx="5393600" cy="938262"/>
          </a:xfrm>
          <a:prstGeom prst="rect">
            <a:avLst/>
          </a:prstGeom>
        </p:spPr>
        <p:txBody>
          <a:bodyPr spcFirstLastPara="1" vert="horz" wrap="square" lIns="121900" tIns="121900" rIns="121900" bIns="121900" rtlCol="0" anchor="t" anchorCtr="0">
            <a:normAutofit/>
          </a:bodyPr>
          <a:lstStyle/>
          <a:p>
            <a:pPr marL="0" indent="0"/>
            <a:r>
              <a:rPr lang="en-GB" dirty="0"/>
              <a:t>To sensor and hardware</a:t>
            </a:r>
            <a:endParaRPr dirty="0"/>
          </a:p>
        </p:txBody>
      </p:sp>
      <p:sp>
        <p:nvSpPr>
          <p:cNvPr id="89" name="Google Shape;89;p16"/>
          <p:cNvSpPr txBox="1">
            <a:spLocks noGrp="1"/>
          </p:cNvSpPr>
          <p:nvPr>
            <p:ph type="body" idx="2"/>
          </p:nvPr>
        </p:nvSpPr>
        <p:spPr>
          <a:xfrm>
            <a:off x="6586000" y="965600"/>
            <a:ext cx="5116000" cy="4926800"/>
          </a:xfrm>
          <a:prstGeom prst="rect">
            <a:avLst/>
          </a:prstGeom>
        </p:spPr>
        <p:txBody>
          <a:bodyPr spcFirstLastPara="1" vert="horz" wrap="square" lIns="121900" tIns="121900" rIns="121900" bIns="121900" rtlCol="0" anchor="ctr" anchorCtr="0">
            <a:noAutofit/>
          </a:bodyPr>
          <a:lstStyle/>
          <a:p>
            <a:pPr marL="0" indent="0">
              <a:buSzPts val="1018"/>
              <a:buNone/>
            </a:pPr>
            <a:r>
              <a:rPr lang="en-GB" sz="2487" b="1">
                <a:solidFill>
                  <a:srgbClr val="9FC5E8"/>
                </a:solidFill>
              </a:rPr>
              <a:t>OLED     → 3.3V</a:t>
            </a:r>
            <a:endParaRPr sz="2487" b="1">
              <a:solidFill>
                <a:srgbClr val="9FC5E8"/>
              </a:solidFill>
            </a:endParaRPr>
          </a:p>
          <a:p>
            <a:pPr marL="0" indent="0">
              <a:spcBef>
                <a:spcPts val="1600"/>
              </a:spcBef>
              <a:buSzPts val="1018"/>
              <a:buNone/>
            </a:pPr>
            <a:r>
              <a:rPr lang="en-GB" sz="2487" b="1">
                <a:solidFill>
                  <a:srgbClr val="00FF00"/>
                </a:solidFill>
              </a:rPr>
              <a:t>MAX30100 → 3.3V</a:t>
            </a:r>
            <a:endParaRPr sz="2487" b="1">
              <a:solidFill>
                <a:srgbClr val="00FF00"/>
              </a:solidFill>
            </a:endParaRPr>
          </a:p>
          <a:p>
            <a:pPr marL="0" indent="0">
              <a:spcBef>
                <a:spcPts val="1600"/>
              </a:spcBef>
              <a:buSzPts val="1018"/>
              <a:buNone/>
            </a:pPr>
            <a:r>
              <a:rPr lang="en-GB" sz="2487" b="1">
                <a:solidFill>
                  <a:srgbClr val="FF9900"/>
                </a:solidFill>
              </a:rPr>
              <a:t>FSR      → 3.3V</a:t>
            </a:r>
            <a:endParaRPr sz="2487" b="1">
              <a:solidFill>
                <a:srgbClr val="FF9900"/>
              </a:solidFill>
            </a:endParaRPr>
          </a:p>
          <a:p>
            <a:pPr marL="0" indent="0">
              <a:spcBef>
                <a:spcPts val="1600"/>
              </a:spcBef>
              <a:buSzPts val="1018"/>
              <a:buNone/>
            </a:pPr>
            <a:r>
              <a:rPr lang="en-GB" sz="2487" b="1">
                <a:solidFill>
                  <a:srgbClr val="6AA84F"/>
                </a:solidFill>
              </a:rPr>
              <a:t>LED1     → GPIO 25 + 220Ω + GND</a:t>
            </a:r>
            <a:endParaRPr sz="2487" b="1">
              <a:solidFill>
                <a:srgbClr val="6AA84F"/>
              </a:solidFill>
            </a:endParaRPr>
          </a:p>
          <a:p>
            <a:pPr marL="0" indent="0">
              <a:spcBef>
                <a:spcPts val="1600"/>
              </a:spcBef>
              <a:buSzPts val="1018"/>
              <a:buNone/>
            </a:pPr>
            <a:r>
              <a:rPr lang="en-GB" sz="2487" b="1">
                <a:solidFill>
                  <a:srgbClr val="FF0000"/>
                </a:solidFill>
              </a:rPr>
              <a:t>LED2     → GPIO 26 + 220Ω + GND</a:t>
            </a:r>
            <a:endParaRPr sz="2487" b="1">
              <a:solidFill>
                <a:srgbClr val="FF0000"/>
              </a:solidFill>
            </a:endParaRPr>
          </a:p>
          <a:p>
            <a:pPr marL="0" indent="0">
              <a:spcBef>
                <a:spcPts val="1600"/>
              </a:spcBef>
              <a:buSzPts val="1018"/>
              <a:buNone/>
            </a:pPr>
            <a:r>
              <a:rPr lang="en-GB" sz="2487" b="1"/>
              <a:t>BUZZER   → GPIO 23 + GND</a:t>
            </a:r>
            <a:endParaRPr sz="2487" b="1"/>
          </a:p>
          <a:p>
            <a:pPr marL="0" indent="0">
              <a:spcBef>
                <a:spcPts val="1600"/>
              </a:spcBef>
              <a:buSzPts val="1018"/>
              <a:buNone/>
            </a:pPr>
            <a:r>
              <a:rPr lang="en-GB" sz="2487" b="1">
                <a:solidFill>
                  <a:srgbClr val="F1C232"/>
                </a:solidFill>
              </a:rPr>
              <a:t>HC-SR04  → 5V + GND</a:t>
            </a:r>
            <a:endParaRPr sz="2487" b="1">
              <a:solidFill>
                <a:srgbClr val="F1C232"/>
              </a:solidFill>
            </a:endParaRPr>
          </a:p>
          <a:p>
            <a:pPr marL="0" indent="0">
              <a:spcBef>
                <a:spcPts val="1600"/>
              </a:spcBef>
              <a:spcAft>
                <a:spcPts val="1600"/>
              </a:spcAft>
              <a:buSzPts val="1018"/>
              <a:buNone/>
            </a:pPr>
            <a:endParaRPr sz="2487" b="1"/>
          </a:p>
        </p:txBody>
      </p:sp>
      <p:sp>
        <p:nvSpPr>
          <p:cNvPr id="2" name="Rectangle: Rounded Corners 1">
            <a:extLst>
              <a:ext uri="{FF2B5EF4-FFF2-40B4-BE49-F238E27FC236}">
                <a16:creationId xmlns:a16="http://schemas.microsoft.com/office/drawing/2014/main" id="{BDFD77A0-F5CE-D10C-CA2F-2DE13C09056C}"/>
              </a:ext>
            </a:extLst>
          </p:cNvPr>
          <p:cNvSpPr/>
          <p:nvPr/>
        </p:nvSpPr>
        <p:spPr>
          <a:xfrm>
            <a:off x="287619" y="2187019"/>
            <a:ext cx="5575657" cy="4430597"/>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POWER DESIGN (DFM ASPECT)</a:t>
            </a:r>
          </a:p>
          <a:p>
            <a:endParaRPr lang="en-US" b="1" dirty="0">
              <a:solidFill>
                <a:schemeClr val="tx1"/>
              </a:solidFill>
            </a:endParaRPr>
          </a:p>
          <a:p>
            <a:pPr marL="285750" indent="-285750">
              <a:buFont typeface="Arial" panose="020B0604020202020204" pitchFamily="34" charset="0"/>
              <a:buChar char="•"/>
            </a:pPr>
            <a:r>
              <a:rPr lang="en-US" dirty="0">
                <a:solidFill>
                  <a:schemeClr val="tx1"/>
                </a:solidFill>
              </a:rPr>
              <a:t>Single power source: </a:t>
            </a:r>
          </a:p>
          <a:p>
            <a:pPr lvl="1"/>
            <a:r>
              <a:rPr lang="en-US" dirty="0">
                <a:solidFill>
                  <a:schemeClr val="tx1"/>
                </a:solidFill>
              </a:rPr>
              <a:t>12V adapter </a:t>
            </a:r>
          </a:p>
          <a:p>
            <a:pPr marL="285750" indent="-285750">
              <a:buFont typeface="Arial" panose="020B0604020202020204" pitchFamily="34" charset="0"/>
              <a:buChar char="•"/>
            </a:pPr>
            <a:r>
              <a:rPr lang="en-US" dirty="0">
                <a:solidFill>
                  <a:schemeClr val="tx1"/>
                </a:solidFill>
              </a:rPr>
              <a:t>Converted using: </a:t>
            </a:r>
          </a:p>
          <a:p>
            <a:pPr lvl="1"/>
            <a:r>
              <a:rPr lang="en-US" dirty="0">
                <a:solidFill>
                  <a:schemeClr val="tx1"/>
                </a:solidFill>
              </a:rPr>
              <a:t>LM2596 (12V → 5V) </a:t>
            </a:r>
          </a:p>
          <a:p>
            <a:pPr marL="285750" indent="-285750">
              <a:buFont typeface="Arial" panose="020B0604020202020204" pitchFamily="34" charset="0"/>
              <a:buChar char="•"/>
            </a:pPr>
            <a:r>
              <a:rPr lang="en-US" dirty="0">
                <a:solidFill>
                  <a:schemeClr val="tx1"/>
                </a:solidFill>
              </a:rPr>
              <a:t>Distributed to: </a:t>
            </a:r>
          </a:p>
          <a:p>
            <a:pPr lvl="1"/>
            <a:r>
              <a:rPr lang="en-US" dirty="0">
                <a:solidFill>
                  <a:schemeClr val="tx1"/>
                </a:solidFill>
              </a:rPr>
              <a:t>ESP32 </a:t>
            </a:r>
          </a:p>
          <a:p>
            <a:pPr lvl="1"/>
            <a:r>
              <a:rPr lang="en-US" dirty="0">
                <a:solidFill>
                  <a:schemeClr val="tx1"/>
                </a:solidFill>
              </a:rPr>
              <a:t>Sensors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A11ED-3C73-74CF-C07F-BD4A2A08230E}"/>
              </a:ext>
            </a:extLst>
          </p:cNvPr>
          <p:cNvSpPr>
            <a:spLocks noGrp="1"/>
          </p:cNvSpPr>
          <p:nvPr>
            <p:ph type="title"/>
          </p:nvPr>
        </p:nvSpPr>
        <p:spPr/>
        <p:txBody>
          <a:bodyPr/>
          <a:lstStyle/>
          <a:p>
            <a:r>
              <a:rPr lang="en-IN" b="1" u="sng" dirty="0"/>
              <a:t>DESIGN FOR ASSEMBLY</a:t>
            </a:r>
          </a:p>
        </p:txBody>
      </p:sp>
      <p:sp>
        <p:nvSpPr>
          <p:cNvPr id="4" name="Rectangle: Rounded Corners 3">
            <a:extLst>
              <a:ext uri="{FF2B5EF4-FFF2-40B4-BE49-F238E27FC236}">
                <a16:creationId xmlns:a16="http://schemas.microsoft.com/office/drawing/2014/main" id="{279FA896-B7D2-6EA9-598E-26D01F5F05A7}"/>
              </a:ext>
            </a:extLst>
          </p:cNvPr>
          <p:cNvSpPr/>
          <p:nvPr/>
        </p:nvSpPr>
        <p:spPr>
          <a:xfrm>
            <a:off x="150830" y="1690688"/>
            <a:ext cx="3921550" cy="2560801"/>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APPROACH IN OUR PROJECT</a:t>
            </a:r>
          </a:p>
          <a:p>
            <a:pPr marL="285750" indent="-285750">
              <a:buFont typeface="Arial" panose="020B0604020202020204" pitchFamily="34" charset="0"/>
              <a:buChar char="•"/>
            </a:pPr>
            <a:r>
              <a:rPr lang="en-US" dirty="0">
                <a:solidFill>
                  <a:schemeClr val="tx1"/>
                </a:solidFill>
              </a:rPr>
              <a:t>No manufacturing → only assembly of components </a:t>
            </a:r>
          </a:p>
          <a:p>
            <a:r>
              <a:rPr lang="en-US" dirty="0">
                <a:solidFill>
                  <a:schemeClr val="tx1"/>
                </a:solidFill>
              </a:rPr>
              <a:t>Focus on: </a:t>
            </a:r>
          </a:p>
          <a:p>
            <a:pPr marL="742950" lvl="1" indent="-285750">
              <a:buFont typeface="Arial" panose="020B0604020202020204" pitchFamily="34" charset="0"/>
              <a:buChar char="•"/>
            </a:pPr>
            <a:r>
              <a:rPr lang="en-US" dirty="0">
                <a:solidFill>
                  <a:schemeClr val="tx1"/>
                </a:solidFill>
              </a:rPr>
              <a:t>Easy wiring </a:t>
            </a:r>
          </a:p>
          <a:p>
            <a:pPr marL="742950" lvl="1" indent="-285750">
              <a:buFont typeface="Arial" panose="020B0604020202020204" pitchFamily="34" charset="0"/>
              <a:buChar char="•"/>
            </a:pPr>
            <a:r>
              <a:rPr lang="en-US" dirty="0">
                <a:solidFill>
                  <a:schemeClr val="tx1"/>
                </a:solidFill>
              </a:rPr>
              <a:t>Proper placement of sensors </a:t>
            </a:r>
          </a:p>
          <a:p>
            <a:pPr marL="742950" lvl="1" indent="-285750">
              <a:buFont typeface="Arial" panose="020B0604020202020204" pitchFamily="34" charset="0"/>
              <a:buChar char="•"/>
            </a:pPr>
            <a:r>
              <a:rPr lang="en-US" dirty="0">
                <a:solidFill>
                  <a:schemeClr val="tx1"/>
                </a:solidFill>
              </a:rPr>
              <a:t>Modular design</a:t>
            </a:r>
          </a:p>
        </p:txBody>
      </p:sp>
      <p:sp>
        <p:nvSpPr>
          <p:cNvPr id="5" name="Rectangle: Rounded Corners 4">
            <a:extLst>
              <a:ext uri="{FF2B5EF4-FFF2-40B4-BE49-F238E27FC236}">
                <a16:creationId xmlns:a16="http://schemas.microsoft.com/office/drawing/2014/main" id="{82490328-EA21-902A-DD2C-F4DA6741DD13}"/>
              </a:ext>
            </a:extLst>
          </p:cNvPr>
          <p:cNvSpPr/>
          <p:nvPr/>
        </p:nvSpPr>
        <p:spPr>
          <a:xfrm>
            <a:off x="4545291" y="1577566"/>
            <a:ext cx="3101418" cy="2560801"/>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MODULAR DESIGN</a:t>
            </a:r>
          </a:p>
          <a:p>
            <a:r>
              <a:rPr lang="en-US" dirty="0">
                <a:solidFill>
                  <a:schemeClr val="tx1"/>
                </a:solidFill>
              </a:rPr>
              <a:t>System divided into:</a:t>
            </a:r>
          </a:p>
          <a:p>
            <a:pPr marL="285750" indent="-285750">
              <a:buFont typeface="Arial" panose="020B0604020202020204" pitchFamily="34" charset="0"/>
              <a:buChar char="•"/>
            </a:pPr>
            <a:r>
              <a:rPr lang="en-US" dirty="0">
                <a:solidFill>
                  <a:schemeClr val="tx1"/>
                </a:solidFill>
              </a:rPr>
              <a:t>Sensor unit </a:t>
            </a:r>
          </a:p>
          <a:p>
            <a:pPr marL="285750" indent="-285750">
              <a:buFont typeface="Arial" panose="020B0604020202020204" pitchFamily="34" charset="0"/>
              <a:buChar char="•"/>
            </a:pPr>
            <a:r>
              <a:rPr lang="en-US" dirty="0">
                <a:solidFill>
                  <a:schemeClr val="tx1"/>
                </a:solidFill>
              </a:rPr>
              <a:t>Control unit (ESP32) </a:t>
            </a:r>
          </a:p>
          <a:p>
            <a:pPr marL="285750" indent="-285750">
              <a:buFont typeface="Arial" panose="020B0604020202020204" pitchFamily="34" charset="0"/>
              <a:buChar char="•"/>
            </a:pPr>
            <a:r>
              <a:rPr lang="en-US" dirty="0">
                <a:solidFill>
                  <a:schemeClr val="tx1"/>
                </a:solidFill>
              </a:rPr>
              <a:t>Output/alert unit</a:t>
            </a:r>
          </a:p>
        </p:txBody>
      </p:sp>
      <p:sp>
        <p:nvSpPr>
          <p:cNvPr id="6" name="Rectangle: Rounded Corners 5">
            <a:extLst>
              <a:ext uri="{FF2B5EF4-FFF2-40B4-BE49-F238E27FC236}">
                <a16:creationId xmlns:a16="http://schemas.microsoft.com/office/drawing/2014/main" id="{C09A043A-08A7-884C-EEB9-A31A7C78E1A0}"/>
              </a:ext>
            </a:extLst>
          </p:cNvPr>
          <p:cNvSpPr/>
          <p:nvPr/>
        </p:nvSpPr>
        <p:spPr>
          <a:xfrm>
            <a:off x="8272413" y="1634127"/>
            <a:ext cx="3289955" cy="2560801"/>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dirty="0">
                <a:solidFill>
                  <a:schemeClr val="tx1"/>
                </a:solidFill>
              </a:rPr>
              <a:t>SIMPLIFIED CONNECTIONS</a:t>
            </a:r>
          </a:p>
          <a:p>
            <a:r>
              <a:rPr lang="en-IN" dirty="0">
                <a:solidFill>
                  <a:schemeClr val="tx1"/>
                </a:solidFill>
              </a:rPr>
              <a:t>From your design:</a:t>
            </a:r>
          </a:p>
          <a:p>
            <a:pPr marL="285750" indent="-285750">
              <a:buFont typeface="Arial" panose="020B0604020202020204" pitchFamily="34" charset="0"/>
              <a:buChar char="•"/>
            </a:pPr>
            <a:r>
              <a:rPr lang="en-IN" dirty="0">
                <a:solidFill>
                  <a:schemeClr val="tx1"/>
                </a:solidFill>
              </a:rPr>
              <a:t>I2C → OLED + MAX30100 </a:t>
            </a:r>
          </a:p>
          <a:p>
            <a:pPr marL="285750" indent="-285750">
              <a:buFont typeface="Arial" panose="020B0604020202020204" pitchFamily="34" charset="0"/>
              <a:buChar char="•"/>
            </a:pPr>
            <a:r>
              <a:rPr lang="en-IN" dirty="0">
                <a:solidFill>
                  <a:schemeClr val="tx1"/>
                </a:solidFill>
              </a:rPr>
              <a:t>Digital → Ultrasonic </a:t>
            </a:r>
          </a:p>
          <a:p>
            <a:pPr marL="285750" indent="-285750">
              <a:buFont typeface="Arial" panose="020B0604020202020204" pitchFamily="34" charset="0"/>
              <a:buChar char="•"/>
            </a:pPr>
            <a:r>
              <a:rPr lang="en-IN" dirty="0">
                <a:solidFill>
                  <a:schemeClr val="tx1"/>
                </a:solidFill>
              </a:rPr>
              <a:t>Analog → FSR </a:t>
            </a:r>
          </a:p>
          <a:p>
            <a:pPr marL="285750" indent="-285750">
              <a:buFont typeface="Arial" panose="020B0604020202020204" pitchFamily="34" charset="0"/>
              <a:buChar char="•"/>
            </a:pPr>
            <a:r>
              <a:rPr lang="en-IN" dirty="0">
                <a:solidFill>
                  <a:schemeClr val="tx1"/>
                </a:solidFill>
              </a:rPr>
              <a:t> Reduces wiring complexity</a:t>
            </a:r>
          </a:p>
        </p:txBody>
      </p:sp>
      <p:sp>
        <p:nvSpPr>
          <p:cNvPr id="7" name="Rectangle: Rounded Corners 6">
            <a:extLst>
              <a:ext uri="{FF2B5EF4-FFF2-40B4-BE49-F238E27FC236}">
                <a16:creationId xmlns:a16="http://schemas.microsoft.com/office/drawing/2014/main" id="{0AB1D5E7-75D3-C0D4-667E-FEEB088170DE}"/>
              </a:ext>
            </a:extLst>
          </p:cNvPr>
          <p:cNvSpPr/>
          <p:nvPr/>
        </p:nvSpPr>
        <p:spPr>
          <a:xfrm>
            <a:off x="150830" y="4487159"/>
            <a:ext cx="3921549" cy="211160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dirty="0">
                <a:solidFill>
                  <a:schemeClr val="tx1"/>
                </a:solidFill>
              </a:rPr>
              <a:t>EASY COMPONENT MOUNTING</a:t>
            </a:r>
          </a:p>
          <a:p>
            <a:pPr marL="285750" indent="-285750">
              <a:buFont typeface="Arial" panose="020B0604020202020204" pitchFamily="34" charset="0"/>
              <a:buChar char="•"/>
            </a:pPr>
            <a:r>
              <a:rPr lang="en-IN" dirty="0">
                <a:solidFill>
                  <a:schemeClr val="tx1"/>
                </a:solidFill>
              </a:rPr>
              <a:t>FSR → inside seat cushion </a:t>
            </a:r>
          </a:p>
          <a:p>
            <a:pPr marL="285750" indent="-285750">
              <a:buFont typeface="Arial" panose="020B0604020202020204" pitchFamily="34" charset="0"/>
              <a:buChar char="•"/>
            </a:pPr>
            <a:r>
              <a:rPr lang="en-IN" dirty="0">
                <a:solidFill>
                  <a:schemeClr val="tx1"/>
                </a:solidFill>
              </a:rPr>
              <a:t>Ultrasonic → backrest </a:t>
            </a:r>
          </a:p>
          <a:p>
            <a:pPr marL="285750" indent="-285750">
              <a:buFont typeface="Arial" panose="020B0604020202020204" pitchFamily="34" charset="0"/>
              <a:buChar char="•"/>
            </a:pPr>
            <a:r>
              <a:rPr lang="en-IN" dirty="0">
                <a:solidFill>
                  <a:schemeClr val="tx1"/>
                </a:solidFill>
              </a:rPr>
              <a:t>OLED → front panel </a:t>
            </a:r>
          </a:p>
          <a:p>
            <a:pPr marL="285750" indent="-285750">
              <a:buFont typeface="Arial" panose="020B0604020202020204" pitchFamily="34" charset="0"/>
              <a:buChar char="•"/>
            </a:pPr>
            <a:r>
              <a:rPr lang="en-IN" dirty="0">
                <a:solidFill>
                  <a:schemeClr val="tx1"/>
                </a:solidFill>
              </a:rPr>
              <a:t> Fixed positions → no alignment issues</a:t>
            </a:r>
          </a:p>
        </p:txBody>
      </p:sp>
      <p:sp>
        <p:nvSpPr>
          <p:cNvPr id="8" name="Rectangle: Rounded Corners 7">
            <a:extLst>
              <a:ext uri="{FF2B5EF4-FFF2-40B4-BE49-F238E27FC236}">
                <a16:creationId xmlns:a16="http://schemas.microsoft.com/office/drawing/2014/main" id="{A54DBD29-93E5-D9CB-8E39-06F68256A3C0}"/>
              </a:ext>
            </a:extLst>
          </p:cNvPr>
          <p:cNvSpPr/>
          <p:nvPr/>
        </p:nvSpPr>
        <p:spPr>
          <a:xfrm>
            <a:off x="4713402" y="4487160"/>
            <a:ext cx="3186260" cy="211160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ERROR REDUCTION</a:t>
            </a:r>
          </a:p>
          <a:p>
            <a:pPr marL="285750" indent="-285750">
              <a:buFont typeface="Arial" panose="020B0604020202020204" pitchFamily="34" charset="0"/>
              <a:buChar char="•"/>
            </a:pPr>
            <a:r>
              <a:rPr lang="en-US" dirty="0">
                <a:solidFill>
                  <a:schemeClr val="tx1"/>
                </a:solidFill>
              </a:rPr>
              <a:t>Color-coded wires </a:t>
            </a:r>
          </a:p>
          <a:p>
            <a:pPr marL="285750" indent="-285750">
              <a:buFont typeface="Arial" panose="020B0604020202020204" pitchFamily="34" charset="0"/>
              <a:buChar char="•"/>
            </a:pPr>
            <a:r>
              <a:rPr lang="en-US" dirty="0">
                <a:solidFill>
                  <a:schemeClr val="tx1"/>
                </a:solidFill>
              </a:rPr>
              <a:t>Fixed GPIO mapping </a:t>
            </a:r>
          </a:p>
          <a:p>
            <a:pPr marL="285750" indent="-285750">
              <a:buFont typeface="Arial" panose="020B0604020202020204" pitchFamily="34" charset="0"/>
              <a:buChar char="•"/>
            </a:pPr>
            <a:r>
              <a:rPr lang="en-US" dirty="0">
                <a:solidFill>
                  <a:schemeClr val="tx1"/>
                </a:solidFill>
              </a:rPr>
              <a:t> Prevents wrong connections</a:t>
            </a:r>
          </a:p>
        </p:txBody>
      </p:sp>
    </p:spTree>
    <p:extLst>
      <p:ext uri="{BB962C8B-B14F-4D97-AF65-F5344CB8AC3E}">
        <p14:creationId xmlns:p14="http://schemas.microsoft.com/office/powerpoint/2010/main" val="34604983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100" name="Google Shape;100;p18"/>
          <p:cNvPicPr preferRelativeResize="0"/>
          <p:nvPr/>
        </p:nvPicPr>
        <p:blipFill>
          <a:blip r:embed="rId3">
            <a:alphaModFix/>
          </a:blip>
          <a:stretch>
            <a:fillRect/>
          </a:stretch>
        </p:blipFill>
        <p:spPr>
          <a:xfrm>
            <a:off x="203200" y="203201"/>
            <a:ext cx="11298568" cy="6451599"/>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E19A2E0-643D-B6BC-9536-C2DBB85B398D}"/>
              </a:ext>
            </a:extLst>
          </p:cNvPr>
          <p:cNvSpPr>
            <a:spLocks noGrp="1"/>
          </p:cNvSpPr>
          <p:nvPr>
            <p:ph type="title"/>
          </p:nvPr>
        </p:nvSpPr>
        <p:spPr>
          <a:xfrm>
            <a:off x="838200" y="393407"/>
            <a:ext cx="10515600" cy="794372"/>
          </a:xfrm>
        </p:spPr>
        <p:txBody>
          <a:bodyPr/>
          <a:lstStyle/>
          <a:p>
            <a:r>
              <a:rPr lang="en-IN" b="1" u="sng" dirty="0"/>
              <a:t>DESIGN FOR RELIABILITY</a:t>
            </a:r>
          </a:p>
        </p:txBody>
      </p:sp>
      <p:sp>
        <p:nvSpPr>
          <p:cNvPr id="7" name="Rectangle: Rounded Corners 6">
            <a:extLst>
              <a:ext uri="{FF2B5EF4-FFF2-40B4-BE49-F238E27FC236}">
                <a16:creationId xmlns:a16="http://schemas.microsoft.com/office/drawing/2014/main" id="{7FA38680-BBF8-D2AD-CDD6-60046C6C5F57}"/>
              </a:ext>
            </a:extLst>
          </p:cNvPr>
          <p:cNvSpPr/>
          <p:nvPr/>
        </p:nvSpPr>
        <p:spPr>
          <a:xfrm>
            <a:off x="84841" y="1545996"/>
            <a:ext cx="3770722" cy="2262433"/>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APPROACH IN OUR PROJECT</a:t>
            </a:r>
          </a:p>
          <a:p>
            <a:pPr marL="285750" indent="-285750">
              <a:buFont typeface="Arial" panose="020B0604020202020204" pitchFamily="34" charset="0"/>
              <a:buChar char="•"/>
            </a:pPr>
            <a:r>
              <a:rPr lang="en-US" dirty="0">
                <a:solidFill>
                  <a:schemeClr val="tx1"/>
                </a:solidFill>
              </a:rPr>
              <a:t>Use of tested and reliable modules </a:t>
            </a:r>
          </a:p>
          <a:p>
            <a:pPr marL="285750" indent="-285750">
              <a:buFont typeface="Arial" panose="020B0604020202020204" pitchFamily="34" charset="0"/>
              <a:buChar char="•"/>
            </a:pPr>
            <a:r>
              <a:rPr lang="en-US" dirty="0">
                <a:solidFill>
                  <a:schemeClr val="tx1"/>
                </a:solidFill>
              </a:rPr>
              <a:t>Stable electrical design</a:t>
            </a:r>
          </a:p>
          <a:p>
            <a:endParaRPr lang="en-US" dirty="0">
              <a:solidFill>
                <a:schemeClr val="tx1"/>
              </a:solidFill>
            </a:endParaRPr>
          </a:p>
        </p:txBody>
      </p:sp>
      <p:sp>
        <p:nvSpPr>
          <p:cNvPr id="8" name="Rectangle: Rounded Corners 7">
            <a:extLst>
              <a:ext uri="{FF2B5EF4-FFF2-40B4-BE49-F238E27FC236}">
                <a16:creationId xmlns:a16="http://schemas.microsoft.com/office/drawing/2014/main" id="{2C75EE23-7EAE-EBF3-0E47-768743B24459}"/>
              </a:ext>
            </a:extLst>
          </p:cNvPr>
          <p:cNvSpPr/>
          <p:nvPr/>
        </p:nvSpPr>
        <p:spPr>
          <a:xfrm>
            <a:off x="4210639" y="1545996"/>
            <a:ext cx="3770722" cy="2262433"/>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POWER RELIABILITY</a:t>
            </a:r>
          </a:p>
          <a:p>
            <a:pPr marL="285750" indent="-285750">
              <a:buFont typeface="Arial" panose="020B0604020202020204" pitchFamily="34" charset="0"/>
              <a:buChar char="•"/>
            </a:pPr>
            <a:r>
              <a:rPr lang="en-US" dirty="0">
                <a:solidFill>
                  <a:schemeClr val="tx1"/>
                </a:solidFill>
              </a:rPr>
              <a:t>LM2596 provides stable voltage </a:t>
            </a:r>
          </a:p>
          <a:p>
            <a:pPr marL="285750" indent="-285750">
              <a:buFont typeface="Arial" panose="020B0604020202020204" pitchFamily="34" charset="0"/>
              <a:buChar char="•"/>
            </a:pPr>
            <a:r>
              <a:rPr lang="en-US" dirty="0">
                <a:solidFill>
                  <a:schemeClr val="tx1"/>
                </a:solidFill>
              </a:rPr>
              <a:t>Proper 3.3V &amp; 5V distribution </a:t>
            </a:r>
          </a:p>
          <a:p>
            <a:pPr marL="285750" indent="-285750">
              <a:buFont typeface="Arial" panose="020B0604020202020204" pitchFamily="34" charset="0"/>
              <a:buChar char="•"/>
            </a:pPr>
            <a:r>
              <a:rPr lang="en-US" dirty="0">
                <a:solidFill>
                  <a:schemeClr val="tx1"/>
                </a:solidFill>
              </a:rPr>
              <a:t> Prevents system failure</a:t>
            </a:r>
          </a:p>
          <a:p>
            <a:endParaRPr lang="en-US" dirty="0">
              <a:solidFill>
                <a:schemeClr val="tx1"/>
              </a:solidFill>
            </a:endParaRPr>
          </a:p>
        </p:txBody>
      </p:sp>
      <p:sp>
        <p:nvSpPr>
          <p:cNvPr id="9" name="Rectangle: Rounded Corners 8">
            <a:extLst>
              <a:ext uri="{FF2B5EF4-FFF2-40B4-BE49-F238E27FC236}">
                <a16:creationId xmlns:a16="http://schemas.microsoft.com/office/drawing/2014/main" id="{D1D54DF0-729D-1ABD-1B5F-E9AF393ECC45}"/>
              </a:ext>
            </a:extLst>
          </p:cNvPr>
          <p:cNvSpPr/>
          <p:nvPr/>
        </p:nvSpPr>
        <p:spPr>
          <a:xfrm>
            <a:off x="8336437" y="1484722"/>
            <a:ext cx="3670169" cy="2384981"/>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ELECTRICAL SAFETY</a:t>
            </a:r>
          </a:p>
          <a:p>
            <a:pPr marL="285750" indent="-285750">
              <a:buFont typeface="Arial" panose="020B0604020202020204" pitchFamily="34" charset="0"/>
              <a:buChar char="•"/>
            </a:pPr>
            <a:r>
              <a:rPr lang="en-US" dirty="0">
                <a:solidFill>
                  <a:schemeClr val="tx1"/>
                </a:solidFill>
              </a:rPr>
              <a:t>Voltage divider for ultrasonic ECHO </a:t>
            </a:r>
          </a:p>
          <a:p>
            <a:pPr marL="285750" indent="-285750">
              <a:buFont typeface="Arial" panose="020B0604020202020204" pitchFamily="34" charset="0"/>
              <a:buChar char="•"/>
            </a:pPr>
            <a:r>
              <a:rPr lang="en-US" dirty="0">
                <a:solidFill>
                  <a:schemeClr val="tx1"/>
                </a:solidFill>
              </a:rPr>
              <a:t>Common grounding </a:t>
            </a:r>
          </a:p>
          <a:p>
            <a:pPr marL="285750" indent="-285750">
              <a:buFont typeface="Arial" panose="020B0604020202020204" pitchFamily="34" charset="0"/>
              <a:buChar char="•"/>
            </a:pPr>
            <a:r>
              <a:rPr lang="en-US" dirty="0">
                <a:solidFill>
                  <a:schemeClr val="tx1"/>
                </a:solidFill>
              </a:rPr>
              <a:t> Protects ESP32</a:t>
            </a:r>
          </a:p>
        </p:txBody>
      </p:sp>
      <p:sp>
        <p:nvSpPr>
          <p:cNvPr id="10" name="Rectangle: Rounded Corners 9">
            <a:extLst>
              <a:ext uri="{FF2B5EF4-FFF2-40B4-BE49-F238E27FC236}">
                <a16:creationId xmlns:a16="http://schemas.microsoft.com/office/drawing/2014/main" id="{39E2EE6C-77E1-4FF6-D05C-DF35A8E80A3F}"/>
              </a:ext>
            </a:extLst>
          </p:cNvPr>
          <p:cNvSpPr/>
          <p:nvPr/>
        </p:nvSpPr>
        <p:spPr>
          <a:xfrm>
            <a:off x="84841" y="4166647"/>
            <a:ext cx="3582186" cy="2432116"/>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SENSOR RELIABILITY</a:t>
            </a:r>
          </a:p>
          <a:p>
            <a:pPr marL="285750" indent="-285750">
              <a:buFont typeface="Arial" panose="020B0604020202020204" pitchFamily="34" charset="0"/>
              <a:buChar char="•"/>
            </a:pPr>
            <a:r>
              <a:rPr lang="en-US" dirty="0">
                <a:solidFill>
                  <a:schemeClr val="tx1"/>
                </a:solidFill>
              </a:rPr>
              <a:t>MAX30100 → stable health data </a:t>
            </a:r>
          </a:p>
          <a:p>
            <a:pPr marL="285750" indent="-285750">
              <a:buFont typeface="Arial" panose="020B0604020202020204" pitchFamily="34" charset="0"/>
              <a:buChar char="•"/>
            </a:pPr>
            <a:r>
              <a:rPr lang="en-US" dirty="0">
                <a:solidFill>
                  <a:schemeClr val="tx1"/>
                </a:solidFill>
              </a:rPr>
              <a:t>FSR → calibrated for pressure </a:t>
            </a:r>
          </a:p>
          <a:p>
            <a:pPr marL="285750" indent="-285750">
              <a:buFont typeface="Arial" panose="020B0604020202020204" pitchFamily="34" charset="0"/>
              <a:buChar char="•"/>
            </a:pPr>
            <a:r>
              <a:rPr lang="en-US" dirty="0">
                <a:solidFill>
                  <a:schemeClr val="tx1"/>
                </a:solidFill>
              </a:rPr>
              <a:t>Ultrasonic → filtered readings </a:t>
            </a:r>
          </a:p>
        </p:txBody>
      </p:sp>
      <p:sp>
        <p:nvSpPr>
          <p:cNvPr id="11" name="Rectangle: Rounded Corners 10">
            <a:extLst>
              <a:ext uri="{FF2B5EF4-FFF2-40B4-BE49-F238E27FC236}">
                <a16:creationId xmlns:a16="http://schemas.microsoft.com/office/drawing/2014/main" id="{400BF683-CBF9-CFF3-EBA0-29288C7BB091}"/>
              </a:ext>
            </a:extLst>
          </p:cNvPr>
          <p:cNvSpPr/>
          <p:nvPr/>
        </p:nvSpPr>
        <p:spPr>
          <a:xfrm>
            <a:off x="4314334" y="4166647"/>
            <a:ext cx="3667027" cy="2432116"/>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FAULT HANDLING</a:t>
            </a:r>
          </a:p>
          <a:p>
            <a:pPr marL="285750" indent="-285750">
              <a:buFont typeface="Arial" panose="020B0604020202020204" pitchFamily="34" charset="0"/>
              <a:buChar char="•"/>
            </a:pPr>
            <a:r>
              <a:rPr lang="en-US" dirty="0">
                <a:solidFill>
                  <a:schemeClr val="tx1"/>
                </a:solidFill>
              </a:rPr>
              <a:t>If sensor fails → system continues </a:t>
            </a:r>
          </a:p>
          <a:p>
            <a:pPr marL="285750" indent="-285750">
              <a:buFont typeface="Arial" panose="020B0604020202020204" pitchFamily="34" charset="0"/>
              <a:buChar char="•"/>
            </a:pPr>
            <a:r>
              <a:rPr lang="en-US" dirty="0">
                <a:solidFill>
                  <a:schemeClr val="tx1"/>
                </a:solidFill>
              </a:rPr>
              <a:t>Error messages can be displayed</a:t>
            </a:r>
          </a:p>
        </p:txBody>
      </p:sp>
    </p:spTree>
    <p:extLst>
      <p:ext uri="{BB962C8B-B14F-4D97-AF65-F5344CB8AC3E}">
        <p14:creationId xmlns:p14="http://schemas.microsoft.com/office/powerpoint/2010/main" val="14950689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E82544C9-F4C0-A956-0DA3-BBC919642EB1}"/>
              </a:ext>
            </a:extLst>
          </p:cNvPr>
          <p:cNvGraphicFramePr>
            <a:graphicFrameLocks noGrp="1"/>
          </p:cNvGraphicFramePr>
          <p:nvPr>
            <p:extLst>
              <p:ext uri="{D42A27DB-BD31-4B8C-83A1-F6EECF244321}">
                <p14:modId xmlns:p14="http://schemas.microsoft.com/office/powerpoint/2010/main" val="1651876167"/>
              </p:ext>
            </p:extLst>
          </p:nvPr>
        </p:nvGraphicFramePr>
        <p:xfrm>
          <a:off x="1739770" y="133546"/>
          <a:ext cx="8127999" cy="67056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432467325"/>
                    </a:ext>
                  </a:extLst>
                </a:gridCol>
                <a:gridCol w="2709333">
                  <a:extLst>
                    <a:ext uri="{9D8B030D-6E8A-4147-A177-3AD203B41FA5}">
                      <a16:colId xmlns:a16="http://schemas.microsoft.com/office/drawing/2014/main" val="2248981677"/>
                    </a:ext>
                  </a:extLst>
                </a:gridCol>
                <a:gridCol w="2709333">
                  <a:extLst>
                    <a:ext uri="{9D8B030D-6E8A-4147-A177-3AD203B41FA5}">
                      <a16:colId xmlns:a16="http://schemas.microsoft.com/office/drawing/2014/main" val="3387393526"/>
                    </a:ext>
                  </a:extLst>
                </a:gridCol>
              </a:tblGrid>
              <a:tr h="157252">
                <a:tc>
                  <a:txBody>
                    <a:bodyPr/>
                    <a:lstStyle/>
                    <a:p>
                      <a:pPr>
                        <a:buNone/>
                      </a:pPr>
                      <a:r>
                        <a:rPr lang="en-IN" dirty="0"/>
                        <a:t>Stage/Component</a:t>
                      </a:r>
                    </a:p>
                  </a:txBody>
                  <a:tcPr anchor="ctr"/>
                </a:tc>
                <a:tc>
                  <a:txBody>
                    <a:bodyPr/>
                    <a:lstStyle/>
                    <a:p>
                      <a:r>
                        <a:rPr lang="en-IN" dirty="0"/>
                        <a:t>Description/Material</a:t>
                      </a:r>
                    </a:p>
                  </a:txBody>
                  <a:tcPr/>
                </a:tc>
                <a:tc>
                  <a:txBody>
                    <a:bodyPr/>
                    <a:lstStyle/>
                    <a:p>
                      <a:r>
                        <a:rPr lang="en-US" dirty="0"/>
                        <a:t>Estimated Cost (INR) per Unit</a:t>
                      </a:r>
                      <a:endParaRPr lang="en-IN" dirty="0"/>
                    </a:p>
                  </a:txBody>
                  <a:tcPr/>
                </a:tc>
                <a:extLst>
                  <a:ext uri="{0D108BD9-81ED-4DB2-BD59-A6C34878D82A}">
                    <a16:rowId xmlns:a16="http://schemas.microsoft.com/office/drawing/2014/main" val="1189669850"/>
                  </a:ext>
                </a:extLst>
              </a:tr>
              <a:tr h="370840">
                <a:tc>
                  <a:txBody>
                    <a:bodyPr/>
                    <a:lstStyle/>
                    <a:p>
                      <a:r>
                        <a:rPr lang="en-IN" dirty="0"/>
                        <a:t>ESP32 Microcontroller</a:t>
                      </a:r>
                    </a:p>
                  </a:txBody>
                  <a:tcPr/>
                </a:tc>
                <a:tc>
                  <a:txBody>
                    <a:bodyPr/>
                    <a:lstStyle/>
                    <a:p>
                      <a:r>
                        <a:rPr lang="en-IN" dirty="0" err="1"/>
                        <a:t>WiFi</a:t>
                      </a:r>
                      <a:r>
                        <a:rPr lang="en-IN" dirty="0"/>
                        <a:t> + Bluetooth development board</a:t>
                      </a:r>
                    </a:p>
                  </a:txBody>
                  <a:tcPr/>
                </a:tc>
                <a:tc>
                  <a:txBody>
                    <a:bodyPr/>
                    <a:lstStyle/>
                    <a:p>
                      <a:r>
                        <a:rPr lang="en-IN" dirty="0"/>
                        <a:t>350</a:t>
                      </a:r>
                    </a:p>
                  </a:txBody>
                  <a:tcPr/>
                </a:tc>
                <a:extLst>
                  <a:ext uri="{0D108BD9-81ED-4DB2-BD59-A6C34878D82A}">
                    <a16:rowId xmlns:a16="http://schemas.microsoft.com/office/drawing/2014/main" val="3285649320"/>
                  </a:ext>
                </a:extLst>
              </a:tr>
              <a:tr h="370840">
                <a:tc>
                  <a:txBody>
                    <a:bodyPr/>
                    <a:lstStyle/>
                    <a:p>
                      <a:r>
                        <a:rPr lang="en-IN" dirty="0"/>
                        <a:t>MAX30100 Sensor</a:t>
                      </a:r>
                    </a:p>
                  </a:txBody>
                  <a:tcPr/>
                </a:tc>
                <a:tc>
                  <a:txBody>
                    <a:bodyPr/>
                    <a:lstStyle/>
                    <a:p>
                      <a:r>
                        <a:rPr lang="en-US" dirty="0"/>
                        <a:t>Heart rate &amp; SpO₂ sensor module</a:t>
                      </a:r>
                      <a:endParaRPr lang="en-IN" dirty="0"/>
                    </a:p>
                  </a:txBody>
                  <a:tcPr/>
                </a:tc>
                <a:tc>
                  <a:txBody>
                    <a:bodyPr/>
                    <a:lstStyle/>
                    <a:p>
                      <a:r>
                        <a:rPr lang="en-IN" dirty="0"/>
                        <a:t>180</a:t>
                      </a:r>
                    </a:p>
                  </a:txBody>
                  <a:tcPr/>
                </a:tc>
                <a:extLst>
                  <a:ext uri="{0D108BD9-81ED-4DB2-BD59-A6C34878D82A}">
                    <a16:rowId xmlns:a16="http://schemas.microsoft.com/office/drawing/2014/main" val="1775229500"/>
                  </a:ext>
                </a:extLst>
              </a:tr>
              <a:tr h="247924">
                <a:tc>
                  <a:txBody>
                    <a:bodyPr/>
                    <a:lstStyle/>
                    <a:p>
                      <a:r>
                        <a:rPr lang="en-IN" dirty="0"/>
                        <a:t>FSR406 Force Sensor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Pressure sensing resistor</a:t>
                      </a:r>
                    </a:p>
                    <a:p>
                      <a:endParaRPr lang="en-IN" dirty="0"/>
                    </a:p>
                  </a:txBody>
                  <a:tcPr/>
                </a:tc>
                <a:tc>
                  <a:txBody>
                    <a:bodyPr/>
                    <a:lstStyle/>
                    <a:p>
                      <a:r>
                        <a:rPr lang="en-IN" dirty="0"/>
                        <a:t>250</a:t>
                      </a:r>
                    </a:p>
                  </a:txBody>
                  <a:tcPr/>
                </a:tc>
                <a:extLst>
                  <a:ext uri="{0D108BD9-81ED-4DB2-BD59-A6C34878D82A}">
                    <a16:rowId xmlns:a16="http://schemas.microsoft.com/office/drawing/2014/main" val="3603591020"/>
                  </a:ext>
                </a:extLst>
              </a:tr>
              <a:tr h="247924">
                <a:tc>
                  <a:txBody>
                    <a:bodyPr/>
                    <a:lstStyle/>
                    <a:p>
                      <a:r>
                        <a:rPr lang="en-IN" dirty="0"/>
                        <a:t>Ultrasonic Sensor (HC-SR04)</a:t>
                      </a:r>
                    </a:p>
                  </a:txBody>
                  <a:tcPr/>
                </a:tc>
                <a:tc>
                  <a:txBody>
                    <a:bodyPr/>
                    <a:lstStyle/>
                    <a:p>
                      <a:r>
                        <a:rPr lang="en-IN" dirty="0"/>
                        <a:t>Distance measurement module</a:t>
                      </a:r>
                    </a:p>
                  </a:txBody>
                  <a:tcPr/>
                </a:tc>
                <a:tc>
                  <a:txBody>
                    <a:bodyPr/>
                    <a:lstStyle/>
                    <a:p>
                      <a:r>
                        <a:rPr lang="en-IN" dirty="0"/>
                        <a:t>70</a:t>
                      </a:r>
                    </a:p>
                  </a:txBody>
                  <a:tcPr/>
                </a:tc>
                <a:extLst>
                  <a:ext uri="{0D108BD9-81ED-4DB2-BD59-A6C34878D82A}">
                    <a16:rowId xmlns:a16="http://schemas.microsoft.com/office/drawing/2014/main" val="2060389807"/>
                  </a:ext>
                </a:extLst>
              </a:tr>
              <a:tr h="370840">
                <a:tc>
                  <a:txBody>
                    <a:bodyPr/>
                    <a:lstStyle/>
                    <a:p>
                      <a:r>
                        <a:rPr lang="en-IN" dirty="0"/>
                        <a:t>OLED Display</a:t>
                      </a:r>
                    </a:p>
                  </a:txBody>
                  <a:tcPr/>
                </a:tc>
                <a:tc>
                  <a:txBody>
                    <a:bodyPr/>
                    <a:lstStyle/>
                    <a:p>
                      <a:pPr>
                        <a:buNone/>
                      </a:pPr>
                      <a:r>
                        <a:rPr lang="en-IN" dirty="0"/>
                        <a:t>0.96” I2C display module</a:t>
                      </a:r>
                    </a:p>
                  </a:txBody>
                  <a:tcPr anchor="ctr"/>
                </a:tc>
                <a:tc>
                  <a:txBody>
                    <a:bodyPr/>
                    <a:lstStyle/>
                    <a:p>
                      <a:r>
                        <a:rPr lang="en-IN" dirty="0"/>
                        <a:t>150</a:t>
                      </a:r>
                    </a:p>
                  </a:txBody>
                  <a:tcPr/>
                </a:tc>
                <a:extLst>
                  <a:ext uri="{0D108BD9-81ED-4DB2-BD59-A6C34878D82A}">
                    <a16:rowId xmlns:a16="http://schemas.microsoft.com/office/drawing/2014/main" val="4138713829"/>
                  </a:ext>
                </a:extLst>
              </a:tr>
              <a:tr h="370840">
                <a:tc>
                  <a:txBody>
                    <a:bodyPr/>
                    <a:lstStyle/>
                    <a:p>
                      <a:r>
                        <a:rPr lang="en-IN" dirty="0"/>
                        <a:t>LM2596 Converter</a:t>
                      </a:r>
                    </a:p>
                  </a:txBody>
                  <a:tcPr/>
                </a:tc>
                <a:tc>
                  <a:txBody>
                    <a:bodyPr/>
                    <a:lstStyle/>
                    <a:p>
                      <a:r>
                        <a:rPr lang="de-DE" dirty="0"/>
                        <a:t>DC-DC buck converter (12V → 5V)</a:t>
                      </a:r>
                      <a:endParaRPr lang="en-IN" dirty="0"/>
                    </a:p>
                  </a:txBody>
                  <a:tcPr/>
                </a:tc>
                <a:tc>
                  <a:txBody>
                    <a:bodyPr/>
                    <a:lstStyle/>
                    <a:p>
                      <a:r>
                        <a:rPr lang="en-IN" dirty="0"/>
                        <a:t>80</a:t>
                      </a:r>
                    </a:p>
                  </a:txBody>
                  <a:tcPr/>
                </a:tc>
                <a:extLst>
                  <a:ext uri="{0D108BD9-81ED-4DB2-BD59-A6C34878D82A}">
                    <a16:rowId xmlns:a16="http://schemas.microsoft.com/office/drawing/2014/main" val="1482091450"/>
                  </a:ext>
                </a:extLst>
              </a:tr>
              <a:tr h="370840">
                <a:tc>
                  <a:txBody>
                    <a:bodyPr/>
                    <a:lstStyle/>
                    <a:p>
                      <a:r>
                        <a:rPr lang="en-IN" dirty="0"/>
                        <a:t>Buzzer + Transistor</a:t>
                      </a:r>
                    </a:p>
                  </a:txBody>
                  <a:tcPr/>
                </a:tc>
                <a:tc>
                  <a:txBody>
                    <a:bodyPr/>
                    <a:lstStyle/>
                    <a:p>
                      <a:pPr>
                        <a:buNone/>
                      </a:pPr>
                      <a:r>
                        <a:rPr lang="en-IN" dirty="0"/>
                        <a:t>Alert system components</a:t>
                      </a:r>
                    </a:p>
                  </a:txBody>
                  <a:tcPr anchor="ctr"/>
                </a:tc>
                <a:tc>
                  <a:txBody>
                    <a:bodyPr/>
                    <a:lstStyle/>
                    <a:p>
                      <a:r>
                        <a:rPr lang="en-IN" dirty="0"/>
                        <a:t>40</a:t>
                      </a:r>
                    </a:p>
                  </a:txBody>
                  <a:tcPr/>
                </a:tc>
                <a:extLst>
                  <a:ext uri="{0D108BD9-81ED-4DB2-BD59-A6C34878D82A}">
                    <a16:rowId xmlns:a16="http://schemas.microsoft.com/office/drawing/2014/main" val="2038283008"/>
                  </a:ext>
                </a:extLst>
              </a:tr>
              <a:tr h="370840">
                <a:tc>
                  <a:txBody>
                    <a:bodyPr/>
                    <a:lstStyle/>
                    <a:p>
                      <a:r>
                        <a:rPr lang="en-IN" dirty="0"/>
                        <a:t>LEDs (Red + Green</a:t>
                      </a:r>
                    </a:p>
                  </a:txBody>
                  <a:tcPr/>
                </a:tc>
                <a:tc>
                  <a:txBody>
                    <a:bodyPr/>
                    <a:lstStyle/>
                    <a:p>
                      <a:pPr>
                        <a:buNone/>
                      </a:pPr>
                      <a:r>
                        <a:rPr lang="en-IN" dirty="0"/>
                        <a:t>Indicator LEDs + resistors</a:t>
                      </a:r>
                    </a:p>
                  </a:txBody>
                  <a:tcPr anchor="ctr"/>
                </a:tc>
                <a:tc>
                  <a:txBody>
                    <a:bodyPr/>
                    <a:lstStyle/>
                    <a:p>
                      <a:r>
                        <a:rPr lang="en-IN" dirty="0"/>
                        <a:t>20</a:t>
                      </a:r>
                    </a:p>
                  </a:txBody>
                  <a:tcPr/>
                </a:tc>
                <a:extLst>
                  <a:ext uri="{0D108BD9-81ED-4DB2-BD59-A6C34878D82A}">
                    <a16:rowId xmlns:a16="http://schemas.microsoft.com/office/drawing/2014/main" val="1835022899"/>
                  </a:ext>
                </a:extLst>
              </a:tr>
              <a:tr h="370840">
                <a:tc>
                  <a:txBody>
                    <a:bodyPr/>
                    <a:lstStyle/>
                    <a:p>
                      <a:r>
                        <a:rPr lang="en-IN" dirty="0"/>
                        <a:t>Connecting Wires</a:t>
                      </a:r>
                    </a:p>
                  </a:txBody>
                  <a:tcPr/>
                </a:tc>
                <a:tc>
                  <a:txBody>
                    <a:bodyPr/>
                    <a:lstStyle/>
                    <a:p>
                      <a:pPr>
                        <a:buNone/>
                      </a:pPr>
                      <a:r>
                        <a:rPr lang="en-IN" dirty="0"/>
                        <a:t>jumper wires, connectors</a:t>
                      </a:r>
                    </a:p>
                  </a:txBody>
                  <a:tcPr anchor="ctr"/>
                </a:tc>
                <a:tc>
                  <a:txBody>
                    <a:bodyPr/>
                    <a:lstStyle/>
                    <a:p>
                      <a:r>
                        <a:rPr lang="en-IN" dirty="0"/>
                        <a:t>50</a:t>
                      </a:r>
                    </a:p>
                  </a:txBody>
                  <a:tcPr/>
                </a:tc>
                <a:extLst>
                  <a:ext uri="{0D108BD9-81ED-4DB2-BD59-A6C34878D82A}">
                    <a16:rowId xmlns:a16="http://schemas.microsoft.com/office/drawing/2014/main" val="737503970"/>
                  </a:ext>
                </a:extLst>
              </a:tr>
              <a:tr h="370840">
                <a:tc>
                  <a:txBody>
                    <a:bodyPr/>
                    <a:lstStyle/>
                    <a:p>
                      <a:r>
                        <a:rPr lang="en-IN" dirty="0"/>
                        <a:t>Breadboard/PCB</a:t>
                      </a:r>
                    </a:p>
                  </a:txBody>
                  <a:tcPr/>
                </a:tc>
                <a:tc>
                  <a:txBody>
                    <a:bodyPr/>
                    <a:lstStyle/>
                    <a:p>
                      <a:pPr>
                        <a:buNone/>
                      </a:pPr>
                      <a:r>
                        <a:rPr lang="en-IN" dirty="0"/>
                        <a:t> Prototyping board</a:t>
                      </a:r>
                    </a:p>
                  </a:txBody>
                  <a:tcPr anchor="ctr"/>
                </a:tc>
                <a:tc>
                  <a:txBody>
                    <a:bodyPr/>
                    <a:lstStyle/>
                    <a:p>
                      <a:r>
                        <a:rPr lang="en-IN" dirty="0"/>
                        <a:t>80</a:t>
                      </a:r>
                    </a:p>
                  </a:txBody>
                  <a:tcPr/>
                </a:tc>
                <a:extLst>
                  <a:ext uri="{0D108BD9-81ED-4DB2-BD59-A6C34878D82A}">
                    <a16:rowId xmlns:a16="http://schemas.microsoft.com/office/drawing/2014/main" val="927894216"/>
                  </a:ext>
                </a:extLst>
              </a:tr>
              <a:tr h="370840">
                <a:tc>
                  <a:txBody>
                    <a:bodyPr/>
                    <a:lstStyle/>
                    <a:p>
                      <a:r>
                        <a:rPr lang="en-IN" dirty="0"/>
                        <a:t>Power Supply</a:t>
                      </a:r>
                    </a:p>
                  </a:txBody>
                  <a:tcPr/>
                </a:tc>
                <a:tc>
                  <a:txBody>
                    <a:bodyPr/>
                    <a:lstStyle/>
                    <a:p>
                      <a:pPr>
                        <a:buNone/>
                      </a:pPr>
                      <a:r>
                        <a:rPr lang="en-IN" dirty="0"/>
                        <a:t> </a:t>
                      </a:r>
                      <a:r>
                        <a:rPr lang="en-US" dirty="0"/>
                        <a:t>12V adapter with DC jack</a:t>
                      </a:r>
                      <a:endParaRPr lang="en-IN" dirty="0"/>
                    </a:p>
                  </a:txBody>
                  <a:tcPr anchor="ctr"/>
                </a:tc>
                <a:tc>
                  <a:txBody>
                    <a:bodyPr/>
                    <a:lstStyle/>
                    <a:p>
                      <a:r>
                        <a:rPr lang="en-IN" dirty="0"/>
                        <a:t>150</a:t>
                      </a:r>
                    </a:p>
                  </a:txBody>
                  <a:tcPr/>
                </a:tc>
                <a:extLst>
                  <a:ext uri="{0D108BD9-81ED-4DB2-BD59-A6C34878D82A}">
                    <a16:rowId xmlns:a16="http://schemas.microsoft.com/office/drawing/2014/main" val="787913060"/>
                  </a:ext>
                </a:extLst>
              </a:tr>
              <a:tr h="370840">
                <a:tc>
                  <a:txBody>
                    <a:bodyPr/>
                    <a:lstStyle/>
                    <a:p>
                      <a:r>
                        <a:rPr lang="en-IN" dirty="0"/>
                        <a:t>Chair (Base Structure)</a:t>
                      </a:r>
                    </a:p>
                  </a:txBody>
                  <a:tcPr/>
                </a:tc>
                <a:tc>
                  <a:txBody>
                    <a:bodyPr/>
                    <a:lstStyle/>
                    <a:p>
                      <a:r>
                        <a:rPr lang="en-IN" dirty="0"/>
                        <a:t> Purchased ergonomic chair</a:t>
                      </a:r>
                    </a:p>
                  </a:txBody>
                  <a:tcPr/>
                </a:tc>
                <a:tc>
                  <a:txBody>
                    <a:bodyPr/>
                    <a:lstStyle/>
                    <a:p>
                      <a:r>
                        <a:rPr lang="en-IN" dirty="0"/>
                        <a:t>1200</a:t>
                      </a:r>
                    </a:p>
                  </a:txBody>
                  <a:tcPr/>
                </a:tc>
                <a:extLst>
                  <a:ext uri="{0D108BD9-81ED-4DB2-BD59-A6C34878D82A}">
                    <a16:rowId xmlns:a16="http://schemas.microsoft.com/office/drawing/2014/main" val="3953750211"/>
                  </a:ext>
                </a:extLst>
              </a:tr>
            </a:tbl>
          </a:graphicData>
        </a:graphic>
      </p:graphicFrame>
      <p:sp>
        <p:nvSpPr>
          <p:cNvPr id="6" name="Title 5">
            <a:extLst>
              <a:ext uri="{FF2B5EF4-FFF2-40B4-BE49-F238E27FC236}">
                <a16:creationId xmlns:a16="http://schemas.microsoft.com/office/drawing/2014/main" id="{58973CD3-5488-CC2F-D15B-59A11AC91E93}"/>
              </a:ext>
            </a:extLst>
          </p:cNvPr>
          <p:cNvSpPr>
            <a:spLocks noGrp="1"/>
          </p:cNvSpPr>
          <p:nvPr>
            <p:ph type="title"/>
          </p:nvPr>
        </p:nvSpPr>
        <p:spPr>
          <a:xfrm rot="16200000">
            <a:off x="-1565635" y="3027100"/>
            <a:ext cx="4450237" cy="803799"/>
          </a:xfrm>
        </p:spPr>
        <p:txBody>
          <a:bodyPr/>
          <a:lstStyle/>
          <a:p>
            <a:r>
              <a:rPr lang="en-IN" b="1" u="sng" dirty="0"/>
              <a:t>BILL OF MATERIAL</a:t>
            </a:r>
          </a:p>
        </p:txBody>
      </p:sp>
    </p:spTree>
    <p:extLst>
      <p:ext uri="{BB962C8B-B14F-4D97-AF65-F5344CB8AC3E}">
        <p14:creationId xmlns:p14="http://schemas.microsoft.com/office/powerpoint/2010/main" val="31608832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5199F5D-8907-09C8-9FAB-97551620ED07}"/>
              </a:ext>
            </a:extLst>
          </p:cNvPr>
          <p:cNvGraphicFramePr>
            <a:graphicFrameLocks noGrp="1"/>
          </p:cNvGraphicFramePr>
          <p:nvPr>
            <p:extLst>
              <p:ext uri="{D42A27DB-BD31-4B8C-83A1-F6EECF244321}">
                <p14:modId xmlns:p14="http://schemas.microsoft.com/office/powerpoint/2010/main" val="3783811049"/>
              </p:ext>
            </p:extLst>
          </p:nvPr>
        </p:nvGraphicFramePr>
        <p:xfrm>
          <a:off x="1607794" y="1096555"/>
          <a:ext cx="8127999" cy="210312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09506756"/>
                    </a:ext>
                  </a:extLst>
                </a:gridCol>
                <a:gridCol w="3101768">
                  <a:extLst>
                    <a:ext uri="{9D8B030D-6E8A-4147-A177-3AD203B41FA5}">
                      <a16:colId xmlns:a16="http://schemas.microsoft.com/office/drawing/2014/main" val="1033108291"/>
                    </a:ext>
                  </a:extLst>
                </a:gridCol>
                <a:gridCol w="2316898">
                  <a:extLst>
                    <a:ext uri="{9D8B030D-6E8A-4147-A177-3AD203B41FA5}">
                      <a16:colId xmlns:a16="http://schemas.microsoft.com/office/drawing/2014/main" val="4174271472"/>
                    </a:ext>
                  </a:extLst>
                </a:gridCol>
              </a:tblGrid>
              <a:tr h="298698">
                <a:tc>
                  <a:txBody>
                    <a:bodyPr/>
                    <a:lstStyle/>
                    <a:p>
                      <a:r>
                        <a:rPr lang="en-IN" dirty="0"/>
                        <a:t>Category</a:t>
                      </a:r>
                    </a:p>
                  </a:txBody>
                  <a:tcPr/>
                </a:tc>
                <a:tc>
                  <a:txBody>
                    <a:bodyPr/>
                    <a:lstStyle/>
                    <a:p>
                      <a:r>
                        <a:rPr lang="en-IN" dirty="0"/>
                        <a:t>Description</a:t>
                      </a:r>
                    </a:p>
                  </a:txBody>
                  <a:tcPr/>
                </a:tc>
                <a:tc>
                  <a:txBody>
                    <a:bodyPr/>
                    <a:lstStyle/>
                    <a:p>
                      <a:r>
                        <a:rPr lang="en-IN" dirty="0"/>
                        <a:t>Cost(INR)</a:t>
                      </a:r>
                    </a:p>
                  </a:txBody>
                  <a:tcPr/>
                </a:tc>
                <a:extLst>
                  <a:ext uri="{0D108BD9-81ED-4DB2-BD59-A6C34878D82A}">
                    <a16:rowId xmlns:a16="http://schemas.microsoft.com/office/drawing/2014/main" val="2623789765"/>
                  </a:ext>
                </a:extLst>
              </a:tr>
              <a:tr h="298698">
                <a:tc>
                  <a:txBody>
                    <a:bodyPr/>
                    <a:lstStyle/>
                    <a:p>
                      <a:r>
                        <a:rPr lang="en-IN" dirty="0"/>
                        <a:t>Assembly/Labor</a:t>
                      </a:r>
                    </a:p>
                  </a:txBody>
                  <a:tcPr/>
                </a:tc>
                <a:tc>
                  <a:txBody>
                    <a:bodyPr/>
                    <a:lstStyle/>
                    <a:p>
                      <a:r>
                        <a:rPr lang="en-IN" dirty="0"/>
                        <a:t>Writing , fixing sensor</a:t>
                      </a:r>
                    </a:p>
                  </a:txBody>
                  <a:tcPr/>
                </a:tc>
                <a:tc>
                  <a:txBody>
                    <a:bodyPr/>
                    <a:lstStyle/>
                    <a:p>
                      <a:r>
                        <a:rPr lang="en-IN" dirty="0"/>
                        <a:t>150</a:t>
                      </a:r>
                    </a:p>
                  </a:txBody>
                  <a:tcPr/>
                </a:tc>
                <a:extLst>
                  <a:ext uri="{0D108BD9-81ED-4DB2-BD59-A6C34878D82A}">
                    <a16:rowId xmlns:a16="http://schemas.microsoft.com/office/drawing/2014/main" val="1742035838"/>
                  </a:ext>
                </a:extLst>
              </a:tr>
              <a:tr h="298698">
                <a:tc>
                  <a:txBody>
                    <a:bodyPr/>
                    <a:lstStyle/>
                    <a:p>
                      <a:r>
                        <a:rPr lang="en-IN" dirty="0"/>
                        <a:t>Overhead</a:t>
                      </a:r>
                    </a:p>
                  </a:txBody>
                  <a:tcPr/>
                </a:tc>
                <a:tc>
                  <a:txBody>
                    <a:bodyPr/>
                    <a:lstStyle/>
                    <a:p>
                      <a:r>
                        <a:rPr lang="en-IN" dirty="0"/>
                        <a:t>Testing , minor tools</a:t>
                      </a:r>
                    </a:p>
                  </a:txBody>
                  <a:tcPr/>
                </a:tc>
                <a:tc>
                  <a:txBody>
                    <a:bodyPr/>
                    <a:lstStyle/>
                    <a:p>
                      <a:r>
                        <a:rPr lang="en-IN" dirty="0"/>
                        <a:t>100</a:t>
                      </a:r>
                    </a:p>
                  </a:txBody>
                  <a:tcPr/>
                </a:tc>
                <a:extLst>
                  <a:ext uri="{0D108BD9-81ED-4DB2-BD59-A6C34878D82A}">
                    <a16:rowId xmlns:a16="http://schemas.microsoft.com/office/drawing/2014/main" val="86747614"/>
                  </a:ext>
                </a:extLst>
              </a:tr>
              <a:tr h="298698">
                <a:tc>
                  <a:txBody>
                    <a:bodyPr/>
                    <a:lstStyle/>
                    <a:p>
                      <a:r>
                        <a:rPr lang="en-IN" dirty="0"/>
                        <a:t>Logistics</a:t>
                      </a:r>
                    </a:p>
                  </a:txBody>
                  <a:tcPr/>
                </a:tc>
                <a:tc>
                  <a:txBody>
                    <a:bodyPr/>
                    <a:lstStyle/>
                    <a:p>
                      <a:r>
                        <a:rPr lang="en-IN" dirty="0"/>
                        <a:t>Transport of components</a:t>
                      </a:r>
                    </a:p>
                  </a:txBody>
                  <a:tcPr/>
                </a:tc>
                <a:tc>
                  <a:txBody>
                    <a:bodyPr/>
                    <a:lstStyle/>
                    <a:p>
                      <a:r>
                        <a:rPr lang="en-IN" dirty="0"/>
                        <a:t>100</a:t>
                      </a:r>
                    </a:p>
                  </a:txBody>
                  <a:tcPr/>
                </a:tc>
                <a:extLst>
                  <a:ext uri="{0D108BD9-81ED-4DB2-BD59-A6C34878D82A}">
                    <a16:rowId xmlns:a16="http://schemas.microsoft.com/office/drawing/2014/main" val="2391316309"/>
                  </a:ext>
                </a:extLst>
              </a:tr>
              <a:tr h="522721">
                <a:tc>
                  <a:txBody>
                    <a:bodyPr/>
                    <a:lstStyle/>
                    <a:p>
                      <a:r>
                        <a:rPr lang="en-IN" dirty="0"/>
                        <a:t>Miscellaneous</a:t>
                      </a:r>
                    </a:p>
                  </a:txBody>
                  <a:tcPr/>
                </a:tc>
                <a:tc>
                  <a:txBody>
                    <a:bodyPr/>
                    <a:lstStyle/>
                    <a:p>
                      <a:r>
                        <a:rPr lang="en-IN" dirty="0"/>
                        <a:t>Damage , replacement , wastage</a:t>
                      </a:r>
                    </a:p>
                  </a:txBody>
                  <a:tcPr/>
                </a:tc>
                <a:tc>
                  <a:txBody>
                    <a:bodyPr/>
                    <a:lstStyle/>
                    <a:p>
                      <a:r>
                        <a:rPr lang="en-IN" dirty="0"/>
                        <a:t>80</a:t>
                      </a:r>
                    </a:p>
                  </a:txBody>
                  <a:tcPr/>
                </a:tc>
                <a:extLst>
                  <a:ext uri="{0D108BD9-81ED-4DB2-BD59-A6C34878D82A}">
                    <a16:rowId xmlns:a16="http://schemas.microsoft.com/office/drawing/2014/main" val="1900352162"/>
                  </a:ext>
                </a:extLst>
              </a:tr>
            </a:tbl>
          </a:graphicData>
        </a:graphic>
      </p:graphicFrame>
      <p:sp>
        <p:nvSpPr>
          <p:cNvPr id="6" name="TextBox 5">
            <a:extLst>
              <a:ext uri="{FF2B5EF4-FFF2-40B4-BE49-F238E27FC236}">
                <a16:creationId xmlns:a16="http://schemas.microsoft.com/office/drawing/2014/main" id="{87468F15-0123-7FDC-CE69-2B9038C09C1D}"/>
              </a:ext>
            </a:extLst>
          </p:cNvPr>
          <p:cNvSpPr txBox="1"/>
          <p:nvPr/>
        </p:nvSpPr>
        <p:spPr>
          <a:xfrm>
            <a:off x="598602" y="394591"/>
            <a:ext cx="3742441" cy="646331"/>
          </a:xfrm>
          <a:prstGeom prst="rect">
            <a:avLst/>
          </a:prstGeom>
          <a:noFill/>
        </p:spPr>
        <p:txBody>
          <a:bodyPr wrap="square" rtlCol="0">
            <a:spAutoFit/>
          </a:bodyPr>
          <a:lstStyle/>
          <a:p>
            <a:r>
              <a:rPr lang="en-IN" sz="3600" b="1" u="sng" dirty="0"/>
              <a:t>Cost Additions</a:t>
            </a:r>
          </a:p>
        </p:txBody>
      </p:sp>
      <p:graphicFrame>
        <p:nvGraphicFramePr>
          <p:cNvPr id="7" name="Table 6">
            <a:extLst>
              <a:ext uri="{FF2B5EF4-FFF2-40B4-BE49-F238E27FC236}">
                <a16:creationId xmlns:a16="http://schemas.microsoft.com/office/drawing/2014/main" id="{DA0B0FD8-0846-2FA6-2C17-9B2A05FB3D91}"/>
              </a:ext>
            </a:extLst>
          </p:cNvPr>
          <p:cNvGraphicFramePr>
            <a:graphicFrameLocks noGrp="1"/>
          </p:cNvGraphicFramePr>
          <p:nvPr>
            <p:extLst>
              <p:ext uri="{D42A27DB-BD31-4B8C-83A1-F6EECF244321}">
                <p14:modId xmlns:p14="http://schemas.microsoft.com/office/powerpoint/2010/main" val="189952501"/>
              </p:ext>
            </p:extLst>
          </p:nvPr>
        </p:nvGraphicFramePr>
        <p:xfrm>
          <a:off x="1607794" y="4427560"/>
          <a:ext cx="8128000" cy="222504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524279997"/>
                    </a:ext>
                  </a:extLst>
                </a:gridCol>
                <a:gridCol w="4064000">
                  <a:extLst>
                    <a:ext uri="{9D8B030D-6E8A-4147-A177-3AD203B41FA5}">
                      <a16:colId xmlns:a16="http://schemas.microsoft.com/office/drawing/2014/main" val="3357563388"/>
                    </a:ext>
                  </a:extLst>
                </a:gridCol>
              </a:tblGrid>
              <a:tr h="370840">
                <a:tc>
                  <a:txBody>
                    <a:bodyPr/>
                    <a:lstStyle/>
                    <a:p>
                      <a:r>
                        <a:rPr lang="en-IN" dirty="0"/>
                        <a:t>Category</a:t>
                      </a:r>
                    </a:p>
                  </a:txBody>
                  <a:tcPr/>
                </a:tc>
                <a:tc>
                  <a:txBody>
                    <a:bodyPr/>
                    <a:lstStyle/>
                    <a:p>
                      <a:r>
                        <a:rPr lang="en-IN" dirty="0"/>
                        <a:t>Cost(INR)</a:t>
                      </a:r>
                    </a:p>
                  </a:txBody>
                  <a:tcPr/>
                </a:tc>
                <a:extLst>
                  <a:ext uri="{0D108BD9-81ED-4DB2-BD59-A6C34878D82A}">
                    <a16:rowId xmlns:a16="http://schemas.microsoft.com/office/drawing/2014/main" val="1550060077"/>
                  </a:ext>
                </a:extLst>
              </a:tr>
              <a:tr h="370840">
                <a:tc>
                  <a:txBody>
                    <a:bodyPr/>
                    <a:lstStyle/>
                    <a:p>
                      <a:r>
                        <a:rPr lang="en-IN" dirty="0"/>
                        <a:t>Subtotal(Ex-Factory)</a:t>
                      </a:r>
                    </a:p>
                  </a:txBody>
                  <a:tcPr/>
                </a:tc>
                <a:tc>
                  <a:txBody>
                    <a:bodyPr/>
                    <a:lstStyle/>
                    <a:p>
                      <a:r>
                        <a:rPr lang="en-IN" dirty="0"/>
                        <a:t>2900</a:t>
                      </a:r>
                    </a:p>
                  </a:txBody>
                  <a:tcPr/>
                </a:tc>
                <a:extLst>
                  <a:ext uri="{0D108BD9-81ED-4DB2-BD59-A6C34878D82A}">
                    <a16:rowId xmlns:a16="http://schemas.microsoft.com/office/drawing/2014/main" val="3882580519"/>
                  </a:ext>
                </a:extLst>
              </a:tr>
              <a:tr h="370840">
                <a:tc>
                  <a:txBody>
                    <a:bodyPr/>
                    <a:lstStyle/>
                    <a:p>
                      <a:r>
                        <a:rPr lang="en-IN" dirty="0"/>
                        <a:t>Distributor Margin(-10%)</a:t>
                      </a:r>
                    </a:p>
                  </a:txBody>
                  <a:tcPr/>
                </a:tc>
                <a:tc>
                  <a:txBody>
                    <a:bodyPr/>
                    <a:lstStyle/>
                    <a:p>
                      <a:r>
                        <a:rPr lang="en-IN" dirty="0"/>
                        <a:t>290</a:t>
                      </a:r>
                    </a:p>
                  </a:txBody>
                  <a:tcPr/>
                </a:tc>
                <a:extLst>
                  <a:ext uri="{0D108BD9-81ED-4DB2-BD59-A6C34878D82A}">
                    <a16:rowId xmlns:a16="http://schemas.microsoft.com/office/drawing/2014/main" val="1830890734"/>
                  </a:ext>
                </a:extLst>
              </a:tr>
              <a:tr h="370840">
                <a:tc>
                  <a:txBody>
                    <a:bodyPr/>
                    <a:lstStyle/>
                    <a:p>
                      <a:r>
                        <a:rPr lang="en-IN" dirty="0"/>
                        <a:t>Retailer Margin(-15%)</a:t>
                      </a:r>
                    </a:p>
                  </a:txBody>
                  <a:tcPr/>
                </a:tc>
                <a:tc>
                  <a:txBody>
                    <a:bodyPr/>
                    <a:lstStyle/>
                    <a:p>
                      <a:r>
                        <a:rPr lang="en-IN" dirty="0"/>
                        <a:t>435</a:t>
                      </a:r>
                    </a:p>
                  </a:txBody>
                  <a:tcPr/>
                </a:tc>
                <a:extLst>
                  <a:ext uri="{0D108BD9-81ED-4DB2-BD59-A6C34878D82A}">
                    <a16:rowId xmlns:a16="http://schemas.microsoft.com/office/drawing/2014/main" val="493508898"/>
                  </a:ext>
                </a:extLst>
              </a:tr>
              <a:tr h="370840">
                <a:tc>
                  <a:txBody>
                    <a:bodyPr/>
                    <a:lstStyle/>
                    <a:p>
                      <a:r>
                        <a:rPr lang="en-IN" dirty="0"/>
                        <a:t>GST and Taxes(-12%)</a:t>
                      </a:r>
                    </a:p>
                  </a:txBody>
                  <a:tcPr/>
                </a:tc>
                <a:tc>
                  <a:txBody>
                    <a:bodyPr/>
                    <a:lstStyle/>
                    <a:p>
                      <a:r>
                        <a:rPr lang="en-IN" dirty="0"/>
                        <a:t>350</a:t>
                      </a:r>
                    </a:p>
                  </a:txBody>
                  <a:tcPr/>
                </a:tc>
                <a:extLst>
                  <a:ext uri="{0D108BD9-81ED-4DB2-BD59-A6C34878D82A}">
                    <a16:rowId xmlns:a16="http://schemas.microsoft.com/office/drawing/2014/main" val="1938449328"/>
                  </a:ext>
                </a:extLst>
              </a:tr>
              <a:tr h="370840">
                <a:tc>
                  <a:txBody>
                    <a:bodyPr/>
                    <a:lstStyle/>
                    <a:p>
                      <a:r>
                        <a:rPr lang="en-IN" dirty="0"/>
                        <a:t>MRP(final price)</a:t>
                      </a:r>
                    </a:p>
                  </a:txBody>
                  <a:tcPr/>
                </a:tc>
                <a:tc>
                  <a:txBody>
                    <a:bodyPr/>
                    <a:lstStyle/>
                    <a:p>
                      <a:r>
                        <a:rPr lang="en-IN" dirty="0"/>
                        <a:t>3975</a:t>
                      </a:r>
                    </a:p>
                  </a:txBody>
                  <a:tcPr/>
                </a:tc>
                <a:extLst>
                  <a:ext uri="{0D108BD9-81ED-4DB2-BD59-A6C34878D82A}">
                    <a16:rowId xmlns:a16="http://schemas.microsoft.com/office/drawing/2014/main" val="2973981676"/>
                  </a:ext>
                </a:extLst>
              </a:tr>
            </a:tbl>
          </a:graphicData>
        </a:graphic>
      </p:graphicFrame>
      <p:sp>
        <p:nvSpPr>
          <p:cNvPr id="8" name="TextBox 7">
            <a:extLst>
              <a:ext uri="{FF2B5EF4-FFF2-40B4-BE49-F238E27FC236}">
                <a16:creationId xmlns:a16="http://schemas.microsoft.com/office/drawing/2014/main" id="{2261228D-994B-1BBB-4359-38924D0D770A}"/>
              </a:ext>
            </a:extLst>
          </p:cNvPr>
          <p:cNvSpPr txBox="1"/>
          <p:nvPr/>
        </p:nvSpPr>
        <p:spPr>
          <a:xfrm>
            <a:off x="716436" y="3199675"/>
            <a:ext cx="2653645" cy="1200329"/>
          </a:xfrm>
          <a:prstGeom prst="rect">
            <a:avLst/>
          </a:prstGeom>
          <a:noFill/>
        </p:spPr>
        <p:txBody>
          <a:bodyPr wrap="square" rtlCol="0">
            <a:spAutoFit/>
          </a:bodyPr>
          <a:lstStyle/>
          <a:p>
            <a:r>
              <a:rPr lang="en-IN" sz="3600" b="1" u="sng" dirty="0"/>
              <a:t>Final Cost Summary</a:t>
            </a:r>
          </a:p>
        </p:txBody>
      </p:sp>
    </p:spTree>
    <p:extLst>
      <p:ext uri="{BB962C8B-B14F-4D97-AF65-F5344CB8AC3E}">
        <p14:creationId xmlns:p14="http://schemas.microsoft.com/office/powerpoint/2010/main" val="28932151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7592</TotalTime>
  <Words>2053</Words>
  <Application>Microsoft Office PowerPoint</Application>
  <PresentationFormat>Widescreen</PresentationFormat>
  <Paragraphs>643</Paragraphs>
  <Slides>43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Arial</vt:lpstr>
      <vt:lpstr>Calibri</vt:lpstr>
      <vt:lpstr>Calibri Light</vt:lpstr>
      <vt:lpstr>Office Theme</vt:lpstr>
      <vt:lpstr>PowerPoint Presentation</vt:lpstr>
      <vt:lpstr>OPPORTUNITY IDENTIFICATION</vt:lpstr>
      <vt:lpstr>PowerPoint Presentation</vt:lpstr>
      <vt:lpstr>PowerPoint Presentation</vt:lpstr>
      <vt:lpstr>SELECTED OPPORTUNITY</vt:lpstr>
      <vt:lpstr>OBJECTIVE</vt:lpstr>
      <vt:lpstr>NEED ANALYSIS</vt:lpstr>
      <vt:lpstr>Continued…</vt:lpstr>
      <vt:lpstr>PowerPoint Presentation</vt:lpstr>
      <vt:lpstr>PowerPoint Presentation</vt:lpstr>
      <vt:lpstr>PowerPoint Presentation</vt:lpstr>
      <vt:lpstr>PowerPoint Presentation</vt:lpstr>
      <vt:lpstr>PowerPoint Presentation</vt:lpstr>
      <vt:lpstr>PowerPoint Presentation</vt:lpstr>
      <vt:lpstr>QUALITY FUNCTION DEPLOYMENT</vt:lpstr>
      <vt:lpstr>CONCEPT GENERATION</vt:lpstr>
      <vt:lpstr>PowerPoint Presentation</vt:lpstr>
      <vt:lpstr>PowerPoint Presentation</vt:lpstr>
      <vt:lpstr>PowerPoint Presentation</vt:lpstr>
      <vt:lpstr>CONCEPT SELECTION (AHP)</vt:lpstr>
      <vt:lpstr>PowerPoint Presentation</vt:lpstr>
      <vt:lpstr>PowerPoint Presentation</vt:lpstr>
      <vt:lpstr>PowerPoint Presentation</vt:lpstr>
      <vt:lpstr>PowerPoint Presentation</vt:lpstr>
      <vt:lpstr>PowerPoint Presentation</vt:lpstr>
      <vt:lpstr>PowerPoint Presentation</vt:lpstr>
      <vt:lpstr>DESIGN FOR MANUFACTURING</vt:lpstr>
      <vt:lpstr>PowerPoint Presentation</vt:lpstr>
      <vt:lpstr>Ultrasonic sensor HC-SR04</vt:lpstr>
      <vt:lpstr>Force sensor</vt:lpstr>
      <vt:lpstr>OLED display module</vt:lpstr>
      <vt:lpstr>https://lastminuteengineers.com/max30100-pulse-oximeter-heart-rate-sensor-arduino-tutorial/   For more details</vt:lpstr>
      <vt:lpstr>Buzzer</vt:lpstr>
      <vt:lpstr>12v Adaptor with dc jack </vt:lpstr>
      <vt:lpstr>Dc supply convertor</vt:lpstr>
      <vt:lpstr>Led green and red</vt:lpstr>
      <vt:lpstr>Pin connection</vt:lpstr>
      <vt:lpstr>Supply</vt:lpstr>
      <vt:lpstr>DESIGN FOR ASSEMBLY</vt:lpstr>
      <vt:lpstr>PowerPoint Presentation</vt:lpstr>
      <vt:lpstr>DESIGN FOR RELIABILITY</vt:lpstr>
      <vt:lpstr>BILL OF MATERIAL</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chandan maurya</dc:creator>
  <cp:lastModifiedBy>chandan maurya</cp:lastModifiedBy>
  <cp:revision>6</cp:revision>
  <dcterms:created xsi:type="dcterms:W3CDTF">2026-03-18T16:53:11Z</dcterms:created>
  <dcterms:modified xsi:type="dcterms:W3CDTF">2026-04-24T17:16:20Z</dcterms:modified>
</cp:coreProperties>
</file>